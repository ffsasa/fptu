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2"/>
  </p:notesMasterIdLst>
  <p:handoutMasterIdLst>
    <p:handoutMasterId r:id="rId43"/>
  </p:handoutMasterIdLst>
  <p:sldIdLst>
    <p:sldId id="256" r:id="rId2"/>
    <p:sldId id="257" r:id="rId3"/>
    <p:sldId id="259" r:id="rId4"/>
    <p:sldId id="274" r:id="rId5"/>
    <p:sldId id="300" r:id="rId6"/>
    <p:sldId id="261" r:id="rId7"/>
    <p:sldId id="272" r:id="rId8"/>
    <p:sldId id="273" r:id="rId9"/>
    <p:sldId id="275" r:id="rId10"/>
    <p:sldId id="266" r:id="rId11"/>
    <p:sldId id="276" r:id="rId12"/>
    <p:sldId id="277" r:id="rId13"/>
    <p:sldId id="267" r:id="rId14"/>
    <p:sldId id="278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68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69" r:id="rId34"/>
    <p:sldId id="270" r:id="rId35"/>
    <p:sldId id="271" r:id="rId36"/>
    <p:sldId id="297" r:id="rId37"/>
    <p:sldId id="262" r:id="rId38"/>
    <p:sldId id="263" r:id="rId39"/>
    <p:sldId id="298" r:id="rId40"/>
    <p:sldId id="299" r:id="rId41"/>
  </p:sldIdLst>
  <p:sldSz cx="9144000" cy="6858000" type="screen4x3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1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8CDF553-5056-4AA0-919F-B8F09B87DAD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A999C88-FD5A-482C-9E30-6ED18C3C01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6FD3337C-C3A3-4B5F-8AD7-C3CAD4932E4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2D9D1F1B-CF19-4EC7-A1E1-4A120E17931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DC0F8EDF-D1B4-4B9D-B352-5E232D3268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D1C5590-2FD9-4267-ADDF-6659852043C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331415D-BEE2-4777-8F66-C8DFD8B9063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4C60D2F-6759-42AB-9512-7B700CC81E0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AB782340-4F1B-45D5-9AC6-530A69531CA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8CDD6104-03BE-4327-B97E-8333409824B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1B8080F3-C22B-44B5-BD89-3F899BF1E4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190AEE9-BEC4-496F-AC58-1A7103D7F2D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D92DA7DE-B3E5-46C1-B70B-83E198448A7D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70BC7D85-AEAF-46AB-B00A-D6CB1D8C3F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EAC6B9C7-7C38-4493-9AA5-613640179E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BA37E8A4-7648-4FB6-AC36-9534213309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6FC735F8-6DA9-4832-8196-85291FDA80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B0F5EEAD-714B-43D3-991F-C7BA0D73E2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02E0CAEC-FC8B-441B-B947-A58418A3B4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7E7294B9-DEE5-418B-96C7-CEAB9B58C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A6EA8FCA-22ED-4F6D-83D9-F69D89F8E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A773B4D8-792F-4944-8B17-1EE24976B6F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05F6661A-E960-440D-9C26-85E213158B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F2E3668-C482-432D-8283-E1A70E0DBA2E}" type="datetime1">
              <a:rPr lang="en-US" smtClean="0"/>
              <a:t>04/08/2021</a:t>
            </a:fld>
            <a:endParaRPr lang="en-US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44A49F5B-220F-4A2F-808A-4991A0E8AD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1B4EC59E-CBC4-4944-8010-87F1225383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44710BF-13BE-48AF-B898-8FBD2A19A8EC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7" name="Picture 16" descr="logo.png">
            <a:extLst>
              <a:ext uri="{FF2B5EF4-FFF2-40B4-BE49-F238E27FC236}">
                <a16:creationId xmlns:a16="http://schemas.microsoft.com/office/drawing/2014/main" id="{96DB7A77-F6F6-43E1-AF5E-6D9EF7D9A7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lum bright="34000" contrast="-51000"/>
          </a:blip>
          <a:stretch>
            <a:fillRect/>
          </a:stretch>
        </p:blipFill>
        <p:spPr>
          <a:xfrm>
            <a:off x="96463" y="66287"/>
            <a:ext cx="914402" cy="44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14491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2258D5E-32E4-4FBB-82A6-DEA0042C6E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956557-C5EB-4B9E-BDD4-080B49831EA7}" type="datetime1">
              <a:rPr lang="en-US" smtClean="0"/>
              <a:t>04/08/2021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5469A4E-E690-46C2-B76E-56406E4E53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941E030-498E-4200-9EB0-4E4DC6ECA0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1A1F5E-BB0B-457C-B3FF-612940FE30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3087183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C6790A4-C511-4163-957E-833E2559CD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4EA8B3-5E08-4FE0-A80A-F42FEC0E0B34}" type="datetime1">
              <a:rPr lang="en-US" smtClean="0"/>
              <a:t>04/08/2021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D6FC9B4-153F-49D0-800B-4BA90308A7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E3ACA5A-0076-4A82-B267-AD5DB3CD68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3BB5B7-D7D7-4FA4-BE68-9CA470CF3D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5992066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24000"/>
            <a:ext cx="3981450" cy="4608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2050" y="1524000"/>
            <a:ext cx="3983038" cy="4608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BA77C28-FCF0-4B98-BF38-9DFF6B9716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B8DF7-75FA-46FA-95B3-A73632A40C4C}" type="datetime1">
              <a:rPr lang="en-US" smtClean="0"/>
              <a:t>04/08/2021</a:t>
            </a:fld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D9EE725-D177-438C-AC83-616626A951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D6D32E6-771E-4ED2-964B-90A4C30EB2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56B54E-CCAF-4A7C-BF86-5E801D45CF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8361251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1198AB49-D93B-41BC-A034-E8F1EAD452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069572-0F74-4BBB-8C6B-A2522AADAB99}" type="datetime1">
              <a:rPr lang="en-US" smtClean="0"/>
              <a:t>04/08/2021</a:t>
            </a:fld>
            <a:endParaRPr 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76126408-2E82-4EFD-BE93-AB0936495A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10811E49-2EAD-4B1A-9784-6FE61953AE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122E05-4B9E-4E7D-B2D6-9148479090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9639213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B40B0086-832C-4789-8FB2-AA101B087A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54DC93-EAC9-4380-B99A-D50D53F60469}" type="datetime1">
              <a:rPr lang="en-US" smtClean="0"/>
              <a:t>04/08/2021</a:t>
            </a:fld>
            <a:endParaRPr lang="en-US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52B8F4D-751D-443A-A763-0F48536D40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C311FC3-2011-47AB-A908-B60D840B4A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34F004-E22A-48AE-BB2E-E4BD464EF2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1008759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A3C2C66-77CD-4A81-AB2F-024B9A131F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933542-83C2-4997-817C-91E3EB31E45A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1DF3456D-010B-4BB8-97D8-BDB561E981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DFB5228-97A3-4723-9020-477BD68BF0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35CD41-D7BC-4ADC-86A4-8184F68D61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218388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8BD9E1F-ABDC-43B9-B309-6586F24BAD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58262-9D46-411A-A757-E4C8812FE6FB}" type="datetime1">
              <a:rPr lang="en-US" smtClean="0"/>
              <a:t>04/08/2021</a:t>
            </a:fld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413BF43-86A9-445E-91D3-06C6426D61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4013E76-7B8B-45BA-B7ED-9FF8F459AD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077E01-BE01-471F-9D13-8FA6C6615F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8291416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A80F6B8-7ECD-4433-911B-3E5AF50E4B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1FBE09-85FF-4E8C-AF55-1EBDC42140EE}" type="datetime1">
              <a:rPr lang="en-US" smtClean="0"/>
              <a:t>04/08/2021</a:t>
            </a:fld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72A0F5B-B8C4-4C65-98BC-84CDD69AEA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9173200-1F9F-44AF-9088-DF034CCC7E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33033E-89F3-4413-A42D-94329494BA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8112806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812FE6A-14CB-43A1-BAD5-2C036657BC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0D0DF-AC98-410B-9FCD-1F4370F8052B}" type="datetime1">
              <a:rPr lang="en-US" smtClean="0"/>
              <a:t>04/08/2021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6916695-7E35-4721-8E50-3B442D8362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9C1FB01-3CD4-4411-A429-E7FC504BF0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675494-49C2-4974-9966-0A6857F127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659340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26263" y="187325"/>
            <a:ext cx="2028825" cy="59451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7325"/>
            <a:ext cx="5935663" cy="59451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BD701AD-EFA2-49B2-8D73-910F8D931C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29FB0B-F722-4E64-B9A1-0C8E2F4F7C54}" type="datetime1">
              <a:rPr lang="en-US" smtClean="0"/>
              <a:t>04/08/2021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3E539DE-0239-4C13-9EA0-BB0F182173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61F1F02-5598-4035-8A11-0A359E8628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61061D-DEAE-454C-96B8-97CE4E70B6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128894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CD93240-7DD6-47F2-9DA6-89358883C13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6715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66D8390-0BC0-471C-92B3-50B4D38D400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EEC7FEA-EAE9-469C-B5DE-30D450D520B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20173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B55AE00-DA46-4F80-AE8D-E5F09C82F95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20173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0" name="Rectangle 7">
            <a:extLst>
              <a:ext uri="{FF2B5EF4-FFF2-40B4-BE49-F238E27FC236}">
                <a16:creationId xmlns:a16="http://schemas.microsoft.com/office/drawing/2014/main" id="{1BB7AF09-34FD-4656-A329-B5799567F42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3BDAB1FA-2D1F-4882-A2A0-126EA44BD21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327150"/>
            <a:ext cx="8226425" cy="74613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2" name="Rectangle 9">
            <a:extLst>
              <a:ext uri="{FF2B5EF4-FFF2-40B4-BE49-F238E27FC236}">
                <a16:creationId xmlns:a16="http://schemas.microsoft.com/office/drawing/2014/main" id="{3DD0E960-30F6-432F-B884-F5A6613BC9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187325"/>
            <a:ext cx="7793037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106" name="Rectangle 10">
            <a:extLst>
              <a:ext uri="{FF2B5EF4-FFF2-40B4-BE49-F238E27FC236}">
                <a16:creationId xmlns:a16="http://schemas.microsoft.com/office/drawing/2014/main" id="{A8EA9C01-E6D1-4DDC-9F0D-254F0E5B0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524000"/>
            <a:ext cx="8116888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EE874EC8-BDC4-4954-8C20-433C6068529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3638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B434A982-9391-4946-B4BA-B62B5C997209}" type="datetime1">
              <a:rPr lang="en-US" smtClean="0"/>
              <a:t>04/08/2021</a:t>
            </a:fld>
            <a:endParaRPr lang="en-US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147F35A3-5044-4129-B26F-8120718F74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133600" y="6243638"/>
            <a:ext cx="579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9EB80395-5A1C-4CD0-939B-51B47C201D0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243638"/>
            <a:ext cx="869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7F6B3DEE-6E44-4B59-8F06-39A634D90C1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7" name="Line 14">
            <a:extLst>
              <a:ext uri="{FF2B5EF4-FFF2-40B4-BE49-F238E27FC236}">
                <a16:creationId xmlns:a16="http://schemas.microsoft.com/office/drawing/2014/main" id="{EF59D7D5-3E63-4429-B4B6-E5A5FFE9364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64008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38" name="Rectangle 6">
            <a:extLst>
              <a:ext uri="{FF2B5EF4-FFF2-40B4-BE49-F238E27FC236}">
                <a16:creationId xmlns:a16="http://schemas.microsoft.com/office/drawing/2014/main" id="{208382D9-150A-4920-8F56-17BF42BEBE1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0207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pic>
        <p:nvPicPr>
          <p:cNvPr id="15" name="Picture 14" descr="logo.png">
            <a:extLst>
              <a:ext uri="{FF2B5EF4-FFF2-40B4-BE49-F238E27FC236}">
                <a16:creationId xmlns:a16="http://schemas.microsoft.com/office/drawing/2014/main" id="{96DB7A77-F6F6-43E1-AF5E-6D9EF7D9A774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lum bright="34000" contrast="-51000"/>
          </a:blip>
          <a:stretch>
            <a:fillRect/>
          </a:stretch>
        </p:blipFill>
        <p:spPr>
          <a:xfrm>
            <a:off x="96463" y="66287"/>
            <a:ext cx="914402" cy="44014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0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0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0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0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0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0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0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0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0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0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ser_interface" TargetMode="External"/><Relationship Id="rId2" Type="http://schemas.openxmlformats.org/officeDocument/2006/relationships/hyperlink" Target="https://en.wikipedia.org/wiki/Software_design_patter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7/docs/api/javax/swing/DefaultComboBoxModel.html#getSelectedItem()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DB9EADE-59F1-4C3B-BFA6-71F0848DCF1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3600" b="1"/>
              <a:t>GUI programming </a:t>
            </a:r>
            <a:r>
              <a:rPr lang="en-US" altLang="en-US" sz="3600" b="1"/>
              <a:t>with </a:t>
            </a:r>
            <a:r>
              <a:rPr lang="en-US" altLang="en-US" sz="3600" b="1" smtClean="0"/>
              <a:t>Swing</a:t>
            </a:r>
            <a:endParaRPr lang="en-US" altLang="en-US" sz="6600" b="1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0AD1AE8-3BFD-4CC4-9928-A332EB34CAC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3886200"/>
            <a:ext cx="8077200" cy="1905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/>
              <a:t>Object Oriented </a:t>
            </a:r>
            <a:r>
              <a:rPr lang="en-US" altLang="en-US" b="1"/>
              <a:t>Programming </a:t>
            </a:r>
            <a:r>
              <a:rPr lang="en-US" altLang="en-US" b="1" smtClean="0"/>
              <a:t>with </a:t>
            </a:r>
            <a:r>
              <a:rPr lang="en-US" altLang="en-US" b="1"/>
              <a:t>Java</a:t>
            </a:r>
            <a:r>
              <a:rPr lang="en-US" altLang="en-US" sz="6000" b="1"/>
              <a:t> </a:t>
            </a:r>
            <a:endParaRPr lang="en-US" altLang="en-US" smtClean="0"/>
          </a:p>
          <a:p>
            <a:pPr rtl="0" eaLnBrk="1" hangingPunct="1">
              <a:lnSpc>
                <a:spcPct val="90000"/>
              </a:lnSpc>
            </a:pPr>
            <a:r>
              <a:rPr lang="en-US" altLang="en-US" smtClean="0"/>
              <a:t>Chapter </a:t>
            </a:r>
            <a:r>
              <a:rPr lang="en-US" altLang="en-US" dirty="0"/>
              <a:t>8</a:t>
            </a:r>
          </a:p>
          <a:p>
            <a:pPr rtl="0" eaLnBrk="1" hangingPunct="1">
              <a:lnSpc>
                <a:spcPct val="90000"/>
              </a:lnSpc>
            </a:pPr>
            <a:r>
              <a:rPr lang="en-US" altLang="en-US" smtClean="0"/>
              <a:t>FPTU </a:t>
            </a:r>
            <a:r>
              <a:rPr lang="en-US" altLang="en-US" smtClean="0"/>
              <a:t>Da Nang – IT Department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>
            <a:extLst>
              <a:ext uri="{FF2B5EF4-FFF2-40B4-BE49-F238E27FC236}">
                <a16:creationId xmlns:a16="http://schemas.microsoft.com/office/drawing/2014/main" id="{021A10D4-C3CA-419B-9C93-DC04A25CA11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F810418A-2611-467D-99CA-DB5BCFBA577C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1914B1B7-E26F-4BC6-8C68-C9B2B20C9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677DA507-B876-469A-AC59-F79CC86D2AD3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D039C7F2-D24E-4FB3-A34F-527EE827AF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419100"/>
            <a:ext cx="7793037" cy="800100"/>
          </a:xfrm>
        </p:spPr>
        <p:txBody>
          <a:bodyPr/>
          <a:lstStyle/>
          <a:p>
            <a:pPr algn="l" rtl="0" eaLnBrk="1" hangingPunct="1"/>
            <a:r>
              <a:rPr lang="en-US" altLang="en-US" smtClean="0"/>
              <a:t>Objectives</a:t>
            </a:r>
            <a:endParaRPr lang="en-US" altLang="en-US"/>
          </a:p>
        </p:txBody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9A9E4FE8-A978-4036-94C6-27AE91A06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800"/>
              <a:t>By completion of this chapter, students should have achieved the following:</a:t>
            </a:r>
          </a:p>
          <a:p>
            <a:pPr lvl="1" algn="l" rtl="0" eaLnBrk="1" hangingPunct="1"/>
            <a:r>
              <a:rPr lang="en-US" altLang="en-US" sz="2400"/>
              <a:t>Understand the structure and master programming skills to organize a GUI </a:t>
            </a:r>
            <a:r>
              <a:rPr lang="en-US" altLang="en-US" sz="2400" smtClean="0"/>
              <a:t>application in </a:t>
            </a:r>
            <a:r>
              <a:rPr lang="en-US" altLang="en-US" sz="2400"/>
              <a:t>Java</a:t>
            </a:r>
          </a:p>
          <a:p>
            <a:pPr lvl="1" algn="l" rtl="0" eaLnBrk="1" hangingPunct="1"/>
            <a:r>
              <a:rPr lang="en-US" altLang="en-US" sz="2400"/>
              <a:t>Understand and apply the MVC design pattern </a:t>
            </a:r>
          </a:p>
          <a:p>
            <a:pPr lvl="1" algn="l" rtl="0" eaLnBrk="1" hangingPunct="1"/>
            <a:r>
              <a:rPr lang="en-US" altLang="en-US" sz="2400"/>
              <a:t>Know how to </a:t>
            </a:r>
            <a:r>
              <a:rPr lang="en-US" altLang="en-US" sz="2400" smtClean="0"/>
              <a:t>customize </a:t>
            </a:r>
            <a:r>
              <a:rPr lang="en-US" altLang="en-US" sz="2400"/>
              <a:t>Swing </a:t>
            </a:r>
            <a:r>
              <a:rPr lang="en-US" altLang="en-US" sz="2400" smtClean="0"/>
              <a:t>components</a:t>
            </a:r>
            <a:endParaRPr lang="en-US" altLang="en-US" sz="2400"/>
          </a:p>
          <a:p>
            <a:pPr lvl="1" algn="l" rtl="0" eaLnBrk="1" hangingPunct="1"/>
            <a:r>
              <a:rPr lang="en-US" altLang="en-US" sz="2400"/>
              <a:t>Understand the </a:t>
            </a:r>
            <a:r>
              <a:rPr lang="en-US" altLang="en-US" sz="2400" smtClean="0"/>
              <a:t>event </a:t>
            </a:r>
            <a:r>
              <a:rPr lang="en-US" altLang="en-US" sz="2400"/>
              <a:t>handling mechanism and master the </a:t>
            </a:r>
            <a:r>
              <a:rPr lang="en-US" altLang="en-US" sz="2400" smtClean="0"/>
              <a:t>skills </a:t>
            </a:r>
            <a:r>
              <a:rPr lang="en-US" altLang="en-US" sz="2400"/>
              <a:t>of </a:t>
            </a:r>
            <a:r>
              <a:rPr lang="en-US" altLang="en-US" sz="2400" smtClean="0"/>
              <a:t>writing </a:t>
            </a:r>
            <a:r>
              <a:rPr lang="en-US" altLang="en-US" sz="2400"/>
              <a:t>event </a:t>
            </a:r>
            <a:r>
              <a:rPr lang="en-US" altLang="en-US" sz="2400" smtClean="0"/>
              <a:t>listener.</a:t>
            </a:r>
            <a:endParaRPr lang="en-US" altLang="en-US" sz="2400"/>
          </a:p>
          <a:p>
            <a:pPr lvl="1" algn="l" rtl="0" eaLnBrk="1" hangingPunct="1"/>
            <a:r>
              <a:rPr lang="en-US" altLang="en-US" sz="2400"/>
              <a:t>Skills to self-study and use GUI components available in the library </a:t>
            </a: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>
            <a:extLst>
              <a:ext uri="{FF2B5EF4-FFF2-40B4-BE49-F238E27FC236}">
                <a16:creationId xmlns:a16="http://schemas.microsoft.com/office/drawing/2014/main" id="{443F1973-9A85-400B-86EB-8BD7A25487F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13C447ED-645E-4613-88A7-499B0569FD15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E7D1200D-ACD7-434E-875D-A11C75F9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561E5A6C-EB10-4389-899B-9B7C57DBF1A7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7173" name="Rectangle 2">
            <a:extLst>
              <a:ext uri="{FF2B5EF4-FFF2-40B4-BE49-F238E27FC236}">
                <a16:creationId xmlns:a16="http://schemas.microsoft.com/office/drawing/2014/main" id="{2F59E97B-F16E-46C4-95B2-3F6183F066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C</a:t>
            </a:r>
            <a:r>
              <a:rPr lang="en-US" altLang="en-US" smtClean="0"/>
              <a:t>ontent</a:t>
            </a:r>
            <a:endParaRPr lang="en-US" altLang="en-US"/>
          </a:p>
        </p:txBody>
      </p:sp>
      <p:sp>
        <p:nvSpPr>
          <p:cNvPr id="7174" name="Rectangle 3">
            <a:extLst>
              <a:ext uri="{FF2B5EF4-FFF2-40B4-BE49-F238E27FC236}">
                <a16:creationId xmlns:a16="http://schemas.microsoft.com/office/drawing/2014/main" id="{3EB744A9-1100-4DAF-B144-44238C3A09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 to MVC design pattern</a:t>
            </a:r>
          </a:p>
          <a:p>
            <a:pPr algn="l" rtl="0" eaLnBrk="1" hangingPunct="1"/>
            <a:r>
              <a:rPr lang="en-US" altLang="en-US" smtClean="0"/>
              <a:t>Introduction </a:t>
            </a:r>
            <a:r>
              <a:rPr lang="en-US" altLang="en-US"/>
              <a:t>to AWT &amp; Swing</a:t>
            </a:r>
          </a:p>
          <a:p>
            <a:pPr algn="l" rtl="0" eaLnBrk="1" hangingPunct="1"/>
            <a:r>
              <a:rPr lang="en-US" altLang="en-US" smtClean="0"/>
              <a:t>General </a:t>
            </a:r>
            <a:r>
              <a:rPr lang="en-US" altLang="en-US"/>
              <a:t>structure of GUI interfaces</a:t>
            </a:r>
          </a:p>
          <a:p>
            <a:pPr algn="l" rtl="0" eaLnBrk="1" hangingPunct="1"/>
            <a:r>
              <a:rPr lang="en-US" altLang="en-US"/>
              <a:t>Container classes &amp; layout manager</a:t>
            </a:r>
          </a:p>
          <a:p>
            <a:pPr algn="l" rtl="0" eaLnBrk="1" hangingPunct="1"/>
            <a:r>
              <a:rPr lang="en-US" altLang="en-US"/>
              <a:t>Basic GUI components</a:t>
            </a:r>
          </a:p>
          <a:p>
            <a:pPr algn="l" rtl="0" eaLnBrk="1" hangingPunct="1"/>
            <a:r>
              <a:rPr lang="en-US" altLang="en-US" smtClean="0"/>
              <a:t>Event </a:t>
            </a:r>
            <a:r>
              <a:rPr lang="en-US" altLang="en-US"/>
              <a:t>handling mechanism</a:t>
            </a:r>
          </a:p>
          <a:p>
            <a:pPr algn="l" rtl="0" eaLnBrk="1" hangingPunct="1"/>
            <a:r>
              <a:rPr lang="en-US" altLang="en-US"/>
              <a:t>Basic listener classes &amp; customization</a:t>
            </a: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e Placeholder 3">
            <a:extLst>
              <a:ext uri="{FF2B5EF4-FFF2-40B4-BE49-F238E27FC236}">
                <a16:creationId xmlns:a16="http://schemas.microsoft.com/office/drawing/2014/main" id="{91D270CB-54C7-42F9-917E-55DB3FA86A0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AAEEC4E7-D217-4282-8A20-56EF932C26EA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9837BFF9-B5D1-4A56-B5AA-B20AED3E64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800"/>
              <a:t>MVC (Model-View-Controller) design pattern</a:t>
            </a:r>
            <a:r>
              <a:rPr lang="en-US" altLang="en-US" sz="3200"/>
              <a:t> </a:t>
            </a:r>
          </a:p>
        </p:txBody>
      </p:sp>
      <p:sp>
        <p:nvSpPr>
          <p:cNvPr id="8197" name="Slide Number Placeholder 5">
            <a:extLst>
              <a:ext uri="{FF2B5EF4-FFF2-40B4-BE49-F238E27FC236}">
                <a16:creationId xmlns:a16="http://schemas.microsoft.com/office/drawing/2014/main" id="{CFCBE1B0-D2DB-452A-AD7B-6128383D7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6A90F4F9-629A-4541-8892-FD3CC1984ED9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8198" name="Rectangle 3">
            <a:extLst>
              <a:ext uri="{FF2B5EF4-FFF2-40B4-BE49-F238E27FC236}">
                <a16:creationId xmlns:a16="http://schemas.microsoft.com/office/drawing/2014/main" id="{33CA0024-6E63-4925-8D7C-DCD693D53D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534400" cy="4608513"/>
          </a:xfrm>
        </p:spPr>
        <p:txBody>
          <a:bodyPr/>
          <a:lstStyle/>
          <a:p>
            <a:pPr eaLnBrk="1" hangingPunct="1"/>
            <a:r>
              <a:rPr lang="en-US" altLang="en-US" sz="2400"/>
              <a:t>MVC is </a:t>
            </a:r>
            <a:r>
              <a:rPr lang="en-US" sz="2800"/>
              <a:t>a </a:t>
            </a:r>
            <a:r>
              <a:rPr lang="en-US" sz="2800">
                <a:hlinkClick r:id="rId2"/>
              </a:rPr>
              <a:t>software design </a:t>
            </a:r>
            <a:r>
              <a:rPr lang="en-US" sz="2800" smtClean="0">
                <a:hlinkClick r:id="rId2"/>
              </a:rPr>
              <a:t>pattern</a:t>
            </a:r>
            <a:r>
              <a:rPr lang="en-US" sz="2800" smtClean="0"/>
              <a:t> commonly </a:t>
            </a:r>
            <a:r>
              <a:rPr lang="en-US" sz="2800"/>
              <a:t>used for developing </a:t>
            </a:r>
            <a:r>
              <a:rPr lang="en-US" sz="2800">
                <a:hlinkClick r:id="rId3" tooltip="User interface"/>
              </a:rPr>
              <a:t>user interfaces</a:t>
            </a:r>
            <a:r>
              <a:rPr lang="en-US" sz="2800"/>
              <a:t> that divide the related program logic into three interconnected elements. </a:t>
            </a:r>
            <a:endParaRPr lang="en-US" sz="2800" smtClean="0"/>
          </a:p>
          <a:p>
            <a:pPr lvl="1" algn="l" rtl="0" eaLnBrk="1" hangingPunct="1"/>
            <a:r>
              <a:rPr lang="en-US" altLang="en-US" sz="2400" smtClean="0"/>
              <a:t>Model </a:t>
            </a:r>
            <a:r>
              <a:rPr lang="en-US" altLang="en-US" sz="2400"/>
              <a:t>: responsible for data processing and </a:t>
            </a:r>
            <a:r>
              <a:rPr lang="en-US" altLang="en-US" sz="2400" smtClean="0"/>
              <a:t>business logic, </a:t>
            </a:r>
            <a:r>
              <a:rPr lang="en-US" altLang="en-US" sz="2400"/>
              <a:t>connecting to the database</a:t>
            </a:r>
          </a:p>
          <a:p>
            <a:pPr lvl="1" algn="l" rtl="0" eaLnBrk="1" hangingPunct="1"/>
            <a:r>
              <a:rPr lang="en-US" altLang="en-US" sz="2400"/>
              <a:t>View: display data, interact directly with users</a:t>
            </a:r>
          </a:p>
          <a:p>
            <a:pPr lvl="1" algn="l" rtl="0" eaLnBrk="1" hangingPunct="1"/>
            <a:r>
              <a:rPr lang="en-US" altLang="en-US" sz="2400"/>
              <a:t>Controller: common controller, MV . </a:t>
            </a:r>
            <a:r>
              <a:rPr lang="en-US" altLang="en-US" sz="2400" smtClean="0"/>
              <a:t>Binding</a:t>
            </a:r>
          </a:p>
          <a:p>
            <a:pPr marL="342900" lvl="1" indent="-342900" eaLnBrk="1" hangingPunct="1">
              <a:buClr>
                <a:schemeClr val="folHlink"/>
              </a:buClr>
              <a:buSzPct val="60000"/>
            </a:pPr>
            <a:r>
              <a:rPr lang="en-US"/>
              <a:t>Separate internal representations of information from the ways information is presented to and accepted from the user</a:t>
            </a:r>
            <a:endParaRPr lang="en-US" altLang="en-US" sz="2400"/>
          </a:p>
          <a:p>
            <a:pPr algn="l" rtl="0" eaLnBrk="1" hangingPunct="1"/>
            <a:endParaRPr lang="en-US" altLang="en-US"/>
          </a:p>
        </p:txBody>
      </p:sp>
    </p:spTree>
  </p:cSld>
  <p:clrMapOvr>
    <a:masterClrMapping/>
  </p:clrMapOvr>
  <p:transition spd="med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e Placeholder 3">
            <a:extLst>
              <a:ext uri="{FF2B5EF4-FFF2-40B4-BE49-F238E27FC236}">
                <a16:creationId xmlns:a16="http://schemas.microsoft.com/office/drawing/2014/main" id="{91D270CB-54C7-42F9-917E-55DB3FA86A0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3E126135-C595-4E53-A774-78A224109C90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9837BFF9-B5D1-4A56-B5AA-B20AED3E64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800"/>
              <a:t>MVC (Model-View-Controller) design pattern</a:t>
            </a:r>
            <a:r>
              <a:rPr lang="en-US" altLang="en-US" sz="3200"/>
              <a:t> </a:t>
            </a:r>
          </a:p>
        </p:txBody>
      </p:sp>
      <p:sp>
        <p:nvSpPr>
          <p:cNvPr id="8197" name="Slide Number Placeholder 5">
            <a:extLst>
              <a:ext uri="{FF2B5EF4-FFF2-40B4-BE49-F238E27FC236}">
                <a16:creationId xmlns:a16="http://schemas.microsoft.com/office/drawing/2014/main" id="{CFCBE1B0-D2DB-452A-AD7B-6128383D7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6A90F4F9-629A-4541-8892-FD3CC1984ED9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8198" name="Rectangle 3">
            <a:extLst>
              <a:ext uri="{FF2B5EF4-FFF2-40B4-BE49-F238E27FC236}">
                <a16:creationId xmlns:a16="http://schemas.microsoft.com/office/drawing/2014/main" id="{33CA0024-6E63-4925-8D7C-DCD693D53D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534400" cy="4608513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MVC for Java GUI </a:t>
            </a:r>
            <a:r>
              <a:rPr lang="en-US" altLang="en-US" sz="2800"/>
              <a:t>Application: </a:t>
            </a:r>
          </a:p>
          <a:p>
            <a:pPr lvl="1" eaLnBrk="1" hangingPunct="1"/>
            <a:r>
              <a:rPr lang="en-US" altLang="en-US" sz="2400"/>
              <a:t>Model class is independent of </a:t>
            </a:r>
            <a:r>
              <a:rPr lang="en-US" altLang="en-US" sz="2400" smtClean="0"/>
              <a:t>View</a:t>
            </a:r>
            <a:br>
              <a:rPr lang="en-US" altLang="en-US" sz="2400" smtClean="0"/>
            </a:br>
            <a:r>
              <a:rPr lang="en-US" altLang="en-US" sz="2400" smtClean="0"/>
              <a:t>+ Java bean class</a:t>
            </a:r>
            <a:br>
              <a:rPr lang="en-US" altLang="en-US" sz="2400" smtClean="0"/>
            </a:br>
            <a:r>
              <a:rPr lang="en-US" altLang="en-US" sz="2400" smtClean="0"/>
              <a:t>+ No </a:t>
            </a:r>
            <a:r>
              <a:rPr lang="en-US" altLang="en-US" sz="2400"/>
              <a:t>console input/output </a:t>
            </a:r>
          </a:p>
          <a:p>
            <a:pPr lvl="1" eaLnBrk="1" hangingPunct="1"/>
            <a:r>
              <a:rPr lang="en-US" altLang="en-US" sz="2400"/>
              <a:t>Views are GUI interfaces </a:t>
            </a:r>
            <a:r>
              <a:rPr lang="en-US" altLang="en-US" sz="2400" smtClean="0"/>
              <a:t/>
            </a:r>
            <a:br>
              <a:rPr lang="en-US" altLang="en-US" sz="2400" smtClean="0"/>
            </a:br>
            <a:r>
              <a:rPr lang="en-US" altLang="en-US" sz="2400" smtClean="0"/>
              <a:t>+ presentation layer</a:t>
            </a:r>
            <a:br>
              <a:rPr lang="en-US" altLang="en-US" sz="2400" smtClean="0"/>
            </a:br>
            <a:r>
              <a:rPr lang="en-US" altLang="en-US" sz="2400" smtClean="0"/>
              <a:t>+ interact </a:t>
            </a:r>
            <a:r>
              <a:rPr lang="en-US" altLang="en-US" sz="2400"/>
              <a:t>with </a:t>
            </a:r>
            <a:r>
              <a:rPr lang="en-US" altLang="en-US" sz="2400" smtClean="0"/>
              <a:t>user</a:t>
            </a:r>
            <a:endParaRPr lang="en-US" altLang="en-US" sz="2400"/>
          </a:p>
          <a:p>
            <a:pPr lvl="1" eaLnBrk="1" hangingPunct="1"/>
            <a:r>
              <a:rPr lang="en-US" altLang="en-US" sz="2400"/>
              <a:t>Controllers are event listeners</a:t>
            </a:r>
            <a:br>
              <a:rPr lang="en-US" altLang="en-US" sz="2400"/>
            </a:br>
            <a:r>
              <a:rPr lang="en-US" altLang="en-US" sz="2400"/>
              <a:t>+ coordinate, connect view and model</a:t>
            </a:r>
            <a:br>
              <a:rPr lang="en-US" altLang="en-US" sz="2400"/>
            </a:br>
            <a:r>
              <a:rPr lang="en-US" altLang="en-US" sz="2400"/>
              <a:t>+ view and listener integrated with each other </a:t>
            </a:r>
          </a:p>
          <a:p>
            <a:pPr eaLnBrk="1" hangingPunct="1"/>
            <a:endParaRPr lang="en-US" altLang="en-US"/>
          </a:p>
          <a:p>
            <a:pPr algn="l" rtl="0"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73040"/>
      </p:ext>
    </p:extLst>
  </p:cSld>
  <p:clrMapOvr>
    <a:masterClrMapping/>
  </p:clrMapOvr>
  <p:transition spd="med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Date Placeholder 3">
            <a:extLst>
              <a:ext uri="{FF2B5EF4-FFF2-40B4-BE49-F238E27FC236}">
                <a16:creationId xmlns:a16="http://schemas.microsoft.com/office/drawing/2014/main" id="{43B3C7DB-6D15-4318-B1A7-4C7D4E1E53E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B0B9670C-3DF8-4A32-A61E-D4DE86313F13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9220" name="Slide Number Placeholder 5">
            <a:extLst>
              <a:ext uri="{FF2B5EF4-FFF2-40B4-BE49-F238E27FC236}">
                <a16:creationId xmlns:a16="http://schemas.microsoft.com/office/drawing/2014/main" id="{462E46D6-6D74-4E68-B411-9D325C29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D811B925-4B6B-4A05-BE39-F14FCF040FE9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9221" name="Rectangle 2">
            <a:extLst>
              <a:ext uri="{FF2B5EF4-FFF2-40B4-BE49-F238E27FC236}">
                <a16:creationId xmlns:a16="http://schemas.microsoft.com/office/drawing/2014/main" id="{4ADD46D9-E3B2-4276-8AF2-9A72175248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600" smtClean="0"/>
              <a:t>Introduction </a:t>
            </a:r>
            <a:r>
              <a:rPr lang="en-US" altLang="en-US" sz="3600"/>
              <a:t>to AWT &amp; Swing</a:t>
            </a:r>
            <a:r>
              <a:rPr lang="en-US" altLang="en-US" sz="4000"/>
              <a:t> </a:t>
            </a:r>
          </a:p>
        </p:txBody>
      </p:sp>
      <p:sp>
        <p:nvSpPr>
          <p:cNvPr id="9222" name="Rectangle 3">
            <a:extLst>
              <a:ext uri="{FF2B5EF4-FFF2-40B4-BE49-F238E27FC236}">
                <a16:creationId xmlns:a16="http://schemas.microsoft.com/office/drawing/2014/main" id="{15E21116-5E4E-4CB5-8352-314BE8C25F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4953000" cy="4608513"/>
          </a:xfrm>
        </p:spPr>
        <p:txBody>
          <a:bodyPr/>
          <a:lstStyle/>
          <a:p>
            <a:pPr algn="l" rtl="0" eaLnBrk="1" hangingPunct="1"/>
            <a:r>
              <a:rPr lang="en-US" altLang="en-US"/>
              <a:t>AWT: Abstract Windows Toolkit</a:t>
            </a:r>
          </a:p>
          <a:p>
            <a:pPr lvl="1" algn="l" rtl="0" eaLnBrk="1" hangingPunct="1"/>
            <a:r>
              <a:rPr lang="en-US" altLang="en-US"/>
              <a:t>The API library provides GUI objects</a:t>
            </a:r>
          </a:p>
          <a:p>
            <a:pPr lvl="1" algn="l" rtl="0" eaLnBrk="1" hangingPunct="1"/>
            <a:r>
              <a:rPr lang="en-US" altLang="en-US"/>
              <a:t>Create interface link between Java application and OS</a:t>
            </a:r>
          </a:p>
          <a:p>
            <a:pPr lvl="1" algn="l" rtl="0" eaLnBrk="1" hangingPunct="1"/>
            <a:r>
              <a:rPr lang="en-US" altLang="en-US"/>
              <a:t>Heavy-weight components</a:t>
            </a:r>
          </a:p>
          <a:p>
            <a:pPr lvl="1" algn="l" rtl="0" eaLnBrk="1" hangingPunct="1"/>
            <a:r>
              <a:rPr lang="en-US" altLang="en-US"/>
              <a:t>Package java.awt</a:t>
            </a:r>
          </a:p>
        </p:txBody>
      </p:sp>
      <p:pic>
        <p:nvPicPr>
          <p:cNvPr id="9223" name="Picture 4">
            <a:extLst>
              <a:ext uri="{FF2B5EF4-FFF2-40B4-BE49-F238E27FC236}">
                <a16:creationId xmlns:a16="http://schemas.microsoft.com/office/drawing/2014/main" id="{65AC7DB9-185C-485C-8009-865458F2B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1447800"/>
            <a:ext cx="40005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Date Placeholder 3">
            <a:extLst>
              <a:ext uri="{FF2B5EF4-FFF2-40B4-BE49-F238E27FC236}">
                <a16:creationId xmlns:a16="http://schemas.microsoft.com/office/drawing/2014/main" id="{C21BD49A-BD23-45A7-8319-42CCC015E16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917795A0-8870-454D-9656-5762DC0DF7A0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10244" name="Slide Number Placeholder 5">
            <a:extLst>
              <a:ext uri="{FF2B5EF4-FFF2-40B4-BE49-F238E27FC236}">
                <a16:creationId xmlns:a16="http://schemas.microsoft.com/office/drawing/2014/main" id="{6C7F0555-2E0D-4CA9-9B90-05F3017ED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E8802F24-C312-4884-AD60-F5F893DCD78A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D9F4BC18-B56B-4BE9-9E6A-B5B8D25433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600" smtClean="0"/>
              <a:t>Introduction </a:t>
            </a:r>
            <a:r>
              <a:rPr lang="en-US" altLang="en-US" sz="3600"/>
              <a:t>to AWT &amp; Swing</a:t>
            </a:r>
            <a:r>
              <a:rPr lang="en-US" altLang="en-US" sz="4000"/>
              <a:t> </a:t>
            </a:r>
          </a:p>
        </p:txBody>
      </p:sp>
      <p:sp>
        <p:nvSpPr>
          <p:cNvPr id="10246" name="Rectangle 3">
            <a:extLst>
              <a:ext uri="{FF2B5EF4-FFF2-40B4-BE49-F238E27FC236}">
                <a16:creationId xmlns:a16="http://schemas.microsoft.com/office/drawing/2014/main" id="{4513DE4D-AFAE-47F0-ACD9-0FAED11CFA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534400" cy="4608513"/>
          </a:xfrm>
        </p:spPr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/>
              <a:t>Swing: an extension of AWT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/>
              <a:t>Create a consistent look and feel independent of the environment</a:t>
            </a:r>
            <a:br>
              <a:rPr lang="en-US" altLang="en-US"/>
            </a:br>
            <a:r>
              <a:rPr lang="en-US" altLang="en-US"/>
              <a:t>(cross-platform GUI)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/>
              <a:t>Light-weight component with many advanced features.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/>
              <a:t>pluggable look and feel 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/>
              <a:t>Customizable at runtime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/>
              <a:t>Do not mix AWT and Swing GUI components on the same interface.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/>
              <a:t>Package javax.swing</a:t>
            </a:r>
          </a:p>
        </p:txBody>
      </p:sp>
    </p:spTree>
  </p:cSld>
  <p:clrMapOvr>
    <a:masterClrMapping/>
  </p:clrMapOvr>
  <p:transition spd="med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Date Placeholder 3">
            <a:extLst>
              <a:ext uri="{FF2B5EF4-FFF2-40B4-BE49-F238E27FC236}">
                <a16:creationId xmlns:a16="http://schemas.microsoft.com/office/drawing/2014/main" id="{E4E023C6-F45A-4D5E-BB35-90D28B0EB2F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BC81BD35-EEF3-4A1E-BBEC-4DB7F4AB7D72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11268" name="Slide Number Placeholder 5">
            <a:extLst>
              <a:ext uri="{FF2B5EF4-FFF2-40B4-BE49-F238E27FC236}">
                <a16:creationId xmlns:a16="http://schemas.microsoft.com/office/drawing/2014/main" id="{62075BC2-3A8C-4996-8AC8-EC156C6AF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38F65AF2-025B-43C7-9CAE-1B50FC286E67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A8D0C62F-CCE2-4729-9D94-9649B830AB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534400" cy="1833563"/>
          </a:xfrm>
        </p:spPr>
        <p:txBody>
          <a:bodyPr/>
          <a:lstStyle/>
          <a:p>
            <a:pPr algn="l" rtl="0" eaLnBrk="1" hangingPunct="1"/>
            <a:r>
              <a:rPr lang="en-US" altLang="en-US" sz="2800"/>
              <a:t>The GUI interface is essentially the </a:t>
            </a:r>
            <a:r>
              <a:rPr lang="en-US" altLang="en-US" sz="2800" b="1"/>
              <a:t>containers,</a:t>
            </a:r>
            <a:r>
              <a:rPr lang="en-US" altLang="en-US" sz="2800"/>
              <a:t> </a:t>
            </a:r>
            <a:r>
              <a:rPr lang="en-US" altLang="en-US" sz="2800" smtClean="0"/>
              <a:t>with </a:t>
            </a:r>
            <a:r>
              <a:rPr lang="en-US" altLang="en-US" sz="2800" b="1"/>
              <a:t>GUI </a:t>
            </a:r>
            <a:r>
              <a:rPr lang="en-US" altLang="en-US" sz="2800" b="1" smtClean="0"/>
              <a:t>controls</a:t>
            </a:r>
            <a:r>
              <a:rPr lang="en-US" altLang="en-US" sz="2800" smtClean="0"/>
              <a:t> place on it, control’s location managed  by </a:t>
            </a:r>
            <a:r>
              <a:rPr lang="en-US" altLang="en-US" sz="2800" b="1"/>
              <a:t>Layout </a:t>
            </a:r>
            <a:r>
              <a:rPr lang="en-US" altLang="en-US" sz="2800" b="1" smtClean="0"/>
              <a:t>Manager</a:t>
            </a:r>
            <a:r>
              <a:rPr lang="en-US" altLang="en-US" sz="2800"/>
              <a:t>, interact with </a:t>
            </a:r>
            <a:r>
              <a:rPr lang="en-US" altLang="en-US" sz="2800" smtClean="0"/>
              <a:t>user controlled by </a:t>
            </a:r>
            <a:r>
              <a:rPr lang="en-US" altLang="en-US" sz="2800" b="1" smtClean="0"/>
              <a:t>Listener</a:t>
            </a:r>
            <a:endParaRPr lang="en-US" altLang="en-US" sz="2800" b="1"/>
          </a:p>
          <a:p>
            <a:pPr algn="l" rtl="0" eaLnBrk="1" hangingPunct="1"/>
            <a:endParaRPr lang="en-US" altLang="en-US" sz="2800" b="1"/>
          </a:p>
        </p:txBody>
      </p:sp>
      <p:sp>
        <p:nvSpPr>
          <p:cNvPr id="11270" name="Rectangle 2">
            <a:extLst>
              <a:ext uri="{FF2B5EF4-FFF2-40B4-BE49-F238E27FC236}">
                <a16:creationId xmlns:a16="http://schemas.microsoft.com/office/drawing/2014/main" id="{29F5577E-0D6E-4590-A685-8410BEF398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600" smtClean="0"/>
              <a:t>Introduction </a:t>
            </a:r>
            <a:r>
              <a:rPr lang="en-US" altLang="en-US" sz="3600"/>
              <a:t>to AWT &amp; Swing</a:t>
            </a:r>
            <a:r>
              <a:rPr lang="en-US" altLang="en-US" sz="4000"/>
              <a:t> </a:t>
            </a:r>
          </a:p>
        </p:txBody>
      </p:sp>
      <p:pic>
        <p:nvPicPr>
          <p:cNvPr id="11271" name="Picture 1">
            <a:extLst>
              <a:ext uri="{FF2B5EF4-FFF2-40B4-BE49-F238E27FC236}">
                <a16:creationId xmlns:a16="http://schemas.microsoft.com/office/drawing/2014/main" id="{D5BD05FD-BF03-485B-BF00-B24ED9061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362325"/>
            <a:ext cx="2895600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2" name="Rectangle 4">
            <a:extLst>
              <a:ext uri="{FF2B5EF4-FFF2-40B4-BE49-F238E27FC236}">
                <a16:creationId xmlns:a16="http://schemas.microsoft.com/office/drawing/2014/main" id="{3CD28B0A-D0B2-4132-BF37-EB917E3D1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76600"/>
            <a:ext cx="3048000" cy="3073400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73" name="Rectangle 11">
            <a:extLst>
              <a:ext uri="{FF2B5EF4-FFF2-40B4-BE49-F238E27FC236}">
                <a16:creationId xmlns:a16="http://schemas.microsoft.com/office/drawing/2014/main" id="{403E0BCB-D350-417E-A070-18843BFED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810000"/>
            <a:ext cx="2895600" cy="2428875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74" name="Rectangle 12">
            <a:extLst>
              <a:ext uri="{FF2B5EF4-FFF2-40B4-BE49-F238E27FC236}">
                <a16:creationId xmlns:a16="http://schemas.microsoft.com/office/drawing/2014/main" id="{E27F35C5-EDAF-42D9-891C-69CBADDA2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886200"/>
            <a:ext cx="2743200" cy="685800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75" name="Rectangle 13">
            <a:extLst>
              <a:ext uri="{FF2B5EF4-FFF2-40B4-BE49-F238E27FC236}">
                <a16:creationId xmlns:a16="http://schemas.microsoft.com/office/drawing/2014/main" id="{CEFF1EC3-9D5E-4BCE-AF47-767F72A7D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105400"/>
            <a:ext cx="2743200" cy="685800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76" name="Rectangle 14">
            <a:extLst>
              <a:ext uri="{FF2B5EF4-FFF2-40B4-BE49-F238E27FC236}">
                <a16:creationId xmlns:a16="http://schemas.microsoft.com/office/drawing/2014/main" id="{D9527A5B-571C-4731-99E3-7620BB356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876925"/>
            <a:ext cx="2743200" cy="295275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77" name="Rectangle 15">
            <a:extLst>
              <a:ext uri="{FF2B5EF4-FFF2-40B4-BE49-F238E27FC236}">
                <a16:creationId xmlns:a16="http://schemas.microsoft.com/office/drawing/2014/main" id="{BABC044D-4A2B-451C-BFB6-E189E1480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648200"/>
            <a:ext cx="2743200" cy="1519238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11278" name="Picture 5">
            <a:extLst>
              <a:ext uri="{FF2B5EF4-FFF2-40B4-BE49-F238E27FC236}">
                <a16:creationId xmlns:a16="http://schemas.microsoft.com/office/drawing/2014/main" id="{7F96E181-FF0A-4D93-920D-67328F5C81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489325"/>
            <a:ext cx="2247900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279" name="Straight Arrow Connector 7">
            <a:extLst>
              <a:ext uri="{FF2B5EF4-FFF2-40B4-BE49-F238E27FC236}">
                <a16:creationId xmlns:a16="http://schemas.microsoft.com/office/drawing/2014/main" id="{4B6AEDC7-2A7F-4450-B6C4-0A12F21D6F1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172200" y="3944938"/>
            <a:ext cx="533400" cy="99536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Straight Arrow Connector 20">
            <a:extLst>
              <a:ext uri="{FF2B5EF4-FFF2-40B4-BE49-F238E27FC236}">
                <a16:creationId xmlns:a16="http://schemas.microsoft.com/office/drawing/2014/main" id="{58C7389B-9271-4621-9B8D-A745969A410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753100" y="4495800"/>
            <a:ext cx="1104900" cy="1528763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Straight Arrow Connector 22">
            <a:extLst>
              <a:ext uri="{FF2B5EF4-FFF2-40B4-BE49-F238E27FC236}">
                <a16:creationId xmlns:a16="http://schemas.microsoft.com/office/drawing/2014/main" id="{C370AA82-DA77-4453-B9BE-EB20A3FDDB5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753100" y="5181600"/>
            <a:ext cx="1104900" cy="22542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82" name="Oval Callout 18">
            <a:extLst>
              <a:ext uri="{FF2B5EF4-FFF2-40B4-BE49-F238E27FC236}">
                <a16:creationId xmlns:a16="http://schemas.microsoft.com/office/drawing/2014/main" id="{7F4809AB-7CCD-4515-ACB9-36E91F5C4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657600"/>
            <a:ext cx="1219200" cy="496888"/>
          </a:xfrm>
          <a:prstGeom prst="wedgeEllipseCallout">
            <a:avLst>
              <a:gd name="adj1" fmla="val 132690"/>
              <a:gd name="adj2" fmla="val -73065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Frame</a:t>
            </a:r>
          </a:p>
        </p:txBody>
      </p:sp>
      <p:sp>
        <p:nvSpPr>
          <p:cNvPr id="11283" name="Oval Callout 27">
            <a:extLst>
              <a:ext uri="{FF2B5EF4-FFF2-40B4-BE49-F238E27FC236}">
                <a16:creationId xmlns:a16="http://schemas.microsoft.com/office/drawing/2014/main" id="{F176B759-A0BF-42F2-A604-F362FD022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760913"/>
            <a:ext cx="1676400" cy="646112"/>
          </a:xfrm>
          <a:prstGeom prst="wedgeEllipseCallout">
            <a:avLst>
              <a:gd name="adj1" fmla="val 96088"/>
              <a:gd name="adj2" fmla="val -67481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Splitpane</a:t>
            </a:r>
          </a:p>
        </p:txBody>
      </p:sp>
    </p:spTree>
  </p:cSld>
  <p:clrMapOvr>
    <a:masterClrMapping/>
  </p:clrMapOvr>
  <p:transition spd="med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Date Placeholder 3">
            <a:extLst>
              <a:ext uri="{FF2B5EF4-FFF2-40B4-BE49-F238E27FC236}">
                <a16:creationId xmlns:a16="http://schemas.microsoft.com/office/drawing/2014/main" id="{D365F524-866E-41C1-BD99-28643F048F5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1D817C80-2DE0-46D2-9949-29ACE4F3F75B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12292" name="Slide Number Placeholder 5">
            <a:extLst>
              <a:ext uri="{FF2B5EF4-FFF2-40B4-BE49-F238E27FC236}">
                <a16:creationId xmlns:a16="http://schemas.microsoft.com/office/drawing/2014/main" id="{A1156458-6020-4E12-AB58-7FF6E438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E332F5F1-A929-4C96-88DC-F69552B65644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12293" name="Rectangle 2">
            <a:extLst>
              <a:ext uri="{FF2B5EF4-FFF2-40B4-BE49-F238E27FC236}">
                <a16:creationId xmlns:a16="http://schemas.microsoft.com/office/drawing/2014/main" id="{8EBF99CC-D7A0-4774-A2AF-C2335C0A79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600" smtClean="0"/>
              <a:t>Introduction </a:t>
            </a:r>
            <a:r>
              <a:rPr lang="en-US" altLang="en-US" sz="3600"/>
              <a:t>to AWT &amp; Swing</a:t>
            </a:r>
            <a:r>
              <a:rPr lang="en-US" altLang="en-US" sz="4000"/>
              <a:t> </a:t>
            </a:r>
          </a:p>
        </p:txBody>
      </p:sp>
      <p:sp>
        <p:nvSpPr>
          <p:cNvPr id="12294" name="Rectangle 3">
            <a:extLst>
              <a:ext uri="{FF2B5EF4-FFF2-40B4-BE49-F238E27FC236}">
                <a16:creationId xmlns:a16="http://schemas.microsoft.com/office/drawing/2014/main" id="{66657B67-0C13-4216-804B-F66B01E00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534400" cy="4608513"/>
          </a:xfrm>
        </p:spPr>
        <p:txBody>
          <a:bodyPr/>
          <a:lstStyle/>
          <a:p>
            <a:pPr algn="l" rtl="0" eaLnBrk="1" hangingPunct="1"/>
            <a:r>
              <a:rPr lang="en-US" altLang="en-US"/>
              <a:t>Swing components inherit from the base class JComponent</a:t>
            </a:r>
          </a:p>
          <a:p>
            <a:pPr algn="l" rtl="0" eaLnBrk="1" hangingPunct="1"/>
            <a:endParaRPr lang="en-US" altLang="en-US"/>
          </a:p>
        </p:txBody>
      </p:sp>
      <p:pic>
        <p:nvPicPr>
          <p:cNvPr id="12295" name="Picture 5">
            <a:extLst>
              <a:ext uri="{FF2B5EF4-FFF2-40B4-BE49-F238E27FC236}">
                <a16:creationId xmlns:a16="http://schemas.microsoft.com/office/drawing/2014/main" id="{19793114-7B48-47AF-850D-9AB94B415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530475"/>
            <a:ext cx="4953000" cy="303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Date Placeholder 3">
            <a:extLst>
              <a:ext uri="{FF2B5EF4-FFF2-40B4-BE49-F238E27FC236}">
                <a16:creationId xmlns:a16="http://schemas.microsoft.com/office/drawing/2014/main" id="{048BFA40-7147-4A1C-AD5F-A2ABA096666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4E7C0BA1-3D84-45A2-A069-6C256669F8D1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13316" name="Slide Number Placeholder 5">
            <a:extLst>
              <a:ext uri="{FF2B5EF4-FFF2-40B4-BE49-F238E27FC236}">
                <a16:creationId xmlns:a16="http://schemas.microsoft.com/office/drawing/2014/main" id="{ABE5C230-2922-45C8-A856-778CC17C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4D2E2025-FC69-4BC2-9EA0-0D2582D67263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13317" name="Rectangle 2">
            <a:extLst>
              <a:ext uri="{FF2B5EF4-FFF2-40B4-BE49-F238E27FC236}">
                <a16:creationId xmlns:a16="http://schemas.microsoft.com/office/drawing/2014/main" id="{D970780D-0AE9-43AD-8CCE-27B923A330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4000" smtClean="0"/>
              <a:t>Container classes</a:t>
            </a:r>
            <a:r>
              <a:rPr lang="en-US" altLang="en-US" smtClean="0"/>
              <a:t> </a:t>
            </a:r>
            <a:endParaRPr lang="en-US" altLang="en-US"/>
          </a:p>
        </p:txBody>
      </p:sp>
      <p:sp>
        <p:nvSpPr>
          <p:cNvPr id="13318" name="Rectangle 3">
            <a:extLst>
              <a:ext uri="{FF2B5EF4-FFF2-40B4-BE49-F238E27FC236}">
                <a16:creationId xmlns:a16="http://schemas.microsoft.com/office/drawing/2014/main" id="{16A1851B-442D-4E4A-8BEE-151F2D7A54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800"/>
              <a:t>The GUI is presented on a hierarchically organized container</a:t>
            </a:r>
          </a:p>
          <a:p>
            <a:pPr lvl="1" algn="l" rtl="0" eaLnBrk="1" hangingPunct="1"/>
            <a:r>
              <a:rPr lang="en-US" altLang="en-US" sz="2400" b="1"/>
              <a:t>Top level containers</a:t>
            </a:r>
            <a:r>
              <a:rPr lang="en-US" altLang="en-US" sz="2400"/>
              <a:t>: JFrame, JDialog, JApplet</a:t>
            </a:r>
          </a:p>
          <a:p>
            <a:pPr lvl="1" algn="l" rtl="0" eaLnBrk="1" hangingPunct="1"/>
            <a:r>
              <a:rPr lang="en-US" altLang="en-US" sz="2400" b="1">
                <a:cs typeface="Arial" panose="020B0604020202020204" pitchFamily="34" charset="0"/>
              </a:rPr>
              <a:t>Intermediate containers</a:t>
            </a:r>
            <a:r>
              <a:rPr lang="en-US" altLang="en-US" sz="2400"/>
              <a:t> :JPanel, </a:t>
            </a:r>
            <a:r>
              <a:rPr lang="en-US" altLang="en-US" sz="2400">
                <a:cs typeface="Arial" panose="020B0604020202020204" pitchFamily="34" charset="0"/>
              </a:rPr>
              <a:t>JScrollPane, JTabbedPane, JSplitPane..</a:t>
            </a:r>
          </a:p>
          <a:p>
            <a:pPr lvl="1" algn="l" rtl="0" eaLnBrk="1" hangingPunct="1"/>
            <a:r>
              <a:rPr lang="en-US" altLang="en-US" sz="2400">
                <a:cs typeface="Arial" panose="020B0604020202020204" pitchFamily="34" charset="0"/>
              </a:rPr>
              <a:t>A GUI application is a JFrame that links multiple views (panels) through user interaction with Menus and GUI controls. </a:t>
            </a:r>
          </a:p>
          <a:p>
            <a:pPr algn="l" rtl="0" eaLnBrk="1" hangingPunct="1"/>
            <a:r>
              <a:rPr lang="en-US" altLang="en-US" sz="2400">
                <a:cs typeface="Arial" panose="020B0604020202020204" pitchFamily="34" charset="0"/>
              </a:rPr>
              <a:t>The top-level container manages intermediate containers, allowing the interface to be organized in a Z-oderring depth</a:t>
            </a:r>
            <a:endParaRPr lang="en-US" altLang="en-US">
              <a:cs typeface="Arial" panose="020B0604020202020204" pitchFamily="34" charset="0"/>
            </a:endParaRPr>
          </a:p>
          <a:p>
            <a:pPr lvl="1" algn="l" rtl="0"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Date Placeholder 3">
            <a:extLst>
              <a:ext uri="{FF2B5EF4-FFF2-40B4-BE49-F238E27FC236}">
                <a16:creationId xmlns:a16="http://schemas.microsoft.com/office/drawing/2014/main" id="{01F28FB6-3B2F-4612-9506-F11E8EB578F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F612A51E-6D0B-469A-825F-DC74081431FC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14340" name="Slide Number Placeholder 5">
            <a:extLst>
              <a:ext uri="{FF2B5EF4-FFF2-40B4-BE49-F238E27FC236}">
                <a16:creationId xmlns:a16="http://schemas.microsoft.com/office/drawing/2014/main" id="{23F5030D-DDE2-41DB-BFD3-AA7CFA27B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2EBF327E-0EC9-47F6-933F-EAB4C83B5D56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14341" name="Rectangle 2">
            <a:extLst>
              <a:ext uri="{FF2B5EF4-FFF2-40B4-BE49-F238E27FC236}">
                <a16:creationId xmlns:a16="http://schemas.microsoft.com/office/drawing/2014/main" id="{84322E5C-B48B-4CCB-AA29-458C96B17F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4000" smtClean="0"/>
              <a:t>Container classes</a:t>
            </a:r>
            <a:endParaRPr lang="en-US" altLang="en-US"/>
          </a:p>
        </p:txBody>
      </p:sp>
      <p:sp>
        <p:nvSpPr>
          <p:cNvPr id="14342" name="Rectangle 3">
            <a:extLst>
              <a:ext uri="{FF2B5EF4-FFF2-40B4-BE49-F238E27FC236}">
                <a16:creationId xmlns:a16="http://schemas.microsoft.com/office/drawing/2014/main" id="{DDD761BD-66EF-4676-B561-106DEC7B73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 smtClean="0">
                <a:cs typeface="Arial" panose="020B0604020202020204" pitchFamily="34" charset="0"/>
              </a:rPr>
              <a:t>JFrame </a:t>
            </a:r>
            <a:r>
              <a:rPr lang="en-US" altLang="en-US">
                <a:cs typeface="Arial" panose="020B0604020202020204" pitchFamily="34" charset="0"/>
              </a:rPr>
              <a:t>is a </a:t>
            </a:r>
            <a:r>
              <a:rPr lang="en-US" altLang="en-US" smtClean="0">
                <a:cs typeface="Arial" panose="020B0604020202020204" pitchFamily="34" charset="0"/>
              </a:rPr>
              <a:t>window </a:t>
            </a:r>
            <a:r>
              <a:rPr lang="en-US" altLang="en-US">
                <a:cs typeface="Arial" panose="020B0604020202020204" pitchFamily="34" charset="0"/>
              </a:rPr>
              <a:t>with a title </a:t>
            </a:r>
            <a:r>
              <a:rPr lang="en-US" altLang="en-US" smtClean="0">
                <a:cs typeface="Arial" panose="020B0604020202020204" pitchFamily="34" charset="0"/>
              </a:rPr>
              <a:t>bar, </a:t>
            </a:r>
            <a:r>
              <a:rPr lang="en-US" altLang="en-US">
                <a:cs typeface="Arial" panose="020B0604020202020204" pitchFamily="34" charset="0"/>
              </a:rPr>
              <a:t>location for </a:t>
            </a:r>
            <a:r>
              <a:rPr lang="en-US" altLang="en-US" smtClean="0">
                <a:cs typeface="Arial" panose="020B0604020202020204" pitchFamily="34" charset="0"/>
              </a:rPr>
              <a:t>menu </a:t>
            </a:r>
            <a:r>
              <a:rPr lang="en-US" altLang="en-US">
                <a:cs typeface="Arial" panose="020B0604020202020204" pitchFamily="34" charset="0"/>
              </a:rPr>
              <a:t>bar and </a:t>
            </a:r>
            <a:r>
              <a:rPr lang="en-US" altLang="en-US" smtClean="0">
                <a:cs typeface="Arial" panose="020B0604020202020204" pitchFamily="34" charset="0"/>
              </a:rPr>
              <a:t>other controls </a:t>
            </a:r>
            <a:r>
              <a:rPr lang="en-US" altLang="en-US">
                <a:cs typeface="Arial" panose="020B0604020202020204" pitchFamily="34" charset="0"/>
              </a:rPr>
              <a:t>for a standalone </a:t>
            </a:r>
            <a:r>
              <a:rPr lang="en-US" altLang="en-US" smtClean="0">
                <a:cs typeface="Arial" panose="020B0604020202020204" pitchFamily="34" charset="0"/>
              </a:rPr>
              <a:t>application</a:t>
            </a:r>
            <a:r>
              <a:rPr lang="en-US" altLang="en-US">
                <a:cs typeface="Arial" panose="020B0604020202020204" pitchFamily="34" charset="0"/>
              </a:rPr>
              <a:t>.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JDialog: 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Dialog box with frame border and title, must have </a:t>
            </a:r>
            <a:r>
              <a:rPr lang="en-US" altLang="en-US" smtClean="0">
                <a:cs typeface="Arial" panose="020B0604020202020204" pitchFamily="34" charset="0"/>
              </a:rPr>
              <a:t>frame </a:t>
            </a:r>
            <a:r>
              <a:rPr lang="en-US" altLang="en-US">
                <a:cs typeface="Arial" panose="020B0604020202020204" pitchFamily="34" charset="0"/>
              </a:rPr>
              <a:t>or dialog as </a:t>
            </a:r>
            <a:r>
              <a:rPr lang="en-US" altLang="en-US" smtClean="0">
                <a:cs typeface="Arial" panose="020B0604020202020204" pitchFamily="34" charset="0"/>
              </a:rPr>
              <a:t>its owner</a:t>
            </a:r>
            <a:r>
              <a:rPr lang="en-US" altLang="en-US">
                <a:cs typeface="Arial" panose="020B0604020202020204" pitchFamily="34" charset="0"/>
              </a:rPr>
              <a:t>, </a:t>
            </a:r>
            <a:r>
              <a:rPr lang="en-US" altLang="en-US" smtClean="0">
                <a:cs typeface="Arial" panose="020B0604020202020204" pitchFamily="34" charset="0"/>
              </a:rPr>
              <a:t>auto display </a:t>
            </a:r>
            <a:r>
              <a:rPr lang="en-US" altLang="en-US">
                <a:cs typeface="Arial" panose="020B0604020202020204" pitchFamily="34" charset="0"/>
              </a:rPr>
              <a:t>by owner 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Modal or modelless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JApplet :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smtClean="0">
                <a:cs typeface="Arial" panose="020B0604020202020204" pitchFamily="34" charset="0"/>
              </a:rPr>
              <a:t>GUI </a:t>
            </a:r>
            <a:r>
              <a:rPr lang="en-US" altLang="en-US" sz="2800">
                <a:cs typeface="Arial" panose="020B0604020202020204" pitchFamily="34" charset="0"/>
              </a:rPr>
              <a:t>interface for embedded web application</a:t>
            </a:r>
          </a:p>
        </p:txBody>
      </p:sp>
    </p:spTree>
  </p:cSld>
  <p:clrMapOvr>
    <a:masterClrMapping/>
  </p:clrMapOvr>
  <p:transition spd="med"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Date Placeholder 3">
            <a:extLst>
              <a:ext uri="{FF2B5EF4-FFF2-40B4-BE49-F238E27FC236}">
                <a16:creationId xmlns:a16="http://schemas.microsoft.com/office/drawing/2014/main" id="{0AF5078C-6F7F-4AF9-9EDD-F9EE2C40539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9D7BA245-5A1B-4E75-95E8-060DE3BCDB2F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15364" name="Slide Number Placeholder 5">
            <a:extLst>
              <a:ext uri="{FF2B5EF4-FFF2-40B4-BE49-F238E27FC236}">
                <a16:creationId xmlns:a16="http://schemas.microsoft.com/office/drawing/2014/main" id="{2E09FDE7-904E-4145-9FD5-8FC8E190F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C0EB2E8B-0EFC-4ED8-813F-BD4B1F894858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15365" name="Rectangle 2">
            <a:extLst>
              <a:ext uri="{FF2B5EF4-FFF2-40B4-BE49-F238E27FC236}">
                <a16:creationId xmlns:a16="http://schemas.microsoft.com/office/drawing/2014/main" id="{E9416101-739A-47BC-8CD9-EBB3E3419C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4000" smtClean="0"/>
              <a:t>Container classes</a:t>
            </a:r>
            <a:endParaRPr lang="en-US" altLang="en-US"/>
          </a:p>
        </p:txBody>
      </p:sp>
      <p:sp>
        <p:nvSpPr>
          <p:cNvPr id="15366" name="Rectangle 3">
            <a:extLst>
              <a:ext uri="{FF2B5EF4-FFF2-40B4-BE49-F238E27FC236}">
                <a16:creationId xmlns:a16="http://schemas.microsoft.com/office/drawing/2014/main" id="{93A975C7-6354-42F4-991A-3AB2F4A2BE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800">
                <a:cs typeface="Arial" panose="020B0604020202020204" pitchFamily="34" charset="0"/>
              </a:rPr>
              <a:t>High-level container classes:</a:t>
            </a:r>
          </a:p>
          <a:p>
            <a:pPr lvl="1" algn="l" rtl="0" eaLnBrk="1" hangingPunct="1"/>
            <a:r>
              <a:rPr lang="en-US" altLang="en-US" sz="2000">
                <a:cs typeface="Arial" panose="020B0604020202020204" pitchFamily="34" charset="0"/>
              </a:rPr>
              <a:t>Managing objects mediated by rootPane and contentPane</a:t>
            </a:r>
          </a:p>
          <a:p>
            <a:pPr lvl="1" algn="l" rtl="0" eaLnBrk="1" hangingPunct="1"/>
            <a:r>
              <a:rPr lang="en-US" altLang="en-US" sz="2000">
                <a:cs typeface="Arial" panose="020B0604020202020204" pitchFamily="34" charset="0"/>
              </a:rPr>
              <a:t>Use the Content Pane as a direct container for other GUI control objects.</a:t>
            </a:r>
          </a:p>
        </p:txBody>
      </p:sp>
      <p:pic>
        <p:nvPicPr>
          <p:cNvPr id="15367" name="Picture 6">
            <a:extLst>
              <a:ext uri="{FF2B5EF4-FFF2-40B4-BE49-F238E27FC236}">
                <a16:creationId xmlns:a16="http://schemas.microsoft.com/office/drawing/2014/main" id="{7E31D56F-2804-4987-905A-440088849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64" t="56326" r="17891" b="21225"/>
          <a:stretch>
            <a:fillRect/>
          </a:stretch>
        </p:blipFill>
        <p:spPr bwMode="auto">
          <a:xfrm>
            <a:off x="685800" y="3200400"/>
            <a:ext cx="79248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sh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Date Placeholder 3">
            <a:extLst>
              <a:ext uri="{FF2B5EF4-FFF2-40B4-BE49-F238E27FC236}">
                <a16:creationId xmlns:a16="http://schemas.microsoft.com/office/drawing/2014/main" id="{5056234F-333E-468A-87E4-9467806FC06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A6A76AA9-4BE4-49F2-8147-718C72F202C4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B3B487A7-7848-4A57-A56C-6ACC3751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9E9F0920-C341-4491-A862-C006FFF23925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16389" name="Rectangle 2">
            <a:extLst>
              <a:ext uri="{FF2B5EF4-FFF2-40B4-BE49-F238E27FC236}">
                <a16:creationId xmlns:a16="http://schemas.microsoft.com/office/drawing/2014/main" id="{6BB0E4C2-64F1-42B6-B0E6-55F9C649E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4000" smtClean="0"/>
              <a:t>Layout </a:t>
            </a:r>
            <a:r>
              <a:rPr lang="en-US" altLang="en-US" sz="4000"/>
              <a:t>Manager</a:t>
            </a:r>
            <a:r>
              <a:rPr lang="en-US" altLang="en-US"/>
              <a:t> </a:t>
            </a:r>
          </a:p>
        </p:txBody>
      </p:sp>
      <p:sp>
        <p:nvSpPr>
          <p:cNvPr id="16390" name="Rectangle 3">
            <a:extLst>
              <a:ext uri="{FF2B5EF4-FFF2-40B4-BE49-F238E27FC236}">
                <a16:creationId xmlns:a16="http://schemas.microsoft.com/office/drawing/2014/main" id="{5B582FEE-5C30-4B5A-86D7-EF348E047D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 sz="2800"/>
              <a:t>Each container uses a layout manager to manage the placement and size of GUI </a:t>
            </a:r>
            <a:r>
              <a:rPr lang="en-US" altLang="en-US" sz="2800" smtClean="0"/>
              <a:t>controls </a:t>
            </a:r>
            <a:r>
              <a:rPr lang="en-US" altLang="en-US" sz="2800"/>
              <a:t>arranged on </a:t>
            </a:r>
            <a:r>
              <a:rPr lang="en-US" altLang="en-US" sz="2800" smtClean="0"/>
              <a:t>it.</a:t>
            </a:r>
            <a:endParaRPr lang="en-US" altLang="en-US" sz="2800"/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800"/>
              <a:t>5 commonly used layout manager classes: </a:t>
            </a:r>
            <a:r>
              <a:rPr lang="en-US" altLang="en-US" sz="2800" b="1"/>
              <a:t>BorderLayout, BoxLayout, FlowLayout, GridBagLayout, and GridLayout</a:t>
            </a:r>
            <a:r>
              <a:rPr lang="en-US" altLang="en-US" sz="2800"/>
              <a:t>.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800"/>
              <a:t>Before arranging the GUI controls on the container, </a:t>
            </a:r>
            <a:r>
              <a:rPr lang="en-US" altLang="en-US" sz="2800" smtClean="0"/>
              <a:t>must </a:t>
            </a:r>
            <a:r>
              <a:rPr lang="en-US" altLang="en-US" sz="2800"/>
              <a:t>pay attention to setting the appropriate layout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800"/>
              <a:t>Each container </a:t>
            </a:r>
            <a:r>
              <a:rPr lang="en-US" altLang="en-US" sz="2800" smtClean="0"/>
              <a:t>has </a:t>
            </a:r>
            <a:r>
              <a:rPr lang="en-US" altLang="en-US" sz="2800"/>
              <a:t>only 1 layout</a:t>
            </a:r>
          </a:p>
        </p:txBody>
      </p:sp>
    </p:spTree>
  </p:cSld>
  <p:clrMapOvr>
    <a:masterClrMapping/>
  </p:clrMapOvr>
  <p:transition spd="med">
    <p:push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Date Placeholder 3">
            <a:extLst>
              <a:ext uri="{FF2B5EF4-FFF2-40B4-BE49-F238E27FC236}">
                <a16:creationId xmlns:a16="http://schemas.microsoft.com/office/drawing/2014/main" id="{628A6438-C959-4759-9B74-E14C8BF7DA4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8D6345AE-B7E3-49D4-9530-3BBD89118187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17412" name="Slide Number Placeholder 5">
            <a:extLst>
              <a:ext uri="{FF2B5EF4-FFF2-40B4-BE49-F238E27FC236}">
                <a16:creationId xmlns:a16="http://schemas.microsoft.com/office/drawing/2014/main" id="{2F7FF231-2B78-45A5-B95C-8835108AC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6D512357-AEFA-4EBA-9E7F-D3DEB8E955E4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17413" name="Rectangle 2">
            <a:extLst>
              <a:ext uri="{FF2B5EF4-FFF2-40B4-BE49-F238E27FC236}">
                <a16:creationId xmlns:a16="http://schemas.microsoft.com/office/drawing/2014/main" id="{75CF7590-CE95-4FBF-B48F-977F0583AD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4000" smtClean="0"/>
              <a:t>Layout </a:t>
            </a:r>
            <a:r>
              <a:rPr lang="en-US" altLang="en-US" sz="4000"/>
              <a:t>Manager</a:t>
            </a:r>
            <a:r>
              <a:rPr lang="en-US" altLang="en-US"/>
              <a:t> </a:t>
            </a:r>
          </a:p>
        </p:txBody>
      </p:sp>
      <p:sp>
        <p:nvSpPr>
          <p:cNvPr id="15366" name="Rectangle 3">
            <a:extLst>
              <a:ext uri="{FF2B5EF4-FFF2-40B4-BE49-F238E27FC236}">
                <a16:creationId xmlns:a16="http://schemas.microsoft.com/office/drawing/2014/main" id="{5520A700-BE78-4021-B3FC-5E86BD5E0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  <a:defRPr/>
            </a:pPr>
            <a:r>
              <a:rPr lang="en-US" altLang="en-US" sz="2800"/>
              <a:t>Default layout </a:t>
            </a:r>
            <a:r>
              <a:rPr lang="en-US" altLang="en-US" sz="2800" smtClean="0"/>
              <a:t>for container</a:t>
            </a:r>
            <a:endParaRPr lang="en-US" altLang="en-US" sz="2800"/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400"/>
              <a:t>JFrame, JDialog, JApplet: BorderLayout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400"/>
              <a:t>JPanel: FlowLayout</a:t>
            </a:r>
          </a:p>
          <a:p>
            <a:pPr algn="l" rtl="0" eaLnBrk="1" hangingPunct="1">
              <a:lnSpc>
                <a:spcPct val="90000"/>
              </a:lnSpc>
              <a:defRPr/>
            </a:pPr>
            <a:r>
              <a:rPr lang="en-US" altLang="en-US" sz="2800"/>
              <a:t>Set up layout on </a:t>
            </a:r>
            <a:r>
              <a:rPr lang="en-US" altLang="en-US" sz="2800" smtClean="0"/>
              <a:t>container</a:t>
            </a:r>
            <a:endParaRPr lang="en-US" altLang="en-US" sz="2800"/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400"/>
              <a:t>setLayout(LayoutManager l)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400"/>
              <a:t>setLayout(null): self-manage layout: absolute positioning</a:t>
            </a:r>
          </a:p>
          <a:p>
            <a:pPr lvl="1" algn="l" rtl="0" eaLnBrk="1" hangingPunct="1">
              <a:lnSpc>
                <a:spcPct val="90000"/>
              </a:lnSpc>
              <a:defRPr/>
            </a:pPr>
            <a:r>
              <a:rPr lang="en-US" altLang="en-US" sz="2400"/>
              <a:t>Implements LayoutManager to manage layouts for custom GUI interfaces.</a:t>
            </a: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i="1"/>
              <a:t> </a:t>
            </a:r>
            <a:r>
              <a:rPr lang="en-US" altLang="en-US" sz="2000" i="1"/>
              <a:t>Container contentPane = getContentPane();</a:t>
            </a: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i="1"/>
              <a:t> contentPane.setLayout(new FlowLayout());</a:t>
            </a:r>
            <a:endParaRPr lang="en-US" altLang="en-US" sz="2000"/>
          </a:p>
          <a:p>
            <a:pPr marL="342900" lvl="1" indent="-342900" algn="l" rtl="0" eaLnBrk="1" hangingPunct="1">
              <a:lnSpc>
                <a:spcPct val="90000"/>
              </a:lnSpc>
              <a:buClr>
                <a:schemeClr val="folHlink"/>
              </a:buClr>
              <a:buSzPct val="60000"/>
              <a:defRPr/>
            </a:pPr>
            <a:r>
              <a:rPr lang="en-US" altLang="en-US" sz="2400"/>
              <a:t>On Netbean, Free style is </a:t>
            </a:r>
            <a:r>
              <a:rPr lang="en-US" altLang="en-US" sz="2400" smtClean="0"/>
              <a:t>default layout for containers</a:t>
            </a:r>
            <a:endParaRPr lang="en-US" altLang="en-US" sz="2400"/>
          </a:p>
          <a:p>
            <a:pPr marL="0" indent="0" algn="l" rtl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en-US" sz="2200"/>
          </a:p>
        </p:txBody>
      </p:sp>
    </p:spTree>
  </p:cSld>
  <p:clrMapOvr>
    <a:masterClrMapping/>
  </p:clrMapOvr>
  <p:transition spd="med">
    <p:push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Date Placeholder 3">
            <a:extLst>
              <a:ext uri="{FF2B5EF4-FFF2-40B4-BE49-F238E27FC236}">
                <a16:creationId xmlns:a16="http://schemas.microsoft.com/office/drawing/2014/main" id="{7E3C7EF8-A78F-4E9F-B6D1-3F4332AEECD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8EB956B7-AA8F-4BAB-9CF6-D68835869EC5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18436" name="Slide Number Placeholder 5">
            <a:extLst>
              <a:ext uri="{FF2B5EF4-FFF2-40B4-BE49-F238E27FC236}">
                <a16:creationId xmlns:a16="http://schemas.microsoft.com/office/drawing/2014/main" id="{B12D3034-7A68-4DCF-9BE1-7CC023E88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350FE3A8-041A-4734-BE45-88DAFDCB0624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B3FEFA44-E067-426B-8726-779E29380C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4000" b="1"/>
              <a:t>BorderLayout</a:t>
            </a:r>
          </a:p>
        </p:txBody>
      </p:sp>
      <p:sp>
        <p:nvSpPr>
          <p:cNvPr id="18438" name="Rectangle 3">
            <a:extLst>
              <a:ext uri="{FF2B5EF4-FFF2-40B4-BE49-F238E27FC236}">
                <a16:creationId xmlns:a16="http://schemas.microsoft.com/office/drawing/2014/main" id="{49C6A593-40D0-4379-BF4A-3553672248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915400" cy="5334000"/>
          </a:xfrm>
        </p:spPr>
        <p:txBody>
          <a:bodyPr/>
          <a:lstStyle/>
          <a:p>
            <a:pPr algn="l" rtl="0" eaLnBrk="1" hangingPunct="1"/>
            <a:r>
              <a:rPr lang="en-US" altLang="en-US" sz="2000"/>
              <a:t>Divide the container into 5 zones: BorderLayout.NORTH, BorderLayout.SOUTH, BorderLayout.EAST, BorderLayout.WEST and BorderLayout.CENTER </a:t>
            </a:r>
          </a:p>
          <a:p>
            <a:pPr algn="l" rtl="0" eaLnBrk="1" hangingPunct="1"/>
            <a:r>
              <a:rPr lang="en-US" altLang="en-US" sz="2000"/>
              <a:t>By default, CENTER occupies the entire area if the other 4 areas </a:t>
            </a:r>
            <a:r>
              <a:rPr lang="en-US" altLang="en-US" sz="2000" smtClean="0"/>
              <a:t>empty</a:t>
            </a:r>
            <a:endParaRPr lang="en-US" altLang="en-US" sz="2000"/>
          </a:p>
          <a:p>
            <a:pPr algn="l" rtl="0" eaLnBrk="1" hangingPunct="1"/>
            <a:r>
              <a:rPr lang="en-US" altLang="en-US" sz="2000"/>
              <a:t>When the position of </a:t>
            </a:r>
            <a:r>
              <a:rPr lang="en-US" altLang="en-US" sz="2000" smtClean="0"/>
              <a:t>control </a:t>
            </a:r>
            <a:r>
              <a:rPr lang="en-US" altLang="en-US" sz="2000"/>
              <a:t>is not specified, it is entered into the CENTER </a:t>
            </a:r>
            <a:r>
              <a:rPr lang="en-US" altLang="en-US" sz="2000" smtClean="0"/>
              <a:t> </a:t>
            </a:r>
            <a:endParaRPr lang="en-US" altLang="en-US" sz="2000"/>
          </a:p>
          <a:p>
            <a:pPr algn="l" rtl="0" eaLnBrk="1" hangingPunct="1"/>
            <a:r>
              <a:rPr lang="en-US" altLang="en-US" sz="2000"/>
              <a:t>container.add(new JButton(“2 (CENTER)”)), BorderLayout.CENTER);</a:t>
            </a:r>
          </a:p>
        </p:txBody>
      </p:sp>
      <p:pic>
        <p:nvPicPr>
          <p:cNvPr id="18439" name="Picture 4">
            <a:extLst>
              <a:ext uri="{FF2B5EF4-FFF2-40B4-BE49-F238E27FC236}">
                <a16:creationId xmlns:a16="http://schemas.microsoft.com/office/drawing/2014/main" id="{2E73D71F-4CBE-45A3-B14E-592633673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824287"/>
            <a:ext cx="6248400" cy="234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Date Placeholder 4">
            <a:extLst>
              <a:ext uri="{FF2B5EF4-FFF2-40B4-BE49-F238E27FC236}">
                <a16:creationId xmlns:a16="http://schemas.microsoft.com/office/drawing/2014/main" id="{789EFCF6-AF56-47FB-930F-B99FB7F9F08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CC9E3DD2-FE80-4EA7-B708-3B5607597A4F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19460" name="Slide Number Placeholder 6">
            <a:extLst>
              <a:ext uri="{FF2B5EF4-FFF2-40B4-BE49-F238E27FC236}">
                <a16:creationId xmlns:a16="http://schemas.microsoft.com/office/drawing/2014/main" id="{75684B2B-F096-4E6C-9952-50EEA5C3A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F239D568-B6B6-4CE7-A17A-42A4035F69E2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9C3196AD-576D-4F6B-BB58-9DEFE5D136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BoxLayout</a:t>
            </a:r>
          </a:p>
        </p:txBody>
      </p:sp>
      <p:sp>
        <p:nvSpPr>
          <p:cNvPr id="19462" name="Rectangle 3">
            <a:extLst>
              <a:ext uri="{FF2B5EF4-FFF2-40B4-BE49-F238E27FC236}">
                <a16:creationId xmlns:a16="http://schemas.microsoft.com/office/drawing/2014/main" id="{3D6FD34A-3139-4D17-81A9-E446831D571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524000"/>
            <a:ext cx="5029200" cy="4800600"/>
          </a:xfrm>
        </p:spPr>
        <p:txBody>
          <a:bodyPr/>
          <a:lstStyle/>
          <a:p>
            <a:pPr algn="l" rtl="0" eaLnBrk="1" hangingPunct="1"/>
            <a:r>
              <a:rPr lang="en-US" altLang="en-US" sz="2400"/>
              <a:t>Layout top to bottom|left to right</a:t>
            </a:r>
          </a:p>
          <a:p>
            <a:pPr algn="l" rtl="0" eaLnBrk="1" hangingPunct="1"/>
            <a:r>
              <a:rPr lang="en-US" altLang="en-US" sz="2400"/>
              <a:t>Respect the maximum size and X/Y alignment.</a:t>
            </a:r>
          </a:p>
          <a:p>
            <a:pPr algn="l" rtl="0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JPanel buttonPane = new JPanel();</a:t>
            </a:r>
          </a:p>
          <a:p>
            <a:pPr algn="l" rtl="0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buttonPane.setLayout(new BoxLayout(buttonPane, BoxLayout.X_AXIS));</a:t>
            </a:r>
          </a:p>
          <a:p>
            <a:pPr algn="l" rtl="0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buttonPane.setBorder(BorderFactory.createEmptyBorder(0, 10, 10, 10));</a:t>
            </a:r>
          </a:p>
          <a:p>
            <a:pPr algn="l" rtl="0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buttonPane.add(Box.createHorizontalGlue());</a:t>
            </a:r>
          </a:p>
          <a:p>
            <a:pPr algn="l" rtl="0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buttonPane.add(cancelButton);</a:t>
            </a:r>
          </a:p>
          <a:p>
            <a:pPr algn="l" rtl="0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buttonPane.add(Box.createRigidArea(new Dimension(10, 0)));</a:t>
            </a:r>
          </a:p>
          <a:p>
            <a:pPr algn="l" rtl="0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buttonPane.add(setButton);</a:t>
            </a:r>
          </a:p>
        </p:txBody>
      </p:sp>
      <p:sp>
        <p:nvSpPr>
          <p:cNvPr id="19463" name="Rectangle 4">
            <a:extLst>
              <a:ext uri="{FF2B5EF4-FFF2-40B4-BE49-F238E27FC236}">
                <a16:creationId xmlns:a16="http://schemas.microsoft.com/office/drawing/2014/main" id="{6FE7593F-D142-47DF-8357-7CDE6B6E732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334000" y="1524000"/>
            <a:ext cx="3621088" cy="4608513"/>
          </a:xfrm>
        </p:spPr>
        <p:txBody>
          <a:bodyPr/>
          <a:lstStyle/>
          <a:p>
            <a:pPr algn="l" rtl="0" eaLnBrk="1" hangingPunct="1">
              <a:buFont typeface="Wingdings" panose="05000000000000000000" pitchFamily="2" charset="2"/>
              <a:buNone/>
            </a:pPr>
            <a:r>
              <a:rPr lang="en-US" altLang="en-US"/>
              <a:t>Use </a:t>
            </a:r>
            <a:r>
              <a:rPr lang="en-US" altLang="en-US" sz="2400"/>
              <a:t>Box.Filler(minSize, prefSize, maxSize)); to fill the space between objects</a:t>
            </a:r>
          </a:p>
        </p:txBody>
      </p:sp>
      <p:pic>
        <p:nvPicPr>
          <p:cNvPr id="19464" name="Picture 5">
            <a:extLst>
              <a:ext uri="{FF2B5EF4-FFF2-40B4-BE49-F238E27FC236}">
                <a16:creationId xmlns:a16="http://schemas.microsoft.com/office/drawing/2014/main" id="{DFE620A7-52E2-4B60-A884-FD89FE178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810000"/>
            <a:ext cx="3810000" cy="226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Date Placeholder 3">
            <a:extLst>
              <a:ext uri="{FF2B5EF4-FFF2-40B4-BE49-F238E27FC236}">
                <a16:creationId xmlns:a16="http://schemas.microsoft.com/office/drawing/2014/main" id="{DF2FFB92-F07C-41E5-BBF1-2D8B668F8D5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682922C6-76A6-4ECA-A9E4-954A9CC10BEB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20484" name="Slide Number Placeholder 5">
            <a:extLst>
              <a:ext uri="{FF2B5EF4-FFF2-40B4-BE49-F238E27FC236}">
                <a16:creationId xmlns:a16="http://schemas.microsoft.com/office/drawing/2014/main" id="{2BF3F68E-1E55-45B6-BB15-724BF1ABC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187AE772-7A50-4F51-B531-78B2AB8CEE12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874D8256-3B4D-4F1B-823C-19D271457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Boxlayout</a:t>
            </a:r>
          </a:p>
        </p:txBody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D7C778FF-8B14-47B0-941A-CC01A646B7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8116888" cy="4608513"/>
          </a:xfrm>
        </p:spPr>
        <p:txBody>
          <a:bodyPr/>
          <a:lstStyle/>
          <a:p>
            <a:pPr algn="l" rtl="0" eaLnBrk="1" hangingPunct="1"/>
            <a:r>
              <a:rPr lang="en-US" altLang="en-US" sz="2400"/>
              <a:t>BoxLayout takes care of the minimum, preferred, and maximum size requirements of components</a:t>
            </a:r>
          </a:p>
          <a:p>
            <a:pPr algn="l" rtl="0" eaLnBrk="1" hangingPunct="1">
              <a:buFont typeface="Wingdings" panose="05000000000000000000" pitchFamily="2" charset="2"/>
              <a:buNone/>
            </a:pPr>
            <a:r>
              <a:rPr lang="en-US" altLang="en-US" sz="2400" i="1"/>
              <a:t> </a:t>
            </a:r>
            <a:r>
              <a:rPr lang="en-US" altLang="en-US" sz="2000" i="1"/>
              <a:t>comp.setMinimumSize(new Dimension(50, 25)); </a:t>
            </a:r>
          </a:p>
          <a:p>
            <a:pPr algn="l" rtl="0" eaLnBrk="1" hangingPunct="1">
              <a:buFont typeface="Wingdings" panose="05000000000000000000" pitchFamily="2" charset="2"/>
              <a:buNone/>
            </a:pPr>
            <a:r>
              <a:rPr lang="en-US" altLang="en-US" sz="2000" i="1"/>
              <a:t> comp.setPreferredSize(new Dimension(50, 25)); </a:t>
            </a:r>
          </a:p>
          <a:p>
            <a:pPr algn="l" rtl="0" eaLnBrk="1" hangingPunct="1">
              <a:buFont typeface="Wingdings" panose="05000000000000000000" pitchFamily="2" charset="2"/>
              <a:buNone/>
            </a:pPr>
            <a:r>
              <a:rPr lang="en-US" altLang="en-US" sz="2000" i="1"/>
              <a:t> comp.setMaximumSize(new Dimension(200,200));</a:t>
            </a:r>
            <a:endParaRPr lang="en-US" altLang="en-US"/>
          </a:p>
        </p:txBody>
      </p:sp>
      <p:pic>
        <p:nvPicPr>
          <p:cNvPr id="20487" name="Picture 4">
            <a:extLst>
              <a:ext uri="{FF2B5EF4-FFF2-40B4-BE49-F238E27FC236}">
                <a16:creationId xmlns:a16="http://schemas.microsoft.com/office/drawing/2014/main" id="{60E3180E-A4D7-42A2-916C-91BB876D3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4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6" t="32220" r="4637" b="28004"/>
          <a:stretch>
            <a:fillRect/>
          </a:stretch>
        </p:blipFill>
        <p:spPr bwMode="auto">
          <a:xfrm>
            <a:off x="762000" y="3429000"/>
            <a:ext cx="81534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Date Placeholder 3">
            <a:extLst>
              <a:ext uri="{FF2B5EF4-FFF2-40B4-BE49-F238E27FC236}">
                <a16:creationId xmlns:a16="http://schemas.microsoft.com/office/drawing/2014/main" id="{19ABC46F-9AFF-4303-82BB-43D1E477F29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12D727F3-6425-4F28-A55C-B6C80D29ED51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21508" name="Slide Number Placeholder 5">
            <a:extLst>
              <a:ext uri="{FF2B5EF4-FFF2-40B4-BE49-F238E27FC236}">
                <a16:creationId xmlns:a16="http://schemas.microsoft.com/office/drawing/2014/main" id="{1A6E78E3-CD9D-422B-8155-D1F072D5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9E643084-472E-47FC-A1CC-8E7EDCF829BA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811B438C-DC67-460A-8279-2F29BA0382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FlowLayout</a:t>
            </a:r>
          </a:p>
        </p:txBody>
      </p:sp>
      <p:sp>
        <p:nvSpPr>
          <p:cNvPr id="19462" name="Rectangle 3">
            <a:extLst>
              <a:ext uri="{FF2B5EF4-FFF2-40B4-BE49-F238E27FC236}">
                <a16:creationId xmlns:a16="http://schemas.microsoft.com/office/drawing/2014/main" id="{1A6C0CAF-DDC7-4DBB-A4E7-A479F1C3B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  <a:buClrTx/>
              <a:buSzTx/>
              <a:defRPr/>
            </a:pPr>
            <a:r>
              <a:rPr lang="en-US" altLang="en-US" sz="2000"/>
              <a:t>Arrange the controls in rows, from left to right, from top to </a:t>
            </a:r>
            <a:r>
              <a:rPr lang="en-US" altLang="en-US" sz="2000" smtClean="0"/>
              <a:t>bottom</a:t>
            </a:r>
          </a:p>
          <a:p>
            <a:pPr lvl="1" eaLnBrk="1" hangingPunct="1">
              <a:spcBef>
                <a:spcPct val="50000"/>
              </a:spcBef>
              <a:buClrTx/>
              <a:buSzTx/>
              <a:defRPr/>
            </a:pPr>
            <a:r>
              <a:rPr lang="en-US" altLang="en-US" sz="2000"/>
              <a:t>FlowLayout()</a:t>
            </a:r>
          </a:p>
          <a:p>
            <a:pPr lvl="1" eaLnBrk="1" hangingPunct="1">
              <a:spcBef>
                <a:spcPct val="50000"/>
              </a:spcBef>
              <a:buClrTx/>
              <a:buSzTx/>
              <a:defRPr/>
            </a:pPr>
            <a:r>
              <a:rPr lang="en-US" altLang="en-US" sz="2000" smtClean="0"/>
              <a:t>FlowLayout(int alignment)</a:t>
            </a:r>
          </a:p>
          <a:p>
            <a:pPr lvl="1" eaLnBrk="1" hangingPunct="1">
              <a:spcBef>
                <a:spcPct val="50000"/>
              </a:spcBef>
              <a:buClrTx/>
              <a:buSzTx/>
              <a:defRPr/>
            </a:pPr>
            <a:r>
              <a:rPr lang="en-US" altLang="en-US" sz="2000" smtClean="0"/>
              <a:t>FlowLayout(int </a:t>
            </a:r>
            <a:r>
              <a:rPr lang="en-US" altLang="en-US" sz="2000"/>
              <a:t>alignment,int horizontalGap, int verticalGap)</a:t>
            </a:r>
          </a:p>
          <a:p>
            <a:pPr algn="l" rtl="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en-US" sz="1800"/>
              <a:t>+ </a:t>
            </a:r>
            <a:r>
              <a:rPr lang="en-US" altLang="en-US" sz="2000"/>
              <a:t>The alignment argument takes the value FlowLayout.LEFT, FlowLayout.CENTER, or FlowLayout.RIGHT. </a:t>
            </a:r>
          </a:p>
          <a:p>
            <a:pPr algn="l" rtl="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en-US" sz="2000" smtClean="0"/>
              <a:t>+ horizontalGap </a:t>
            </a:r>
            <a:r>
              <a:rPr lang="en-US" altLang="en-US" sz="2000"/>
              <a:t>and verticalGap indicate the pixel spacing between components. </a:t>
            </a:r>
          </a:p>
        </p:txBody>
      </p:sp>
      <p:pic>
        <p:nvPicPr>
          <p:cNvPr id="21511" name="Picture 4">
            <a:extLst>
              <a:ext uri="{FF2B5EF4-FFF2-40B4-BE49-F238E27FC236}">
                <a16:creationId xmlns:a16="http://schemas.microsoft.com/office/drawing/2014/main" id="{E2AE2CD4-8B70-4272-BAA6-984F78848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419600"/>
            <a:ext cx="4267200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Date Placeholder 3">
            <a:extLst>
              <a:ext uri="{FF2B5EF4-FFF2-40B4-BE49-F238E27FC236}">
                <a16:creationId xmlns:a16="http://schemas.microsoft.com/office/drawing/2014/main" id="{A29BDC91-42A3-4A99-A89A-DB26C527AC2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2242F37A-73D5-43BD-81CF-55A3497FBA3C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22532" name="Slide Number Placeholder 5">
            <a:extLst>
              <a:ext uri="{FF2B5EF4-FFF2-40B4-BE49-F238E27FC236}">
                <a16:creationId xmlns:a16="http://schemas.microsoft.com/office/drawing/2014/main" id="{C2ABA7E4-97AF-4F09-ACDC-FEA41FBF5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8ECEE39A-C5CF-4B60-855F-78251B459356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22533" name="Rectangle 2">
            <a:extLst>
              <a:ext uri="{FF2B5EF4-FFF2-40B4-BE49-F238E27FC236}">
                <a16:creationId xmlns:a16="http://schemas.microsoft.com/office/drawing/2014/main" id="{F5F9CC98-B265-4DBE-A9A0-9AD47A59D3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GridLayout</a:t>
            </a:r>
          </a:p>
        </p:txBody>
      </p:sp>
      <p:sp>
        <p:nvSpPr>
          <p:cNvPr id="22534" name="Rectangle 3">
            <a:extLst>
              <a:ext uri="{FF2B5EF4-FFF2-40B4-BE49-F238E27FC236}">
                <a16:creationId xmlns:a16="http://schemas.microsoft.com/office/drawing/2014/main" id="{93657D2B-2231-4C7A-A50D-1B51C0D821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574088" cy="4608513"/>
          </a:xfrm>
        </p:spPr>
        <p:txBody>
          <a:bodyPr/>
          <a:lstStyle/>
          <a:p>
            <a:pPr algn="l" rtl="0" eaLnBrk="1" hangingPunct="1">
              <a:spcBef>
                <a:spcPct val="50000"/>
              </a:spcBef>
              <a:buClrTx/>
              <a:buSzTx/>
            </a:pPr>
            <a:r>
              <a:rPr lang="en-US" altLang="en-US" sz="2400" i="1"/>
              <a:t>Organize in rows and columns evenly</a:t>
            </a:r>
          </a:p>
          <a:p>
            <a:pPr algn="l" rtl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i="1"/>
              <a:t>public GridLayout(int rows, int columns, int horizGap, int vertGap) – must have at least columns or rows other than 0</a:t>
            </a:r>
            <a:endParaRPr lang="en-US" altLang="en-US" sz="2000" i="1">
              <a:solidFill>
                <a:srgbClr val="010100"/>
              </a:solidFill>
              <a:latin typeface="CourierNew" charset="0"/>
            </a:endParaRPr>
          </a:p>
        </p:txBody>
      </p:sp>
      <p:pic>
        <p:nvPicPr>
          <p:cNvPr id="22535" name="Picture 4">
            <a:extLst>
              <a:ext uri="{FF2B5EF4-FFF2-40B4-BE49-F238E27FC236}">
                <a16:creationId xmlns:a16="http://schemas.microsoft.com/office/drawing/2014/main" id="{9214016C-BA2C-4BDE-9E34-C24D85569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895600"/>
            <a:ext cx="6172200" cy="345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Date Placeholder 3">
            <a:extLst>
              <a:ext uri="{FF2B5EF4-FFF2-40B4-BE49-F238E27FC236}">
                <a16:creationId xmlns:a16="http://schemas.microsoft.com/office/drawing/2014/main" id="{B406AA08-11C9-470F-9A1E-5304B353BEA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950BC198-75EB-499D-BC18-A554B4E0C035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23556" name="Slide Number Placeholder 5">
            <a:extLst>
              <a:ext uri="{FF2B5EF4-FFF2-40B4-BE49-F238E27FC236}">
                <a16:creationId xmlns:a16="http://schemas.microsoft.com/office/drawing/2014/main" id="{DAB1A8FA-5359-4F6A-B9C3-42F941D55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AADB5C8F-1CCA-4ED1-89CF-3B7ADD3F27E0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23557" name="Rectangle 2">
            <a:extLst>
              <a:ext uri="{FF2B5EF4-FFF2-40B4-BE49-F238E27FC236}">
                <a16:creationId xmlns:a16="http://schemas.microsoft.com/office/drawing/2014/main" id="{0385DF55-6C02-4DE4-9ABA-7B22477191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GridBagLayout</a:t>
            </a:r>
          </a:p>
        </p:txBody>
      </p:sp>
      <p:sp>
        <p:nvSpPr>
          <p:cNvPr id="23558" name="Rectangle 3">
            <a:extLst>
              <a:ext uri="{FF2B5EF4-FFF2-40B4-BE49-F238E27FC236}">
                <a16:creationId xmlns:a16="http://schemas.microsoft.com/office/drawing/2014/main" id="{DF8BB209-D265-4DBE-A007-9767ABF87B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>
              <a:spcBef>
                <a:spcPct val="50000"/>
              </a:spcBef>
              <a:buClrTx/>
              <a:buSzTx/>
            </a:pPr>
            <a:r>
              <a:rPr lang="en-US" altLang="en-US" sz="2800">
                <a:solidFill>
                  <a:srgbClr val="010100"/>
                </a:solidFill>
              </a:rPr>
              <a:t>Component layout spans multiple rows and columns with different sizes</a:t>
            </a:r>
          </a:p>
          <a:p>
            <a:pPr algn="l" rtl="0" eaLnBrk="1" hangingPunct="1">
              <a:spcBef>
                <a:spcPct val="50000"/>
              </a:spcBef>
              <a:buClrTx/>
              <a:buSzTx/>
            </a:pPr>
            <a:r>
              <a:rPr lang="en-US" altLang="en-US" sz="2800">
                <a:solidFill>
                  <a:srgbClr val="010100"/>
                </a:solidFill>
              </a:rPr>
              <a:t>Set up a grid of cells </a:t>
            </a:r>
            <a:br>
              <a:rPr lang="en-US" altLang="en-US" sz="2800">
                <a:solidFill>
                  <a:srgbClr val="010100"/>
                </a:solidFill>
              </a:rPr>
            </a:br>
            <a:r>
              <a:rPr lang="en-US" altLang="en-US" sz="2800">
                <a:solidFill>
                  <a:srgbClr val="010100"/>
                </a:solidFill>
              </a:rPr>
              <a:t>bind to container and layout </a:t>
            </a:r>
            <a:br>
              <a:rPr lang="en-US" altLang="en-US" sz="2800">
                <a:solidFill>
                  <a:srgbClr val="010100"/>
                </a:solidFill>
              </a:rPr>
            </a:br>
            <a:r>
              <a:rPr lang="en-US" altLang="en-US" sz="2800">
                <a:solidFill>
                  <a:srgbClr val="010100"/>
                </a:solidFill>
              </a:rPr>
              <a:t>components above 1 or </a:t>
            </a:r>
            <a:br>
              <a:rPr lang="en-US" altLang="en-US" sz="2800">
                <a:solidFill>
                  <a:srgbClr val="010100"/>
                </a:solidFill>
              </a:rPr>
            </a:br>
            <a:r>
              <a:rPr lang="en-US" altLang="en-US" sz="2800">
                <a:solidFill>
                  <a:srgbClr val="010100"/>
                </a:solidFill>
              </a:rPr>
              <a:t>many cells</a:t>
            </a:r>
          </a:p>
        </p:txBody>
      </p:sp>
      <p:pic>
        <p:nvPicPr>
          <p:cNvPr id="23559" name="Picture 4">
            <a:extLst>
              <a:ext uri="{FF2B5EF4-FFF2-40B4-BE49-F238E27FC236}">
                <a16:creationId xmlns:a16="http://schemas.microsoft.com/office/drawing/2014/main" id="{BFBD00FF-CFC1-4F51-994F-201978E57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209800"/>
            <a:ext cx="3078163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ate Placeholder 3">
            <a:extLst>
              <a:ext uri="{FF2B5EF4-FFF2-40B4-BE49-F238E27FC236}">
                <a16:creationId xmlns:a16="http://schemas.microsoft.com/office/drawing/2014/main" id="{055DBB27-1D7F-46C6-8196-F974318976E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6C92AB47-504C-4CA5-B840-9EC355DE72D2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24580" name="Slide Number Placeholder 5">
            <a:extLst>
              <a:ext uri="{FF2B5EF4-FFF2-40B4-BE49-F238E27FC236}">
                <a16:creationId xmlns:a16="http://schemas.microsoft.com/office/drawing/2014/main" id="{2057EE28-E3BD-4A9A-9547-2571CF8E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74A2F8D8-5FEB-4829-9B6B-548B3C8D8DB7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24581" name="Rectangle 2">
            <a:extLst>
              <a:ext uri="{FF2B5EF4-FFF2-40B4-BE49-F238E27FC236}">
                <a16:creationId xmlns:a16="http://schemas.microsoft.com/office/drawing/2014/main" id="{88AABCE5-E176-4A3E-97AC-E16E9986D6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LayoutManager interface</a:t>
            </a:r>
          </a:p>
        </p:txBody>
      </p:sp>
      <p:sp>
        <p:nvSpPr>
          <p:cNvPr id="24582" name="Rectangle 3">
            <a:extLst>
              <a:ext uri="{FF2B5EF4-FFF2-40B4-BE49-F238E27FC236}">
                <a16:creationId xmlns:a16="http://schemas.microsoft.com/office/drawing/2014/main" id="{D385348E-A56E-4F5F-A118-FA549FCA91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l" rtl="0" eaLnBrk="1" hangingPunct="1"/>
            <a:r>
              <a:rPr lang="en-US" altLang="en-US"/>
              <a:t>public void layoutContainer(Container parent)</a:t>
            </a:r>
          </a:p>
          <a:p>
            <a:pPr lvl="2" algn="l" rtl="0" eaLnBrk="1" hangingPunct="1"/>
            <a:r>
              <a:rPr lang="en-US" altLang="en-US"/>
              <a:t>parent is the container to be managed</a:t>
            </a:r>
          </a:p>
          <a:p>
            <a:pPr lvl="2" algn="l" rtl="0" eaLnBrk="1" hangingPunct="1"/>
            <a:r>
              <a:rPr lang="en-US" altLang="en-US"/>
              <a:t>The setBounds() function is called for each component put into the parent, the position of each component should be determined by a formula relative to the size of the parent.</a:t>
            </a:r>
          </a:p>
          <a:p>
            <a:pPr lvl="1" algn="l" rtl="0" eaLnBrk="1" hangingPunct="1"/>
            <a:r>
              <a:rPr lang="en-US" altLang="en-US"/>
              <a:t>Is a good layout management option with containers containing few components</a:t>
            </a:r>
          </a:p>
        </p:txBody>
      </p: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Date Placeholder 3">
            <a:extLst>
              <a:ext uri="{FF2B5EF4-FFF2-40B4-BE49-F238E27FC236}">
                <a16:creationId xmlns:a16="http://schemas.microsoft.com/office/drawing/2014/main" id="{552F4C3C-5437-4431-AD79-663EB49F354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EEC25032-2C4B-4388-A42B-6AA53183DD15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25604" name="Slide Number Placeholder 5">
            <a:extLst>
              <a:ext uri="{FF2B5EF4-FFF2-40B4-BE49-F238E27FC236}">
                <a16:creationId xmlns:a16="http://schemas.microsoft.com/office/drawing/2014/main" id="{32784E9D-7D9B-4A3B-887F-760E36C3B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BB0AF2BD-03F0-486F-BC28-E5E8D5FB1960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25605" name="Rectangle 2">
            <a:extLst>
              <a:ext uri="{FF2B5EF4-FFF2-40B4-BE49-F238E27FC236}">
                <a16:creationId xmlns:a16="http://schemas.microsoft.com/office/drawing/2014/main" id="{2631E38B-95D1-40A4-A8EB-590B3D4F80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4000" smtClean="0"/>
              <a:t>Common </a:t>
            </a:r>
            <a:r>
              <a:rPr lang="en-US" altLang="en-US" sz="4000"/>
              <a:t>GUI </a:t>
            </a:r>
            <a:r>
              <a:rPr lang="en-US" altLang="en-US" sz="4000" smtClean="0"/>
              <a:t>controls</a:t>
            </a:r>
            <a:r>
              <a:rPr lang="en-US" altLang="en-US" smtClean="0"/>
              <a:t> </a:t>
            </a:r>
            <a:endParaRPr lang="en-US" altLang="en-US"/>
          </a:p>
        </p:txBody>
      </p:sp>
      <p:sp>
        <p:nvSpPr>
          <p:cNvPr id="25606" name="Rectangle 3">
            <a:extLst>
              <a:ext uri="{FF2B5EF4-FFF2-40B4-BE49-F238E27FC236}">
                <a16:creationId xmlns:a16="http://schemas.microsoft.com/office/drawing/2014/main" id="{0616885F-349D-4B3D-9774-9E3CF5593F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800"/>
              <a:t>JComponent</a:t>
            </a:r>
          </a:p>
          <a:p>
            <a:pPr lvl="1" algn="l" rtl="0" eaLnBrk="1" hangingPunct="1"/>
            <a:r>
              <a:rPr lang="en-US" altLang="en-US" sz="2400">
                <a:solidFill>
                  <a:srgbClr val="010100"/>
                </a:solidFill>
                <a:latin typeface="CourierNew" charset="0"/>
                <a:cs typeface="Arial" panose="020B0604020202020204" pitchFamily="34" charset="0"/>
              </a:rPr>
              <a:t>JComponent </a:t>
            </a:r>
            <a:r>
              <a:rPr lang="en-US" altLang="en-US" sz="2400">
                <a:solidFill>
                  <a:srgbClr val="010100"/>
                </a:solidFill>
                <a:cs typeface="Arial" panose="020B0604020202020204" pitchFamily="34" charset="0"/>
              </a:rPr>
              <a:t>is the abstract base class of all Swing components (with names starting with J – except top-container)</a:t>
            </a:r>
            <a:endParaRPr lang="en-US" altLang="en-US" sz="2400">
              <a:solidFill>
                <a:srgbClr val="000000"/>
              </a:solidFill>
              <a:latin typeface="CourierNew" charset="0"/>
              <a:cs typeface="Arial" panose="020B0604020202020204" pitchFamily="34" charset="0"/>
            </a:endParaRPr>
          </a:p>
          <a:p>
            <a:pPr lvl="1" algn="l" rtl="0" eaLnBrk="1" hangingPunct="1"/>
            <a:r>
              <a:rPr lang="en-US" altLang="en-US" sz="2400">
                <a:cs typeface="Arial" panose="020B0604020202020204" pitchFamily="34" charset="0"/>
              </a:rPr>
              <a:t>Inherit from Component and Container</a:t>
            </a:r>
          </a:p>
          <a:p>
            <a:pPr lvl="1" algn="l" rtl="0" eaLnBrk="1" hangingPunct="1"/>
            <a:r>
              <a:rPr lang="en-US" altLang="en-US" sz="2400"/>
              <a:t>Encapsulate most of the basic features and operations of a GUI component</a:t>
            </a:r>
          </a:p>
          <a:p>
            <a:pPr lvl="2" algn="l" rtl="0" eaLnBrk="1" hangingPunct="1"/>
            <a:r>
              <a:rPr lang="en-US" altLang="en-US" sz="2000">
                <a:solidFill>
                  <a:srgbClr val="010100"/>
                </a:solidFill>
              </a:rPr>
              <a:t>Setting borders and bounding</a:t>
            </a:r>
          </a:p>
          <a:p>
            <a:pPr lvl="2" algn="l" rtl="0" eaLnBrk="1" hangingPunct="1"/>
            <a:r>
              <a:rPr lang="en-US" altLang="en-US" sz="2000">
                <a:solidFill>
                  <a:srgbClr val="010100"/>
                </a:solidFill>
              </a:rPr>
              <a:t>Request focus and keystroke handling</a:t>
            </a:r>
          </a:p>
          <a:p>
            <a:pPr lvl="2" algn="l" rtl="0" eaLnBrk="1" hangingPunct="1"/>
            <a:r>
              <a:rPr lang="en-US" altLang="en-US" sz="2000">
                <a:solidFill>
                  <a:srgbClr val="010100"/>
                </a:solidFill>
              </a:rPr>
              <a:t>Aligning, scrolling, resizing behavior</a:t>
            </a:r>
          </a:p>
          <a:p>
            <a:pPr lvl="2" algn="l" rtl="0" eaLnBrk="1" hangingPunct="1"/>
            <a:r>
              <a:rPr lang="en-US" altLang="en-US" sz="2000">
                <a:solidFill>
                  <a:srgbClr val="010100"/>
                </a:solidFill>
              </a:rPr>
              <a:t>Tooltip, listener, double buffering</a:t>
            </a:r>
          </a:p>
        </p:txBody>
      </p:sp>
    </p:spTree>
  </p:cSld>
  <p:clrMapOvr>
    <a:masterClrMapping/>
  </p:clrMapOvr>
  <p:transition spd="med">
    <p:push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ate Placeholder 2">
            <a:extLst>
              <a:ext uri="{FF2B5EF4-FFF2-40B4-BE49-F238E27FC236}">
                <a16:creationId xmlns:a16="http://schemas.microsoft.com/office/drawing/2014/main" id="{74C5B409-23CA-4600-8464-83CB257D80B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D2AB79B1-2A18-46EC-80E1-FB23B4C9D70A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26628" name="Slide Number Placeholder 4">
            <a:extLst>
              <a:ext uri="{FF2B5EF4-FFF2-40B4-BE49-F238E27FC236}">
                <a16:creationId xmlns:a16="http://schemas.microsoft.com/office/drawing/2014/main" id="{F8017484-B868-4067-93A2-EA204EF1F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A3DBBC7C-8FBD-4EB9-8BF0-BCC893EA3564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26629" name="Rectangle 2">
            <a:extLst>
              <a:ext uri="{FF2B5EF4-FFF2-40B4-BE49-F238E27FC236}">
                <a16:creationId xmlns:a16="http://schemas.microsoft.com/office/drawing/2014/main" id="{E19AE7C9-F73A-489D-8BFC-1E322C8CF1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600"/>
              <a:t>JComponent methods</a:t>
            </a:r>
          </a:p>
        </p:txBody>
      </p:sp>
      <p:pic>
        <p:nvPicPr>
          <p:cNvPr id="40963" name="Picture 3">
            <a:extLst>
              <a:ext uri="{FF2B5EF4-FFF2-40B4-BE49-F238E27FC236}">
                <a16:creationId xmlns:a16="http://schemas.microsoft.com/office/drawing/2014/main" id="{6277CD4B-FC8C-4876-96D4-B919DD25F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6" t="24597" r="21080" b="6577"/>
          <a:stretch>
            <a:fillRect/>
          </a:stretch>
        </p:blipFill>
        <p:spPr bwMode="auto">
          <a:xfrm>
            <a:off x="762000" y="1371600"/>
            <a:ext cx="41148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4">
            <a:extLst>
              <a:ext uri="{FF2B5EF4-FFF2-40B4-BE49-F238E27FC236}">
                <a16:creationId xmlns:a16="http://schemas.microsoft.com/office/drawing/2014/main" id="{97A1BA98-A2E2-45A8-B2CE-0C0AE6159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4" t="30211" r="30995" b="15204"/>
          <a:stretch>
            <a:fillRect/>
          </a:stretch>
        </p:blipFill>
        <p:spPr bwMode="auto">
          <a:xfrm>
            <a:off x="4953000" y="1371600"/>
            <a:ext cx="3886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Date Placeholder 2">
            <a:extLst>
              <a:ext uri="{FF2B5EF4-FFF2-40B4-BE49-F238E27FC236}">
                <a16:creationId xmlns:a16="http://schemas.microsoft.com/office/drawing/2014/main" id="{523B5686-105A-4791-A41B-10947F25526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41186624-6E08-4D8E-9A37-A17F1B895B23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38C41F72-68FE-4FDB-9BE8-E7242DB7B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F4E195A3-6180-4B67-BF20-5EA54597F254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27653" name="Rectangle 2">
            <a:extLst>
              <a:ext uri="{FF2B5EF4-FFF2-40B4-BE49-F238E27FC236}">
                <a16:creationId xmlns:a16="http://schemas.microsoft.com/office/drawing/2014/main" id="{4600FD0B-6133-4885-B10E-B981A71D51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200"/>
              <a:t>JComponent methods </a:t>
            </a:r>
            <a:r>
              <a:rPr lang="en-US" altLang="en-US" sz="3600"/>
              <a:t>– </a:t>
            </a:r>
            <a:r>
              <a:rPr lang="en-US" altLang="en-US" sz="3200"/>
              <a:t>event handling</a:t>
            </a:r>
          </a:p>
        </p:txBody>
      </p:sp>
      <p:pic>
        <p:nvPicPr>
          <p:cNvPr id="41987" name="Picture 3">
            <a:extLst>
              <a:ext uri="{FF2B5EF4-FFF2-40B4-BE49-F238E27FC236}">
                <a16:creationId xmlns:a16="http://schemas.microsoft.com/office/drawing/2014/main" id="{3316C780-C0F8-4DAF-A0EC-D5CED9039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5" t="19101" r="2397"/>
          <a:stretch>
            <a:fillRect/>
          </a:stretch>
        </p:blipFill>
        <p:spPr bwMode="auto">
          <a:xfrm>
            <a:off x="685800" y="1143000"/>
            <a:ext cx="83820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Date Placeholder 2">
            <a:extLst>
              <a:ext uri="{FF2B5EF4-FFF2-40B4-BE49-F238E27FC236}">
                <a16:creationId xmlns:a16="http://schemas.microsoft.com/office/drawing/2014/main" id="{9CCF2E04-EA6B-4429-8160-A6EF1BBA248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81C5753C-0197-4C50-BAFF-E02C1F1B242F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28676" name="Slide Number Placeholder 4">
            <a:extLst>
              <a:ext uri="{FF2B5EF4-FFF2-40B4-BE49-F238E27FC236}">
                <a16:creationId xmlns:a16="http://schemas.microsoft.com/office/drawing/2014/main" id="{91556B7C-047D-46F1-94C9-85581126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CF8F883B-CB04-45EB-8DCD-EA58B1219C46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28677" name="Rectangle 2">
            <a:extLst>
              <a:ext uri="{FF2B5EF4-FFF2-40B4-BE49-F238E27FC236}">
                <a16:creationId xmlns:a16="http://schemas.microsoft.com/office/drawing/2014/main" id="{19B3B0BA-E368-4372-B053-19221C9BC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200"/>
              <a:t>JComponent methods</a:t>
            </a:r>
            <a:r>
              <a:rPr lang="en-US" altLang="en-US" sz="3600"/>
              <a:t> – </a:t>
            </a:r>
            <a:r>
              <a:rPr lang="en-US" altLang="en-US" sz="3200"/>
              <a:t>event handling</a:t>
            </a:r>
          </a:p>
        </p:txBody>
      </p:sp>
      <p:pic>
        <p:nvPicPr>
          <p:cNvPr id="43011" name="Picture 3">
            <a:extLst>
              <a:ext uri="{FF2B5EF4-FFF2-40B4-BE49-F238E27FC236}">
                <a16:creationId xmlns:a16="http://schemas.microsoft.com/office/drawing/2014/main" id="{3EE7B6A7-F052-431F-8901-2B239EC7C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5" t="23338" r="3300" b="6645"/>
          <a:stretch>
            <a:fillRect/>
          </a:stretch>
        </p:blipFill>
        <p:spPr bwMode="auto">
          <a:xfrm>
            <a:off x="762000" y="1447800"/>
            <a:ext cx="8305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ate Placeholder 2">
            <a:extLst>
              <a:ext uri="{FF2B5EF4-FFF2-40B4-BE49-F238E27FC236}">
                <a16:creationId xmlns:a16="http://schemas.microsoft.com/office/drawing/2014/main" id="{57C2E184-2805-42F6-897F-817345CBD0C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F55BF019-63AA-4B44-B5D4-C39080DB0D5F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29700" name="Slide Number Placeholder 4">
            <a:extLst>
              <a:ext uri="{FF2B5EF4-FFF2-40B4-BE49-F238E27FC236}">
                <a16:creationId xmlns:a16="http://schemas.microsoft.com/office/drawing/2014/main" id="{37467C6B-2CB5-4E27-A498-5058BCBA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9C86AE98-9440-4EF3-95AE-31BCAD5F98CA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29701" name="Rectangle 2">
            <a:extLst>
              <a:ext uri="{FF2B5EF4-FFF2-40B4-BE49-F238E27FC236}">
                <a16:creationId xmlns:a16="http://schemas.microsoft.com/office/drawing/2014/main" id="{CBE6F088-54A9-4F87-A4DF-26160B48C0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600"/>
              <a:t>JComponent methods - painting</a:t>
            </a:r>
          </a:p>
        </p:txBody>
      </p:sp>
      <p:pic>
        <p:nvPicPr>
          <p:cNvPr id="44035" name="Picture 3">
            <a:extLst>
              <a:ext uri="{FF2B5EF4-FFF2-40B4-BE49-F238E27FC236}">
                <a16:creationId xmlns:a16="http://schemas.microsoft.com/office/drawing/2014/main" id="{E26C550D-AA11-4EF8-AAE1-88DB0FDCA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3" t="13359" r="3040" b="28850"/>
          <a:stretch>
            <a:fillRect/>
          </a:stretch>
        </p:blipFill>
        <p:spPr bwMode="auto">
          <a:xfrm>
            <a:off x="762000" y="1219200"/>
            <a:ext cx="8382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Date Placeholder 2">
            <a:extLst>
              <a:ext uri="{FF2B5EF4-FFF2-40B4-BE49-F238E27FC236}">
                <a16:creationId xmlns:a16="http://schemas.microsoft.com/office/drawing/2014/main" id="{75FA29A6-230B-4713-86CD-D521209F91A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7654399F-39DC-4150-93A7-1342048D4E00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30724" name="Slide Number Placeholder 4">
            <a:extLst>
              <a:ext uri="{FF2B5EF4-FFF2-40B4-BE49-F238E27FC236}">
                <a16:creationId xmlns:a16="http://schemas.microsoft.com/office/drawing/2014/main" id="{857F0D2C-CBD3-425B-ACBA-7615BCE7C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70E2F0E4-4D63-4B47-A8A3-857E7CE1239D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30725" name="Rectangle 2">
            <a:extLst>
              <a:ext uri="{FF2B5EF4-FFF2-40B4-BE49-F238E27FC236}">
                <a16:creationId xmlns:a16="http://schemas.microsoft.com/office/drawing/2014/main" id="{ED5EDA2C-DD37-4014-B011-D8BA5BE8DF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600"/>
              <a:t>JComponent methods - Container</a:t>
            </a:r>
          </a:p>
        </p:txBody>
      </p:sp>
      <p:pic>
        <p:nvPicPr>
          <p:cNvPr id="45059" name="Picture 3">
            <a:extLst>
              <a:ext uri="{FF2B5EF4-FFF2-40B4-BE49-F238E27FC236}">
                <a16:creationId xmlns:a16="http://schemas.microsoft.com/office/drawing/2014/main" id="{0C9BD175-EDEC-4D4A-810A-C9CBA49A1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4" t="27159" r="3160" b="8382"/>
          <a:stretch>
            <a:fillRect/>
          </a:stretch>
        </p:blipFill>
        <p:spPr bwMode="auto">
          <a:xfrm>
            <a:off x="838200" y="1447800"/>
            <a:ext cx="8305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Date Placeholder 2">
            <a:extLst>
              <a:ext uri="{FF2B5EF4-FFF2-40B4-BE49-F238E27FC236}">
                <a16:creationId xmlns:a16="http://schemas.microsoft.com/office/drawing/2014/main" id="{4740D944-6D97-4146-BC24-3FE774AEEA3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F6E006FA-F047-4655-957B-DFC4057069DB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31748" name="Slide Number Placeholder 4">
            <a:extLst>
              <a:ext uri="{FF2B5EF4-FFF2-40B4-BE49-F238E27FC236}">
                <a16:creationId xmlns:a16="http://schemas.microsoft.com/office/drawing/2014/main" id="{0385E257-72C9-4FFF-B001-9A247A5B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CE5D8730-813C-40B7-8370-5350B3160DB9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31749" name="Rectangle 2">
            <a:extLst>
              <a:ext uri="{FF2B5EF4-FFF2-40B4-BE49-F238E27FC236}">
                <a16:creationId xmlns:a16="http://schemas.microsoft.com/office/drawing/2014/main" id="{974346C4-BA4E-4E83-8DF7-92C53328EC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600"/>
              <a:t>JComponent methods - Layout</a:t>
            </a:r>
          </a:p>
        </p:txBody>
      </p:sp>
      <p:pic>
        <p:nvPicPr>
          <p:cNvPr id="46083" name="Picture 3">
            <a:extLst>
              <a:ext uri="{FF2B5EF4-FFF2-40B4-BE49-F238E27FC236}">
                <a16:creationId xmlns:a16="http://schemas.microsoft.com/office/drawing/2014/main" id="{B7A9A134-245E-4133-A2CE-9234E2F98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8" t="20052" r="4985"/>
          <a:stretch>
            <a:fillRect/>
          </a:stretch>
        </p:blipFill>
        <p:spPr bwMode="auto">
          <a:xfrm>
            <a:off x="762000" y="1143000"/>
            <a:ext cx="81534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ate Placeholder 2">
            <a:extLst>
              <a:ext uri="{FF2B5EF4-FFF2-40B4-BE49-F238E27FC236}">
                <a16:creationId xmlns:a16="http://schemas.microsoft.com/office/drawing/2014/main" id="{B54FAB0B-DD9C-485D-A336-6F0541FB643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A238187E-1C54-4CC8-AC2F-89895A1E9CDC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32772" name="Slide Number Placeholder 4">
            <a:extLst>
              <a:ext uri="{FF2B5EF4-FFF2-40B4-BE49-F238E27FC236}">
                <a16:creationId xmlns:a16="http://schemas.microsoft.com/office/drawing/2014/main" id="{3C3C7E4D-5BAD-4583-BE24-5875C063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B18E2253-D02C-4B02-9F53-AC09250F0607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32773" name="Rectangle 2">
            <a:extLst>
              <a:ext uri="{FF2B5EF4-FFF2-40B4-BE49-F238E27FC236}">
                <a16:creationId xmlns:a16="http://schemas.microsoft.com/office/drawing/2014/main" id="{5835B8E5-E01E-492E-9D88-957CD0D932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600"/>
              <a:t>JComponent methods - Layout</a:t>
            </a:r>
          </a:p>
        </p:txBody>
      </p:sp>
      <p:pic>
        <p:nvPicPr>
          <p:cNvPr id="47107" name="Picture 3">
            <a:extLst>
              <a:ext uri="{FF2B5EF4-FFF2-40B4-BE49-F238E27FC236}">
                <a16:creationId xmlns:a16="http://schemas.microsoft.com/office/drawing/2014/main" id="{AE4F6827-FEEE-450D-8BF3-394E6CA81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9" t="19472" r="4793" b="4955"/>
          <a:stretch>
            <a:fillRect/>
          </a:stretch>
        </p:blipFill>
        <p:spPr bwMode="auto">
          <a:xfrm>
            <a:off x="762000" y="1295400"/>
            <a:ext cx="8153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Date Placeholder 2">
            <a:extLst>
              <a:ext uri="{FF2B5EF4-FFF2-40B4-BE49-F238E27FC236}">
                <a16:creationId xmlns:a16="http://schemas.microsoft.com/office/drawing/2014/main" id="{F3F755EC-039D-4E95-A9B4-5CE1357AC84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905E480D-4E60-4012-8D9F-59B161200A24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33796" name="Slide Number Placeholder 4">
            <a:extLst>
              <a:ext uri="{FF2B5EF4-FFF2-40B4-BE49-F238E27FC236}">
                <a16:creationId xmlns:a16="http://schemas.microsoft.com/office/drawing/2014/main" id="{187BD283-0054-4717-93EC-345C50B98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7FE992AA-160B-4B87-B009-46279C317B08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33797" name="Rectangle 2">
            <a:extLst>
              <a:ext uri="{FF2B5EF4-FFF2-40B4-BE49-F238E27FC236}">
                <a16:creationId xmlns:a16="http://schemas.microsoft.com/office/drawing/2014/main" id="{400EB693-54D0-4B2C-8ECD-A210DC7572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400"/>
              <a:t>JComponent methods</a:t>
            </a:r>
            <a:r>
              <a:rPr lang="en-US" altLang="en-US" sz="3200"/>
              <a:t> - </a:t>
            </a:r>
            <a:r>
              <a:rPr lang="en-US" altLang="en-US" sz="2400" b="1">
                <a:cs typeface="Arial" panose="020B0604020202020204" pitchFamily="34" charset="0"/>
              </a:rPr>
              <a:t>Absolute Size and Position </a:t>
            </a:r>
          </a:p>
        </p:txBody>
      </p:sp>
      <p:pic>
        <p:nvPicPr>
          <p:cNvPr id="48131" name="Picture 3">
            <a:extLst>
              <a:ext uri="{FF2B5EF4-FFF2-40B4-BE49-F238E27FC236}">
                <a16:creationId xmlns:a16="http://schemas.microsoft.com/office/drawing/2014/main" id="{B2F2C7C6-0B5B-4131-9114-57A72966D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9" t="31210" r="4793" b="24335"/>
          <a:stretch>
            <a:fillRect/>
          </a:stretch>
        </p:blipFill>
        <p:spPr bwMode="auto">
          <a:xfrm>
            <a:off x="762000" y="1447800"/>
            <a:ext cx="8153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Date Placeholder 3">
            <a:extLst>
              <a:ext uri="{FF2B5EF4-FFF2-40B4-BE49-F238E27FC236}">
                <a16:creationId xmlns:a16="http://schemas.microsoft.com/office/drawing/2014/main" id="{B36A6269-6FF2-4525-8757-035C6B32BF6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138A0DD1-0F3A-4701-B95B-8A90DF63B8D3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34820" name="Slide Number Placeholder 5">
            <a:extLst>
              <a:ext uri="{FF2B5EF4-FFF2-40B4-BE49-F238E27FC236}">
                <a16:creationId xmlns:a16="http://schemas.microsoft.com/office/drawing/2014/main" id="{7B88614B-2077-4509-A03E-75B207AD9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0D824237-8F0F-40C8-9D2A-C5842F751661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34821" name="Rectangle 2">
            <a:extLst>
              <a:ext uri="{FF2B5EF4-FFF2-40B4-BE49-F238E27FC236}">
                <a16:creationId xmlns:a16="http://schemas.microsoft.com/office/drawing/2014/main" id="{F76AB15D-26CC-439A-B198-056125E91F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4000" smtClean="0"/>
              <a:t>Common </a:t>
            </a:r>
            <a:r>
              <a:rPr lang="en-US" altLang="en-US" sz="4000"/>
              <a:t>GUI </a:t>
            </a:r>
            <a:r>
              <a:rPr lang="en-US" altLang="en-US" sz="4000" smtClean="0"/>
              <a:t>controls</a:t>
            </a:r>
            <a:r>
              <a:rPr lang="en-US" altLang="en-US" smtClean="0"/>
              <a:t> </a:t>
            </a:r>
            <a:endParaRPr lang="en-US" altLang="en-US"/>
          </a:p>
        </p:txBody>
      </p:sp>
      <p:sp>
        <p:nvSpPr>
          <p:cNvPr id="34822" name="Rectangle 3">
            <a:extLst>
              <a:ext uri="{FF2B5EF4-FFF2-40B4-BE49-F238E27FC236}">
                <a16:creationId xmlns:a16="http://schemas.microsoft.com/office/drawing/2014/main" id="{187F3617-C163-465D-A13C-B45939654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800"/>
              <a:t>JTextField: Text </a:t>
            </a:r>
            <a:r>
              <a:rPr lang="en-US" altLang="en-US" sz="2800" smtClean="0"/>
              <a:t>on 1 line </a:t>
            </a:r>
            <a:endParaRPr lang="en-US" altLang="en-US" sz="2800"/>
          </a:p>
          <a:p>
            <a:pPr algn="l" rtl="0" eaLnBrk="1" hangingPunct="1"/>
            <a:r>
              <a:rPr lang="en-US" altLang="en-US" sz="2800"/>
              <a:t>JLabel: display text or image.</a:t>
            </a:r>
          </a:p>
          <a:p>
            <a:pPr algn="l" rtl="0" eaLnBrk="1" hangingPunct="1"/>
            <a:r>
              <a:rPr lang="en-US" altLang="en-US" sz="2800"/>
              <a:t>JPasswordField: mask password</a:t>
            </a:r>
          </a:p>
          <a:p>
            <a:pPr algn="l" rtl="0" eaLnBrk="1" hangingPunct="1"/>
            <a:r>
              <a:rPr lang="en-US" altLang="en-US" sz="2800"/>
              <a:t>JTextArea: Text on multiple lines</a:t>
            </a:r>
          </a:p>
          <a:p>
            <a:pPr algn="l" rtl="0" eaLnBrk="1" hangingPunct="1"/>
            <a:r>
              <a:rPr lang="en-US" altLang="en-US" sz="2800"/>
              <a:t>JComboBox: select from list</a:t>
            </a:r>
          </a:p>
          <a:p>
            <a:pPr algn="l" rtl="0" eaLnBrk="1" hangingPunct="1"/>
            <a:r>
              <a:rPr lang="en-US" altLang="en-US" sz="2800"/>
              <a:t>JButton: command buttons with labels or logos </a:t>
            </a:r>
          </a:p>
          <a:p>
            <a:pPr algn="l" rtl="0" eaLnBrk="1" hangingPunct="1"/>
            <a:r>
              <a:rPr lang="en-US" altLang="en-US" sz="2800"/>
              <a:t>JCheckBox: allows multiple selection</a:t>
            </a:r>
          </a:p>
          <a:p>
            <a:pPr algn="l" rtl="0" eaLnBrk="1" hangingPunct="1"/>
            <a:r>
              <a:rPr lang="en-US" altLang="en-US" sz="2800"/>
              <a:t>JRadioButton: mutually exclusive selection</a:t>
            </a:r>
          </a:p>
          <a:p>
            <a:pPr lvl="1" algn="l" rtl="0" eaLnBrk="1" hangingPunct="1"/>
            <a:r>
              <a:rPr lang="en-US" altLang="en-US" sz="2400"/>
              <a:t>Constructor, getXXX functions, Listener </a:t>
            </a:r>
            <a:r>
              <a:rPr lang="en-US" altLang="en-US" sz="2400" smtClean="0"/>
              <a:t>registration</a:t>
            </a:r>
            <a:endParaRPr lang="en-US" altLang="en-US" sz="2400"/>
          </a:p>
        </p:txBody>
      </p:sp>
    </p:spTree>
  </p:cSld>
  <p:clrMapOvr>
    <a:masterClrMapping/>
  </p:clrMapOvr>
  <p:transition spd="med">
    <p:push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Date Placeholder 3">
            <a:extLst>
              <a:ext uri="{FF2B5EF4-FFF2-40B4-BE49-F238E27FC236}">
                <a16:creationId xmlns:a16="http://schemas.microsoft.com/office/drawing/2014/main" id="{874A0995-267B-462F-A3D4-50436C9EC74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EFB4363D-24D7-4177-9E05-A4BC8C889D62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35844" name="Slide Number Placeholder 5">
            <a:extLst>
              <a:ext uri="{FF2B5EF4-FFF2-40B4-BE49-F238E27FC236}">
                <a16:creationId xmlns:a16="http://schemas.microsoft.com/office/drawing/2014/main" id="{20DD4257-FBF9-4B7E-8C56-F092BF608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54F41F78-CEF8-4C56-9591-DF58F3387926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/>
          </a:p>
        </p:txBody>
      </p:sp>
      <p:sp>
        <p:nvSpPr>
          <p:cNvPr id="35845" name="Rectangle 2">
            <a:extLst>
              <a:ext uri="{FF2B5EF4-FFF2-40B4-BE49-F238E27FC236}">
                <a16:creationId xmlns:a16="http://schemas.microsoft.com/office/drawing/2014/main" id="{AEC5043D-144E-41D9-9D77-6BAB380CC8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4000" smtClean="0"/>
              <a:t>Common GUI </a:t>
            </a:r>
            <a:r>
              <a:rPr lang="en-US" altLang="en-US" sz="4000"/>
              <a:t>components</a:t>
            </a:r>
            <a:r>
              <a:rPr lang="en-US" altLang="en-US"/>
              <a:t> </a:t>
            </a:r>
          </a:p>
        </p:txBody>
      </p:sp>
      <p:sp>
        <p:nvSpPr>
          <p:cNvPr id="35846" name="Rectangle 3">
            <a:extLst>
              <a:ext uri="{FF2B5EF4-FFF2-40B4-BE49-F238E27FC236}">
                <a16:creationId xmlns:a16="http://schemas.microsoft.com/office/drawing/2014/main" id="{F5DB9D22-67A4-40DB-89EB-59AECF6480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800"/>
              <a:t>JTable</a:t>
            </a:r>
          </a:p>
          <a:p>
            <a:pPr lvl="1" algn="l" rtl="0" eaLnBrk="1" hangingPunct="1"/>
            <a:r>
              <a:rPr lang="en-US" altLang="en-US" sz="2400"/>
              <a:t>TableModel is responsible for linking the table with data in rows and columns.</a:t>
            </a:r>
          </a:p>
          <a:p>
            <a:pPr lvl="1" algn="l" rtl="0" eaLnBrk="1" hangingPunct="1"/>
            <a:r>
              <a:rPr lang="en-US" altLang="en-US" sz="2400"/>
              <a:t>DefaultTableModel(Vector&lt;Vector&gt; data, Vector </a:t>
            </a:r>
            <a:r>
              <a:rPr lang="en-US" altLang="en-US" sz="2400" smtClean="0"/>
              <a:t>title)</a:t>
            </a:r>
            <a:endParaRPr lang="en-US" altLang="en-US" sz="2400"/>
          </a:p>
          <a:p>
            <a:pPr lvl="1" algn="l" rtl="0" eaLnBrk="1" hangingPunct="1"/>
            <a:r>
              <a:rPr lang="en-US" altLang="en-US" sz="2400"/>
              <a:t>setModel(tableModel) to set data for table</a:t>
            </a:r>
          </a:p>
          <a:p>
            <a:pPr algn="l" rtl="0" eaLnBrk="1" hangingPunct="1"/>
            <a:r>
              <a:rPr lang="en-US" altLang="en-US" sz="2800"/>
              <a:t>JComboBox</a:t>
            </a:r>
          </a:p>
          <a:p>
            <a:pPr lvl="1" algn="l" rtl="0" eaLnBrk="1" hangingPunct="1"/>
            <a:r>
              <a:rPr lang="en-US" altLang="en-US" sz="2400"/>
              <a:t>The ComboBoxModel is responsible for binding the combo box to the selected data</a:t>
            </a:r>
          </a:p>
          <a:p>
            <a:pPr lvl="1" algn="l" rtl="0" eaLnBrk="1" hangingPunct="1"/>
            <a:r>
              <a:rPr lang="en-US" altLang="en-US" sz="2400"/>
              <a:t>DefaultComboBoxModel receives data as an array or Vector&lt;Ref_Type&gt;, displayed in toString()</a:t>
            </a:r>
          </a:p>
          <a:p>
            <a:pPr lvl="1" eaLnBrk="1" hangingPunct="1"/>
            <a:r>
              <a:rPr lang="en-US" altLang="en-US" sz="2400">
                <a:hlinkClick r:id="rId2"/>
              </a:rPr>
              <a:t>getSelectedItem</a:t>
            </a:r>
            <a:r>
              <a:rPr lang="en-US" altLang="en-US" sz="2400"/>
              <a:t>() returns the selected object </a:t>
            </a:r>
          </a:p>
        </p:txBody>
      </p:sp>
    </p:spTree>
  </p:cSld>
  <p:clrMapOvr>
    <a:masterClrMapping/>
  </p:clrMapOvr>
  <p:transition spd="med">
    <p:push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Date Placeholder 3">
            <a:extLst>
              <a:ext uri="{FF2B5EF4-FFF2-40B4-BE49-F238E27FC236}">
                <a16:creationId xmlns:a16="http://schemas.microsoft.com/office/drawing/2014/main" id="{9E0E4060-02E6-4B73-83F1-3ED845A57DF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D30BDD32-9668-44EB-8662-84D9564040F4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36868" name="Slide Number Placeholder 5">
            <a:extLst>
              <a:ext uri="{FF2B5EF4-FFF2-40B4-BE49-F238E27FC236}">
                <a16:creationId xmlns:a16="http://schemas.microsoft.com/office/drawing/2014/main" id="{5D1A58E3-1EAA-4EBF-A601-2844FCA2A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605AFAC4-AA83-4F94-8C4F-C49466EF12BD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EE27C603-8A96-4C08-9474-9BA4499FB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4000" smtClean="0"/>
              <a:t>Handling </a:t>
            </a:r>
            <a:r>
              <a:rPr lang="en-US" altLang="en-US" sz="4000"/>
              <a:t>interactive events </a:t>
            </a:r>
            <a:r>
              <a:rPr lang="en-US" altLang="en-US"/>
              <a:t> </a:t>
            </a:r>
          </a:p>
        </p:txBody>
      </p:sp>
      <p:sp>
        <p:nvSpPr>
          <p:cNvPr id="36870" name="Rectangle 3">
            <a:extLst>
              <a:ext uri="{FF2B5EF4-FFF2-40B4-BE49-F238E27FC236}">
                <a16:creationId xmlns:a16="http://schemas.microsoft.com/office/drawing/2014/main" id="{A47CB1CC-B3F0-47A9-A64C-C2B796AA92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800"/>
              <a:t>GUI-user interaction is represented and handled on the basis of a delegation model.</a:t>
            </a:r>
          </a:p>
          <a:p>
            <a:pPr lvl="1" algn="l" rtl="0" eaLnBrk="1" hangingPunct="1"/>
            <a:r>
              <a:rPr lang="en-US" altLang="en-US" sz="2400"/>
              <a:t>Event: interactive event (click)</a:t>
            </a:r>
          </a:p>
          <a:p>
            <a:pPr lvl="1" algn="l" rtl="0" eaLnBrk="1" hangingPunct="1"/>
            <a:r>
              <a:rPr lang="en-US" altLang="en-US" sz="2400"/>
              <a:t>Event source: where the event is generated (button)</a:t>
            </a:r>
          </a:p>
          <a:p>
            <a:pPr lvl="1" algn="l" rtl="0" eaLnBrk="1" hangingPunct="1"/>
            <a:r>
              <a:rPr lang="en-US" altLang="en-US" sz="2400"/>
              <a:t>Event Listener: object authorized to handle the event.</a:t>
            </a:r>
          </a:p>
          <a:p>
            <a:pPr algn="l" rtl="0" eaLnBrk="1" hangingPunct="1"/>
            <a:r>
              <a:rPr lang="en-US" altLang="en-US" sz="2800"/>
              <a:t>When an event occurs, the listener - which is the object delegated to handle - will invoke a corresponding event handler </a:t>
            </a:r>
            <a:r>
              <a:rPr lang="en-US" altLang="en-US" sz="2800" smtClean="0"/>
              <a:t>method.</a:t>
            </a:r>
            <a:endParaRPr lang="en-US" altLang="en-US" sz="2800"/>
          </a:p>
          <a:p>
            <a:pPr algn="l" rtl="0" eaLnBrk="1" hangingPunct="1"/>
            <a:r>
              <a:rPr lang="en-US" altLang="en-US" sz="2800"/>
              <a:t>Allow multiple listeners to handle the same event</a:t>
            </a:r>
          </a:p>
          <a:p>
            <a:pPr algn="l" rtl="0" eaLnBrk="1" hangingPunct="1"/>
            <a:endParaRPr lang="en-US" altLang="en-US" sz="2800"/>
          </a:p>
        </p:txBody>
      </p:sp>
    </p:spTree>
  </p:cSld>
  <p:clrMapOvr>
    <a:masterClrMapping/>
  </p:clrMapOvr>
  <p:transition spd="med">
    <p:push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Date Placeholder 3">
            <a:extLst>
              <a:ext uri="{FF2B5EF4-FFF2-40B4-BE49-F238E27FC236}">
                <a16:creationId xmlns:a16="http://schemas.microsoft.com/office/drawing/2014/main" id="{A91312CB-60D6-456F-9E37-0A1E9489727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CFADA589-6F68-48BE-9420-C8C6EF3305B1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37892" name="Slide Number Placeholder 5">
            <a:extLst>
              <a:ext uri="{FF2B5EF4-FFF2-40B4-BE49-F238E27FC236}">
                <a16:creationId xmlns:a16="http://schemas.microsoft.com/office/drawing/2014/main" id="{49AB01DB-D21C-4DB4-B0A6-66B75AFB0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1AB0067E-6881-41C7-A2DF-07380319247F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37893" name="Rectangle 2">
            <a:extLst>
              <a:ext uri="{FF2B5EF4-FFF2-40B4-BE49-F238E27FC236}">
                <a16:creationId xmlns:a16="http://schemas.microsoft.com/office/drawing/2014/main" id="{6E1FE0C6-CE38-4D60-9C8B-A70D9AC946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4000" smtClean="0"/>
              <a:t>Types </a:t>
            </a:r>
            <a:r>
              <a:rPr lang="en-US" altLang="en-US" sz="4000"/>
              <a:t>of events </a:t>
            </a:r>
            <a:r>
              <a:rPr lang="en-US" altLang="en-US"/>
              <a:t> </a:t>
            </a:r>
          </a:p>
        </p:txBody>
      </p:sp>
      <p:sp>
        <p:nvSpPr>
          <p:cNvPr id="37894" name="Rectangle 3">
            <a:extLst>
              <a:ext uri="{FF2B5EF4-FFF2-40B4-BE49-F238E27FC236}">
                <a16:creationId xmlns:a16="http://schemas.microsoft.com/office/drawing/2014/main" id="{224D7165-BBBC-43D4-8542-0A12DDB2E6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>
              <a:lnSpc>
                <a:spcPct val="80000"/>
              </a:lnSpc>
            </a:pPr>
            <a:r>
              <a:rPr lang="en-US" altLang="en-US" sz="2800"/>
              <a:t>Low level event</a:t>
            </a:r>
          </a:p>
          <a:p>
            <a:pPr lvl="1" algn="l" rtl="0" eaLnBrk="1" hangingPunct="1">
              <a:lnSpc>
                <a:spcPct val="80000"/>
              </a:lnSpc>
            </a:pPr>
            <a:r>
              <a:rPr lang="en-US" altLang="en-US" sz="2400"/>
              <a:t>Event</a:t>
            </a:r>
          </a:p>
          <a:p>
            <a:pPr lvl="1" algn="l" rtl="0" eaLnBrk="1" hangingPunct="1">
              <a:lnSpc>
                <a:spcPct val="80000"/>
              </a:lnSpc>
            </a:pPr>
            <a:r>
              <a:rPr lang="en-US" altLang="en-US" sz="2400"/>
              <a:t>AWTEvent</a:t>
            </a:r>
          </a:p>
          <a:p>
            <a:pPr lvl="1" algn="l" rtl="0" eaLnBrk="1" hangingPunct="1">
              <a:lnSpc>
                <a:spcPct val="80000"/>
              </a:lnSpc>
            </a:pPr>
            <a:r>
              <a:rPr lang="en-US" altLang="en-US" sz="2400"/>
              <a:t>KeyEvent</a:t>
            </a:r>
          </a:p>
          <a:p>
            <a:pPr lvl="1" algn="l" rtl="0" eaLnBrk="1" hangingPunct="1">
              <a:lnSpc>
                <a:spcPct val="80000"/>
              </a:lnSpc>
            </a:pPr>
            <a:r>
              <a:rPr lang="en-US" altLang="en-US" sz="2400"/>
              <a:t>MouseEvent</a:t>
            </a:r>
          </a:p>
          <a:p>
            <a:pPr lvl="1" algn="l" rtl="0" eaLnBrk="1" hangingPunct="1">
              <a:lnSpc>
                <a:spcPct val="80000"/>
              </a:lnSpc>
            </a:pPr>
            <a:r>
              <a:rPr lang="en-US" altLang="en-US" sz="2400"/>
              <a:t>WindowEvent</a:t>
            </a:r>
          </a:p>
          <a:p>
            <a:pPr algn="l" rtl="0" eaLnBrk="1" hangingPunct="1">
              <a:lnSpc>
                <a:spcPct val="80000"/>
              </a:lnSpc>
            </a:pPr>
            <a:r>
              <a:rPr lang="en-US" altLang="en-US" sz="2800"/>
              <a:t>High level event: semantic event</a:t>
            </a:r>
          </a:p>
          <a:p>
            <a:pPr lvl="1" algn="l" rtl="0" eaLnBrk="1" hangingPunct="1">
              <a:lnSpc>
                <a:spcPct val="80000"/>
              </a:lnSpc>
            </a:pPr>
            <a:r>
              <a:rPr lang="en-US" altLang="en-US" sz="2400"/>
              <a:t>FocusEvent</a:t>
            </a:r>
          </a:p>
          <a:p>
            <a:pPr lvl="1" algn="l" rtl="0" eaLnBrk="1" hangingPunct="1">
              <a:lnSpc>
                <a:spcPct val="80000"/>
              </a:lnSpc>
            </a:pPr>
            <a:r>
              <a:rPr lang="en-US" altLang="en-US" sz="2400" smtClean="0"/>
              <a:t>ActionEvent..</a:t>
            </a:r>
            <a:endParaRPr lang="en-US" altLang="en-US" sz="2400"/>
          </a:p>
          <a:p>
            <a:pPr algn="l" rtl="0" eaLnBrk="1" hangingPunct="1">
              <a:lnSpc>
                <a:spcPct val="80000"/>
              </a:lnSpc>
            </a:pPr>
            <a:r>
              <a:rPr lang="en-US" altLang="en-US" sz="2800"/>
              <a:t>public Object getSource()</a:t>
            </a:r>
          </a:p>
          <a:p>
            <a:pPr algn="l" rtl="0" eaLnBrk="1" hangingPunct="1">
              <a:lnSpc>
                <a:spcPct val="80000"/>
              </a:lnSpc>
            </a:pPr>
            <a:r>
              <a:rPr lang="en-US" altLang="en-US" sz="2800"/>
              <a:t>public String getActionCommand()</a:t>
            </a:r>
          </a:p>
        </p:txBody>
      </p:sp>
    </p:spTree>
  </p:cSld>
  <p:clrMapOvr>
    <a:masterClrMapping/>
  </p:clrMapOvr>
  <p:transition spd="med">
    <p:push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Date Placeholder 3">
            <a:extLst>
              <a:ext uri="{FF2B5EF4-FFF2-40B4-BE49-F238E27FC236}">
                <a16:creationId xmlns:a16="http://schemas.microsoft.com/office/drawing/2014/main" id="{EEB930BD-C00C-438C-B74E-334E2A7A9FE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45F02650-AE4B-4C89-A246-EE7AA28FA4F3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38916" name="Slide Number Placeholder 5">
            <a:extLst>
              <a:ext uri="{FF2B5EF4-FFF2-40B4-BE49-F238E27FC236}">
                <a16:creationId xmlns:a16="http://schemas.microsoft.com/office/drawing/2014/main" id="{B967EF5D-1C39-4AAB-8CB9-77D2B6DF4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B333BA3E-C4CE-43F1-B0FE-0CFC482F733E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38917" name="Rectangle 2">
            <a:extLst>
              <a:ext uri="{FF2B5EF4-FFF2-40B4-BE49-F238E27FC236}">
                <a16:creationId xmlns:a16="http://schemas.microsoft.com/office/drawing/2014/main" id="{8041E455-7A2D-47C1-8EA0-364190882E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4000" smtClean="0"/>
              <a:t>Listener </a:t>
            </a:r>
            <a:r>
              <a:rPr lang="en-US" altLang="en-US" sz="4000"/>
              <a:t>classes </a:t>
            </a:r>
            <a:r>
              <a:rPr lang="en-US" altLang="en-US"/>
              <a:t> </a:t>
            </a:r>
          </a:p>
        </p:txBody>
      </p:sp>
      <p:sp>
        <p:nvSpPr>
          <p:cNvPr id="38918" name="Rectangle 3">
            <a:extLst>
              <a:ext uri="{FF2B5EF4-FFF2-40B4-BE49-F238E27FC236}">
                <a16:creationId xmlns:a16="http://schemas.microsoft.com/office/drawing/2014/main" id="{0E004EB6-53B4-4BB8-A56C-78F169BE66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 sz="2800" smtClean="0"/>
              <a:t>For </a:t>
            </a:r>
            <a:r>
              <a:rPr lang="en-US" altLang="en-US" sz="2800"/>
              <a:t>each event type, the corresponding listener is registered to handle the event</a:t>
            </a:r>
            <a:br>
              <a:rPr lang="en-US" altLang="en-US" sz="2800"/>
            </a:br>
            <a:r>
              <a:rPr lang="en-US" altLang="en-US" sz="2400" i="1"/>
              <a:t>JButton b= new JButton(“OK”);</a:t>
            </a:r>
            <a:br>
              <a:rPr lang="en-US" altLang="en-US" sz="2400" i="1"/>
            </a:br>
            <a:r>
              <a:rPr lang="en-US" altLang="en-US" sz="2400" i="1"/>
              <a:t>b.addActionListener(new OKListener());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800"/>
              <a:t>Listener classes are developed according to the </a:t>
            </a:r>
            <a:r>
              <a:rPr lang="en-US" altLang="en-US" sz="2800" smtClean="0"/>
              <a:t>definite interface</a:t>
            </a:r>
            <a:endParaRPr lang="en-US" altLang="en-US" sz="2800"/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/>
              <a:t>ActionEvent -&gt; ActionListener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/>
              <a:t>KeyEvent -&gt; KeyListener 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/>
              <a:t>MouseEvent -&gt; MouseListener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/>
              <a:t>FocusEvent -&gt; FocusListener…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800"/>
              <a:t>Programmers write code for handler functions.</a:t>
            </a:r>
          </a:p>
        </p:txBody>
      </p:sp>
    </p:spTree>
  </p:cSld>
  <p:clrMapOvr>
    <a:masterClrMapping/>
  </p:clrMapOvr>
  <p:transition spd="med">
    <p:push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Date Placeholder 3">
            <a:extLst>
              <a:ext uri="{FF2B5EF4-FFF2-40B4-BE49-F238E27FC236}">
                <a16:creationId xmlns:a16="http://schemas.microsoft.com/office/drawing/2014/main" id="{542C2DD2-1CEF-4F31-AAB7-9247004A0BF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072E264D-7108-42B0-A94F-43EB6989108B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39940" name="Slide Number Placeholder 5">
            <a:extLst>
              <a:ext uri="{FF2B5EF4-FFF2-40B4-BE49-F238E27FC236}">
                <a16:creationId xmlns:a16="http://schemas.microsoft.com/office/drawing/2014/main" id="{13AF3DA1-6D69-4D80-9982-2C58AC14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A08EF72B-35B8-48B5-ABD5-CC42DCE8B046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/>
          </a:p>
        </p:txBody>
      </p:sp>
      <p:sp>
        <p:nvSpPr>
          <p:cNvPr id="39941" name="Rectangle 2">
            <a:extLst>
              <a:ext uri="{FF2B5EF4-FFF2-40B4-BE49-F238E27FC236}">
                <a16:creationId xmlns:a16="http://schemas.microsoft.com/office/drawing/2014/main" id="{44B8B073-239E-4B14-BC36-3745E9D551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4000" smtClean="0"/>
              <a:t>Listener </a:t>
            </a:r>
            <a:r>
              <a:rPr lang="en-US" altLang="en-US" sz="4000"/>
              <a:t>classes </a:t>
            </a:r>
            <a:r>
              <a:rPr lang="en-US" altLang="en-US"/>
              <a:t> </a:t>
            </a:r>
          </a:p>
        </p:txBody>
      </p:sp>
      <p:sp>
        <p:nvSpPr>
          <p:cNvPr id="39942" name="Rectangle 3">
            <a:extLst>
              <a:ext uri="{FF2B5EF4-FFF2-40B4-BE49-F238E27FC236}">
                <a16:creationId xmlns:a16="http://schemas.microsoft.com/office/drawing/2014/main" id="{21FCFDA8-C338-4D24-8CF4-CDC6CC1D1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 sz="2400" smtClean="0"/>
              <a:t>Events handle programming:</a:t>
            </a: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Identify </a:t>
            </a:r>
            <a:r>
              <a:rPr lang="en-US" altLang="en-US" sz="2000" smtClean="0"/>
              <a:t>event </a:t>
            </a:r>
            <a:r>
              <a:rPr lang="en-US" altLang="en-US" sz="2000"/>
              <a:t>of interest on event </a:t>
            </a:r>
            <a:r>
              <a:rPr lang="en-US" altLang="en-US" sz="2000" smtClean="0"/>
              <a:t>source</a:t>
            </a:r>
            <a:endParaRPr lang="en-US" altLang="en-US" sz="2000"/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/>
              <a:t>Write the corresponding listener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/>
              <a:t>Bind listener to event source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400"/>
              <a:t>The listener classes follow the interface </a:t>
            </a:r>
            <a:r>
              <a:rPr lang="en-US" altLang="en-US" sz="2400" smtClean="0"/>
              <a:t>defined </a:t>
            </a:r>
            <a:r>
              <a:rPr lang="en-US" altLang="en-US" sz="2400"/>
              <a:t>in </a:t>
            </a:r>
            <a:r>
              <a:rPr lang="en-US" altLang="en-US" sz="2400" smtClean="0"/>
              <a:t>java.awt, should be:</a:t>
            </a:r>
            <a:endParaRPr lang="en-US" altLang="en-US" sz="2400"/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 smtClean="0"/>
              <a:t>class </a:t>
            </a:r>
            <a:r>
              <a:rPr lang="en-US" altLang="en-US" sz="2000"/>
              <a:t>that implements the interface or inherits the Adapter (pre-written class with empty </a:t>
            </a:r>
            <a:r>
              <a:rPr lang="en-US" altLang="en-US" sz="2000" smtClean="0"/>
              <a:t>override method body</a:t>
            </a:r>
            <a:r>
              <a:rPr lang="en-US" altLang="en-US" sz="2000"/>
              <a:t>)</a:t>
            </a:r>
            <a:br>
              <a:rPr lang="en-US" altLang="en-US" sz="2000"/>
            </a:br>
            <a:r>
              <a:rPr lang="en-US" altLang="en-US" sz="2000"/>
              <a:t>class MyListener implements KeyListener {..} or</a:t>
            </a:r>
            <a:br>
              <a:rPr lang="en-US" altLang="en-US" sz="2000"/>
            </a:br>
            <a:r>
              <a:rPr lang="en-US" altLang="en-US" sz="2000"/>
              <a:t>class MyListener extends KeyAdapter {method </a:t>
            </a:r>
            <a:r>
              <a:rPr lang="en-US" altLang="en-US" sz="2000" smtClean="0"/>
              <a:t>override}</a:t>
            </a:r>
            <a:endParaRPr lang="en-US" altLang="en-US" sz="2000"/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/>
              <a:t>Should be inner class or combined with </a:t>
            </a:r>
            <a:r>
              <a:rPr lang="en-US" altLang="en-US" sz="2000" smtClean="0"/>
              <a:t>container</a:t>
            </a:r>
            <a:endParaRPr lang="en-US" altLang="en-US" sz="2000"/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400"/>
              <a:t>Netbean: right click on event source, select event type, then select </a:t>
            </a:r>
            <a:r>
              <a:rPr lang="en-US" altLang="en-US" sz="2400" smtClean="0"/>
              <a:t>override method to </a:t>
            </a:r>
            <a:r>
              <a:rPr lang="en-US" altLang="en-US" sz="2400"/>
              <a:t>write executable code</a:t>
            </a:r>
          </a:p>
          <a:p>
            <a:pPr lvl="1" algn="l" rtl="0" eaLnBrk="1" hangingPunct="1">
              <a:lnSpc>
                <a:spcPct val="90000"/>
              </a:lnSpc>
            </a:pPr>
            <a:endParaRPr lang="en-US" altLang="en-US" sz="2400"/>
          </a:p>
        </p:txBody>
      </p:sp>
    </p:spTree>
  </p:cSld>
  <p:clrMapOvr>
    <a:masterClrMapping/>
  </p:clrMapOvr>
  <p:transition spd="med">
    <p:push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Date Placeholder 3">
            <a:extLst>
              <a:ext uri="{FF2B5EF4-FFF2-40B4-BE49-F238E27FC236}">
                <a16:creationId xmlns:a16="http://schemas.microsoft.com/office/drawing/2014/main" id="{D508EB30-44ED-47D5-AFFF-B5E9AF2D238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F5E22E8F-05A3-400C-B397-BA07883A87CF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40964" name="Slide Number Placeholder 5">
            <a:extLst>
              <a:ext uri="{FF2B5EF4-FFF2-40B4-BE49-F238E27FC236}">
                <a16:creationId xmlns:a16="http://schemas.microsoft.com/office/drawing/2014/main" id="{C166B2EE-40F1-48E8-9D00-1E838EB16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DBF95D3D-534D-49F6-88C1-ACA99408BE51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400"/>
          </a:p>
        </p:txBody>
      </p:sp>
      <p:sp>
        <p:nvSpPr>
          <p:cNvPr id="40965" name="Rectangle 2">
            <a:extLst>
              <a:ext uri="{FF2B5EF4-FFF2-40B4-BE49-F238E27FC236}">
                <a16:creationId xmlns:a16="http://schemas.microsoft.com/office/drawing/2014/main" id="{D6E0B5F8-D7D2-447E-B27D-05DA9FD7B8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Summary</a:t>
            </a:r>
          </a:p>
        </p:txBody>
      </p:sp>
      <p:sp>
        <p:nvSpPr>
          <p:cNvPr id="40966" name="Rectangle 3">
            <a:extLst>
              <a:ext uri="{FF2B5EF4-FFF2-40B4-BE49-F238E27FC236}">
                <a16:creationId xmlns:a16="http://schemas.microsoft.com/office/drawing/2014/main" id="{E28219E1-58D7-40E1-B6FF-37F16DBF75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MVC design pattern </a:t>
            </a:r>
          </a:p>
          <a:p>
            <a:pPr algn="l" rtl="0" eaLnBrk="1" hangingPunct="1"/>
            <a:r>
              <a:rPr lang="en-US" altLang="en-US"/>
              <a:t>Structure and organization of GUI application interface</a:t>
            </a:r>
          </a:p>
          <a:p>
            <a:pPr algn="l" rtl="0" eaLnBrk="1" hangingPunct="1"/>
            <a:r>
              <a:rPr lang="en-US" altLang="en-US"/>
              <a:t>Using layout manager classes</a:t>
            </a:r>
          </a:p>
          <a:p>
            <a:pPr algn="l" rtl="0" eaLnBrk="1" hangingPunct="1"/>
            <a:r>
              <a:rPr lang="en-US" altLang="en-US"/>
              <a:t>Using and customizing GUI components</a:t>
            </a:r>
          </a:p>
          <a:p>
            <a:pPr algn="l" rtl="0" eaLnBrk="1" hangingPunct="1"/>
            <a:r>
              <a:rPr lang="en-US" altLang="en-US"/>
              <a:t>Event handler programming</a:t>
            </a:r>
          </a:p>
        </p:txBody>
      </p:sp>
    </p:spTree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Date Placeholder 3">
            <a:extLst>
              <a:ext uri="{FF2B5EF4-FFF2-40B4-BE49-F238E27FC236}">
                <a16:creationId xmlns:a16="http://schemas.microsoft.com/office/drawing/2014/main" id="{2AA6719F-5790-4077-AB9D-CCD662BF0DE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A38F0713-FDAF-4C3F-8F9E-BFAF5A058371}" type="datetime1">
              <a:rPr lang="en-US" altLang="en-US" sz="1400" smtClean="0"/>
              <a:t>04/08/2021</a:t>
            </a:fld>
            <a:endParaRPr lang="en-US" altLang="en-US" sz="1400"/>
          </a:p>
        </p:txBody>
      </p:sp>
      <p:sp>
        <p:nvSpPr>
          <p:cNvPr id="41988" name="Slide Number Placeholder 5">
            <a:extLst>
              <a:ext uri="{FF2B5EF4-FFF2-40B4-BE49-F238E27FC236}">
                <a16:creationId xmlns:a16="http://schemas.microsoft.com/office/drawing/2014/main" id="{6EC8516D-17E0-4278-978A-9324E0649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F002BEB6-82B4-4336-B7F1-1589B915276C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400"/>
          </a:p>
        </p:txBody>
      </p:sp>
      <p:sp>
        <p:nvSpPr>
          <p:cNvPr id="41989" name="Rectangle 2">
            <a:extLst>
              <a:ext uri="{FF2B5EF4-FFF2-40B4-BE49-F238E27FC236}">
                <a16:creationId xmlns:a16="http://schemas.microsoft.com/office/drawing/2014/main" id="{B1146626-21D0-48F2-92AC-13CC444493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References</a:t>
            </a:r>
          </a:p>
        </p:txBody>
      </p:sp>
      <p:sp>
        <p:nvSpPr>
          <p:cNvPr id="41990" name="Rectangle 3">
            <a:extLst>
              <a:ext uri="{FF2B5EF4-FFF2-40B4-BE49-F238E27FC236}">
                <a16:creationId xmlns:a16="http://schemas.microsoft.com/office/drawing/2014/main" id="{CEE663B9-76E3-4829-9134-CBCA8FF7C9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800"/>
              <a:t>Chapter 7 – Core Java -Vol I</a:t>
            </a:r>
          </a:p>
          <a:p>
            <a:pPr algn="l" rtl="0" eaLnBrk="1" hangingPunct="1"/>
            <a:r>
              <a:rPr lang="en-US" altLang="en-US" sz="2800" smtClean="0"/>
              <a:t>Practical </a:t>
            </a:r>
            <a:r>
              <a:rPr lang="en-US" altLang="en-US" sz="2800"/>
              <a:t>exercise</a:t>
            </a:r>
          </a:p>
          <a:p>
            <a:pPr lvl="1" algn="l" rtl="0" eaLnBrk="1" hangingPunct="1"/>
            <a:r>
              <a:rPr lang="en-US" altLang="en-US" sz="2400"/>
              <a:t>Write an application that displays the text "Welcome to Swing" in the center of the window. Layout 2 buttons at the bottom of the screen, the button Increase and decrease – when the user clicks, the displayed font size increases or decreases respectively</a:t>
            </a:r>
            <a:r>
              <a:rPr lang="en-US" altLang="en-US" sz="2400" smtClean="0"/>
              <a:t>.</a:t>
            </a:r>
          </a:p>
          <a:p>
            <a:pPr lvl="1" algn="l" rtl="0" eaLnBrk="1" hangingPunct="1"/>
            <a:r>
              <a:rPr lang="en-US" altLang="en-US" sz="2400" smtClean="0"/>
              <a:t>Develop GUI interface for your assignment</a:t>
            </a:r>
            <a:endParaRPr lang="en-US" altLang="en-US" sz="2400"/>
          </a:p>
        </p:txBody>
      </p:sp>
    </p:spTree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85AEA346-3CAC-48D9-ACFF-35580525D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en-US"/>
              <a:t>Constructive questions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C6777860-BD6C-4916-B07F-8B06CC7F3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altLang="en-US" sz="2400"/>
              <a:t>Why do Swing library class names start with </a:t>
            </a:r>
            <a:r>
              <a:rPr lang="en-US" altLang="en-US" sz="2400" smtClean="0"/>
              <a:t>letter </a:t>
            </a:r>
            <a:r>
              <a:rPr lang="en-US" altLang="en-US" sz="2400"/>
              <a:t>J?</a:t>
            </a:r>
          </a:p>
          <a:p>
            <a:pPr algn="l" rtl="0"/>
            <a:r>
              <a:rPr lang="en-US" altLang="en-US" sz="2400"/>
              <a:t>When developing applications according to MVC architecture, which part should be written first?</a:t>
            </a:r>
          </a:p>
          <a:p>
            <a:pPr algn="l" rtl="0"/>
            <a:r>
              <a:rPr lang="en-US" altLang="en-US" sz="2400" smtClean="0"/>
              <a:t>Find </a:t>
            </a:r>
            <a:r>
              <a:rPr lang="en-US" altLang="en-US" sz="2400"/>
              <a:t>the solution </a:t>
            </a:r>
            <a:r>
              <a:rPr lang="en-US" altLang="en-US" sz="2400" smtClean="0"/>
              <a:t>for </a:t>
            </a:r>
            <a:r>
              <a:rPr lang="en-US" altLang="en-US" sz="2400"/>
              <a:t>independent interface objects can interact with each other. For example, when clicking the Register button on the Login form, it invokes the registration form for new customers.</a:t>
            </a:r>
          </a:p>
          <a:p>
            <a:pPr algn="l" rtl="0"/>
            <a:r>
              <a:rPr lang="en-US" altLang="en-US" sz="2400"/>
              <a:t>List solutions to assign access rights on the application depending on the user's role after logging in</a:t>
            </a:r>
          </a:p>
          <a:p>
            <a:pPr algn="l" rtl="0"/>
            <a:r>
              <a:rPr lang="en-US" altLang="en-US" sz="2400"/>
              <a:t>Analyze the advantages and disadvantages of GUI desktop applications</a:t>
            </a:r>
          </a:p>
        </p:txBody>
      </p:sp>
      <p:sp>
        <p:nvSpPr>
          <p:cNvPr id="43012" name="Date Placeholder 3">
            <a:extLst>
              <a:ext uri="{FF2B5EF4-FFF2-40B4-BE49-F238E27FC236}">
                <a16:creationId xmlns:a16="http://schemas.microsoft.com/office/drawing/2014/main" id="{BDB9A54B-BA1A-42D9-85C6-56EC6A57A70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/>
            <a:fld id="{CD966697-9124-4988-A165-B8F62BA40D13}" type="datetime1">
              <a:rPr lang="en-US" altLang="en-US" smtClean="0"/>
              <a:t>04/08/2021</a:t>
            </a:fld>
            <a:endParaRPr lang="en-US" altLang="en-US"/>
          </a:p>
        </p:txBody>
      </p:sp>
      <p:sp>
        <p:nvSpPr>
          <p:cNvPr id="43014" name="Slide Number Placeholder 5">
            <a:extLst>
              <a:ext uri="{FF2B5EF4-FFF2-40B4-BE49-F238E27FC236}">
                <a16:creationId xmlns:a16="http://schemas.microsoft.com/office/drawing/2014/main" id="{5E861C3E-5E9F-44CA-91F4-D5F6AA29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/>
            <a:fld id="{30AE41D3-EC66-430D-B40C-CC1F016A546B}" type="slidenum">
              <a:rPr lang="en-US" altLang="en-US"/>
              <a:pPr algn="l" rtl="0"/>
              <a:t>39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1EE2699D-95F8-4892-BF68-789252538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en-US"/>
              <a:t>Constructive questions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D59421DF-77D5-47D0-A03E-379C4F000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altLang="en-US" sz="2400"/>
              <a:t>How to organize listeners for GUI applications, advantages and disadvantages of each way.</a:t>
            </a:r>
          </a:p>
          <a:p>
            <a:pPr algn="l" rtl="0"/>
            <a:r>
              <a:rPr lang="en-US" altLang="en-US" sz="2400"/>
              <a:t>List listeners that can be installed on an application's login form. Assume reasonable constraints for listener design</a:t>
            </a:r>
          </a:p>
          <a:p>
            <a:pPr algn="l" rtl="0"/>
            <a:r>
              <a:rPr lang="en-US" altLang="en-US" sz="2400"/>
              <a:t>Book search results are displayed on JTable. Propose a simple solution </a:t>
            </a:r>
            <a:r>
              <a:rPr lang="en-US" altLang="en-US" sz="2400" smtClean="0"/>
              <a:t>that user can interactive</a:t>
            </a:r>
            <a:r>
              <a:rPr lang="en-US" altLang="en-US" sz="2400"/>
              <a:t>. For example, choose 2 books to borrow.</a:t>
            </a:r>
          </a:p>
          <a:p>
            <a:pPr algn="l" rtl="0"/>
            <a:r>
              <a:rPr lang="en-US" altLang="en-US" sz="2400"/>
              <a:t>How to get data from database table into combobox items?</a:t>
            </a:r>
          </a:p>
          <a:p>
            <a:pPr algn="l" rtl="0"/>
            <a:r>
              <a:rPr lang="en-US" altLang="en-US" sz="2400"/>
              <a:t>How to deploy GUI application to many distributed users, what will arise to handle? </a:t>
            </a:r>
          </a:p>
        </p:txBody>
      </p:sp>
      <p:sp>
        <p:nvSpPr>
          <p:cNvPr id="44036" name="Date Placeholder 3">
            <a:extLst>
              <a:ext uri="{FF2B5EF4-FFF2-40B4-BE49-F238E27FC236}">
                <a16:creationId xmlns:a16="http://schemas.microsoft.com/office/drawing/2014/main" id="{D0BA2DE7-224D-4E47-BEA2-3E51586EDB5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/>
            <a:fld id="{96A08E28-8264-4902-AA6B-A9B0B3F0672C}" type="datetime1">
              <a:rPr lang="en-US" altLang="en-US" smtClean="0"/>
              <a:t>04/08/2021</a:t>
            </a:fld>
            <a:endParaRPr lang="en-US" altLang="en-US"/>
          </a:p>
        </p:txBody>
      </p:sp>
      <p:sp>
        <p:nvSpPr>
          <p:cNvPr id="44038" name="Slide Number Placeholder 5">
            <a:extLst>
              <a:ext uri="{FF2B5EF4-FFF2-40B4-BE49-F238E27FC236}">
                <a16:creationId xmlns:a16="http://schemas.microsoft.com/office/drawing/2014/main" id="{CA944258-259D-4EAD-9AA5-AAE358983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/>
            <a:fld id="{D04D7684-C74C-4921-B641-307E69B77133}" type="slidenum">
              <a:rPr lang="en-US" altLang="en-US"/>
              <a:pPr algn="l" rtl="0"/>
              <a:t>40</a:t>
            </a:fld>
            <a:endParaRPr lang="en-US" altLang="en-US"/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BaiGiangCDCN">
  <a:themeElements>
    <a:clrScheme name="BaiGiangCDCN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aiGiangCDC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aiGiangCDCN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GiangCDCN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GiangCDCN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GiangCDCN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GiangCDCN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GiangCDCN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BaiGiangCDCN</Template>
  <TotalTime>1902</TotalTime>
  <Words>1556</Words>
  <Application>Microsoft Office PowerPoint</Application>
  <PresentationFormat>On-screen Show (4:3)</PresentationFormat>
  <Paragraphs>294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CourierNew</vt:lpstr>
      <vt:lpstr>Wingdings</vt:lpstr>
      <vt:lpstr>BaiGiangCDCN</vt:lpstr>
      <vt:lpstr>GUI programming with Swing</vt:lpstr>
      <vt:lpstr>Objectives</vt:lpstr>
      <vt:lpstr>Content</vt:lpstr>
      <vt:lpstr>MVC (Model-View-Controller) design pattern </vt:lpstr>
      <vt:lpstr>MVC (Model-View-Controller) design pattern </vt:lpstr>
      <vt:lpstr>Introduction to AWT &amp; Swing </vt:lpstr>
      <vt:lpstr>Introduction to AWT &amp; Swing </vt:lpstr>
      <vt:lpstr>Introduction to AWT &amp; Swing </vt:lpstr>
      <vt:lpstr>Introduction to AWT &amp; Swing </vt:lpstr>
      <vt:lpstr>Container classes </vt:lpstr>
      <vt:lpstr>Container classes</vt:lpstr>
      <vt:lpstr>Container classes</vt:lpstr>
      <vt:lpstr>Layout Manager </vt:lpstr>
      <vt:lpstr>Layout Manager </vt:lpstr>
      <vt:lpstr>BorderLayout</vt:lpstr>
      <vt:lpstr>BoxLayout</vt:lpstr>
      <vt:lpstr>Boxlayout</vt:lpstr>
      <vt:lpstr>FlowLayout</vt:lpstr>
      <vt:lpstr>GridLayout</vt:lpstr>
      <vt:lpstr>GridBagLayout</vt:lpstr>
      <vt:lpstr>LayoutManager interface</vt:lpstr>
      <vt:lpstr>Common GUI controls </vt:lpstr>
      <vt:lpstr>JComponent methods</vt:lpstr>
      <vt:lpstr>JComponent methods – event handling</vt:lpstr>
      <vt:lpstr>JComponent methods – event handling</vt:lpstr>
      <vt:lpstr>JComponent methods - painting</vt:lpstr>
      <vt:lpstr>JComponent methods - Container</vt:lpstr>
      <vt:lpstr>JComponent methods - Layout</vt:lpstr>
      <vt:lpstr>JComponent methods - Layout</vt:lpstr>
      <vt:lpstr>JComponent methods - Absolute Size and Position </vt:lpstr>
      <vt:lpstr>Common GUI controls </vt:lpstr>
      <vt:lpstr>Common GUI components </vt:lpstr>
      <vt:lpstr>Handling interactive events  </vt:lpstr>
      <vt:lpstr>Types of events  </vt:lpstr>
      <vt:lpstr>Listener classes  </vt:lpstr>
      <vt:lpstr>Listener classes  </vt:lpstr>
      <vt:lpstr>Summary</vt:lpstr>
      <vt:lpstr>References</vt:lpstr>
      <vt:lpstr>Constructive questions</vt:lpstr>
      <vt:lpstr>Constructive questions</vt:lpstr>
    </vt:vector>
  </TitlesOfParts>
  <Company>Cao dang Cong nghe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Java II</dc:title>
  <dc:creator>Nguyen Van Lanh</dc:creator>
  <cp:lastModifiedBy>Windows User</cp:lastModifiedBy>
  <cp:revision>31</cp:revision>
  <dcterms:created xsi:type="dcterms:W3CDTF">2008-01-29T07:53:53Z</dcterms:created>
  <dcterms:modified xsi:type="dcterms:W3CDTF">2021-08-04T07:14:40Z</dcterms:modified>
</cp:coreProperties>
</file>