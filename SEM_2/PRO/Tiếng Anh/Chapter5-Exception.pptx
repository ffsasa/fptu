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3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73" r:id="rId4"/>
    <p:sldId id="258" r:id="rId5"/>
    <p:sldId id="272" r:id="rId6"/>
    <p:sldId id="264" r:id="rId7"/>
    <p:sldId id="266" r:id="rId8"/>
    <p:sldId id="274" r:id="rId9"/>
    <p:sldId id="265" r:id="rId10"/>
    <p:sldId id="259" r:id="rId11"/>
    <p:sldId id="260" r:id="rId12"/>
    <p:sldId id="261" r:id="rId13"/>
    <p:sldId id="267" r:id="rId14"/>
    <p:sldId id="268" r:id="rId15"/>
    <p:sldId id="269" r:id="rId16"/>
    <p:sldId id="270" r:id="rId17"/>
    <p:sldId id="271" r:id="rId18"/>
    <p:sldId id="275" r:id="rId19"/>
  </p:sldIdLst>
  <p:sldSz cx="9144000" cy="6858000" type="screen4x3"/>
  <p:notesSz cx="9163050" cy="68770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20"/>
    <p:restoredTop sz="94660" autoAdjust="0"/>
  </p:normalViewPr>
  <p:slideViewPr>
    <p:cSldViewPr>
      <p:cViewPr varScale="1">
        <p:scale>
          <a:sx n="80" d="100"/>
          <a:sy n="80" d="100"/>
        </p:scale>
        <p:origin x="156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EBA477DB-CDA1-44EC-A766-FA580805598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0338" cy="38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t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CF17023C-782B-42C6-B505-AD6B4B7203F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92713" y="0"/>
            <a:ext cx="3970337" cy="38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428" name="Rectangle 4">
            <a:extLst>
              <a:ext uri="{FF2B5EF4-FFF2-40B4-BE49-F238E27FC236}">
                <a16:creationId xmlns:a16="http://schemas.microsoft.com/office/drawing/2014/main" id="{FC61881D-47C1-4A30-8A44-463EBB444CE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94463"/>
            <a:ext cx="3970338" cy="382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b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429" name="Rectangle 5">
            <a:extLst>
              <a:ext uri="{FF2B5EF4-FFF2-40B4-BE49-F238E27FC236}">
                <a16:creationId xmlns:a16="http://schemas.microsoft.com/office/drawing/2014/main" id="{9869C4A0-683E-4C85-A2CA-F522053F43C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92713" y="6494463"/>
            <a:ext cx="3970337" cy="382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/>
            </a:lvl1pPr>
          </a:lstStyle>
          <a:p>
            <a:fld id="{F3A6F689-C2E4-48BD-B6FF-BC598F5C17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A3908C91-9908-466B-805E-82150C0CCA7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70338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t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 Unicode MS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158D066E-6C26-4E0C-AB50-41B2F07F13B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92713" y="0"/>
            <a:ext cx="3970337" cy="344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t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 Unicode MS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98DD82B-3832-4DC0-B478-C5A5F33181D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63850" y="515938"/>
            <a:ext cx="3436938" cy="2578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C31CF6DE-B81B-440E-B4CD-98DAD75083D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22375" y="3267075"/>
            <a:ext cx="6718300" cy="309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6C1D8FEB-96CC-486F-BDEF-653AB3DE9E9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32563"/>
            <a:ext cx="3970338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b" anchorCtr="0" compatLnSpc="1">
            <a:prstTxWarp prst="textNoShape">
              <a:avLst/>
            </a:prstTxWarp>
          </a:bodyPr>
          <a:lstStyle>
            <a:lvl1pPr defTabSz="915988">
              <a:defRPr sz="1200">
                <a:latin typeface="Arial Unicode MS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C0C58FAB-CFFA-4679-98D0-E99AF9DD24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92713" y="6532563"/>
            <a:ext cx="3970337" cy="34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50" tIns="45825" rIns="91650" bIns="45825" numCol="1" anchor="b" anchorCtr="0" compatLnSpc="1">
            <a:prstTxWarp prst="textNoShape">
              <a:avLst/>
            </a:prstTxWarp>
          </a:bodyPr>
          <a:lstStyle>
            <a:lvl1pPr algn="r" defTabSz="915988">
              <a:defRPr sz="1200">
                <a:latin typeface="Arial Unicode MS" pitchFamily="34" charset="-128"/>
              </a:defRPr>
            </a:lvl1pPr>
          </a:lstStyle>
          <a:p>
            <a:fld id="{BD4E64E1-5C29-4052-AA43-7495E908F41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itchFamily="34" charset="-128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itchFamily="34" charset="-128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itchFamily="34" charset="-128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itchFamily="34" charset="-128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itchFamily="34" charset="-128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E4DE4B4A-1954-4A95-B425-D06C70270709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A32ECBCB-C459-49BF-A879-51490E1979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6BB24A81-A1DE-4CFD-AB70-5E9339B6C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C6A099AC-1381-4FD5-B8D7-53D0CFC9A4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7C09BC01-046F-4036-BF99-BEAED4AD45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B59E508A-5DE9-4399-A136-00411ED93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4FBC2E06-1773-4DE3-8434-CA4B9AB7A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CD8D9D7D-FD7B-47D1-9BD7-766F3FD5E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6F71A72F-702C-4BC7-AC5E-2B2FCC541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9598EF16-4BD4-4BF4-915F-3F0D9EBCD8D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075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75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A057094B-2211-4A4E-B0AC-C229AE9291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992853E1-32C9-4373-9783-BBE13B52924F}" type="datetime1">
              <a:rPr lang="en-US" smtClean="0"/>
              <a:t>04/08/2021</a:t>
            </a:fld>
            <a:endParaRPr lang="en-US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5E3DF2AF-E71D-42C8-AC83-8E4AEB3FEA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0F7DD4FF-8BCA-4243-A82E-CB20C6B750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44C40B-9E77-4D70-8FDA-1694309114BA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8" name="Picture 17" descr="logo.png">
            <a:extLst>
              <a:ext uri="{FF2B5EF4-FFF2-40B4-BE49-F238E27FC236}">
                <a16:creationId xmlns:a16="http://schemas.microsoft.com/office/drawing/2014/main" id="{96DB7A77-F6F6-43E1-AF5E-6D9EF7D9A7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4950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A17614F5-D9FA-4200-82AB-45A285BE81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B2799-B78D-4E81-9B71-9051C00B7764}" type="datetime1">
              <a:rPr lang="en-US" smtClean="0"/>
              <a:t>04/08/2021</a:t>
            </a:fld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5B50D95-87CD-4F5A-9375-630956E9DE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CF59493-E040-41FA-BA8D-B14C66EB6F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D07580-F447-4450-9365-9202672A1C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500919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0B6D4FDD-CD0C-4F4F-8286-4EC0ED69CD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B21386-6917-4591-BA4C-F4DB167113C6}" type="datetime1">
              <a:rPr lang="en-US" smtClean="0"/>
              <a:t>04/08/2021</a:t>
            </a:fld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7F3E384-1FC0-43E9-BF49-F08CB6776B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D926E4C-71E5-491E-BF22-002D7C07BD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D7CC26-5D4E-4CDF-9AB4-1C34FAC5AD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5666052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24000"/>
            <a:ext cx="3981450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2050" y="1524000"/>
            <a:ext cx="3983038" cy="4608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9F63F16F-AE5D-4F08-9450-E4B6781890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652CF9-FEF3-4FAD-AFB8-FDD0C54AA27D}" type="datetime1">
              <a:rPr lang="en-US" smtClean="0"/>
              <a:t>04/08/2021</a:t>
            </a:fld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79AC621E-3C29-4C27-9643-DBB74022F1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6B7D5F9C-61C4-4A57-87C3-EC9F35B1F3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139990-73FA-4505-BC45-51E70BB735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1888774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62B71408-F651-4249-8F0B-0247A25738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E477E-74D2-4E93-A62A-09E0213AD85F}" type="datetime1">
              <a:rPr lang="en-US" smtClean="0"/>
              <a:t>04/08/2021</a:t>
            </a:fld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57907836-0589-4016-B7A0-A8BEFCCE28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68EC60CB-1F34-4447-AA2E-32CC2427DB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5B11C5-886A-43E9-BE04-32555BD1A7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0957386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04646729-50BD-4049-BC07-6CF29E34BF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8746E9-E269-497F-B383-E97FB6133502}" type="datetime1">
              <a:rPr lang="en-US" smtClean="0"/>
              <a:t>04/08/2021</a:t>
            </a:fld>
            <a:endParaRPr 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AFBA46C-36F6-42F5-9D49-A9AA8EB6C7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FF9F2E4-502B-47CF-A00E-A16DD63D43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F5CF56-83AE-4E98-9941-32BC1831BC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9554206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B2B5D75-9DA2-4BF7-B58A-A1DBA4219B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D1E3B8-282D-48C3-8463-068ED9D66C33}" type="datetime1">
              <a:rPr lang="en-US" smtClean="0"/>
              <a:t>04/08/2021</a:t>
            </a:fld>
            <a:endParaRPr lang="en-US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5E00E2B1-00A4-4B2D-B060-B1DE1FCEFA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17DA54F-D25B-478E-A95E-52B7083BAA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9416C1-076E-4AD4-9419-4FAE033F33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6666548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F6B55986-9BCC-49D4-AC7A-23354A8DAF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50454-4A37-4ADE-9A3E-90CD509940B3}" type="datetime1">
              <a:rPr lang="en-US" smtClean="0"/>
              <a:t>04/08/2021</a:t>
            </a:fld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F533DFCE-BDD1-4A65-A36E-AA86DA30A8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7366046C-9F90-405A-94DA-5568E7246F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D22886-77FE-466B-B96D-A9BA3517DB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1177485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D4956DCC-8976-430C-B49E-6617B7BF02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ABF3B-36C6-430C-9DA0-7F637108166F}" type="datetime1">
              <a:rPr lang="en-US" smtClean="0"/>
              <a:t>04/08/2021</a:t>
            </a:fld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5EF53274-4E38-4275-B829-F7BF3A2111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AA906933-F32A-4AAD-8989-B12B49B8DF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BB3319-208B-4631-80DA-085411E7C8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69222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DC84A853-DAA7-4B23-8DA8-A1400280A2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9B3072-813D-414E-978E-F92814640AD9}" type="datetime1">
              <a:rPr lang="en-US" smtClean="0"/>
              <a:t>04/08/2021</a:t>
            </a:fld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FDCD062-B093-4400-B84F-D87EBBD5CD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49616B6-5F73-455C-AB76-6F88D54DC3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7E9D0E-22A6-4946-B2A2-0F04D2A0C2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1324747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26263" y="187325"/>
            <a:ext cx="2028825" cy="59451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7325"/>
            <a:ext cx="5935663" cy="59451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477A235D-67F1-466C-B3B4-A9FA5AF731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A8526D-E90F-4DE5-9BAD-8AFE546C88A4}" type="datetime1">
              <a:rPr lang="en-US" smtClean="0"/>
              <a:t>04/08/2021</a:t>
            </a:fld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BC7807C-EA9E-4047-AB8F-296DF660B8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3963CC8-C28D-4756-8235-FCF6CCC27D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2A47D8-20A1-449C-9F22-B731BB75F6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6172219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C4A0129-4C06-404F-870C-4C06C6BCB61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6715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99E5058-5954-46D6-B808-E12532672CB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B5293DE-BCC1-4D30-9837-0C1765CD1A1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20173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23ECD6E-B300-4FD0-A148-27EAF016C5C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20173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C296FE9-BC19-4AF1-94AB-C924A0088AC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192A698-5593-407F-9B51-2F370D9509E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327150"/>
            <a:ext cx="8226425" cy="7461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4A6505E-7DA5-4678-9269-0AB808B9B4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187325"/>
            <a:ext cx="7793037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6505" name="Rectangle 9">
            <a:extLst>
              <a:ext uri="{FF2B5EF4-FFF2-40B4-BE49-F238E27FC236}">
                <a16:creationId xmlns:a16="http://schemas.microsoft.com/office/drawing/2014/main" id="{3C6CD706-E7F8-4C9D-871A-D8379BA083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524000"/>
            <a:ext cx="8116888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6506" name="Rectangle 10">
            <a:extLst>
              <a:ext uri="{FF2B5EF4-FFF2-40B4-BE49-F238E27FC236}">
                <a16:creationId xmlns:a16="http://schemas.microsoft.com/office/drawing/2014/main" id="{C6CAB658-80BB-4116-B167-EAC57781B91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3638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fld id="{0666D69F-D73C-48F1-B72C-71E2EC34C4E6}" type="datetime1">
              <a:rPr lang="en-US" smtClean="0"/>
              <a:t>04/08/2021</a:t>
            </a:fld>
            <a:endParaRPr lang="en-US"/>
          </a:p>
        </p:txBody>
      </p:sp>
      <p:sp>
        <p:nvSpPr>
          <p:cNvPr id="106507" name="Rectangle 11">
            <a:extLst>
              <a:ext uri="{FF2B5EF4-FFF2-40B4-BE49-F238E27FC236}">
                <a16:creationId xmlns:a16="http://schemas.microsoft.com/office/drawing/2014/main" id="{033307CE-57B5-4038-BF2B-E9A81EF077F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133600" y="6243638"/>
            <a:ext cx="579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8" name="Rectangle 12">
            <a:extLst>
              <a:ext uri="{FF2B5EF4-FFF2-40B4-BE49-F238E27FC236}">
                <a16:creationId xmlns:a16="http://schemas.microsoft.com/office/drawing/2014/main" id="{07DCA892-5F2A-4D2A-AC96-B9EFC0D3CFA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243638"/>
            <a:ext cx="869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04C88FB7-2B8B-4613-B674-312C4913DAA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7" name="Line 13">
            <a:extLst>
              <a:ext uri="{FF2B5EF4-FFF2-40B4-BE49-F238E27FC236}">
                <a16:creationId xmlns:a16="http://schemas.microsoft.com/office/drawing/2014/main" id="{640EE694-9449-44B7-82E5-FC8C3380061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64008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038" name="Rectangle 14">
            <a:extLst>
              <a:ext uri="{FF2B5EF4-FFF2-40B4-BE49-F238E27FC236}">
                <a16:creationId xmlns:a16="http://schemas.microsoft.com/office/drawing/2014/main" id="{317E8FEF-D502-48A2-A9C9-EC7A890A05B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0207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pic>
        <p:nvPicPr>
          <p:cNvPr id="15" name="Picture 14" descr="logo.png">
            <a:extLst>
              <a:ext uri="{FF2B5EF4-FFF2-40B4-BE49-F238E27FC236}">
                <a16:creationId xmlns:a16="http://schemas.microsoft.com/office/drawing/2014/main" id="{96DB7A77-F6F6-43E1-AF5E-6D9EF7D9A77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lum bright="34000" contrast="-51000"/>
          </a:blip>
          <a:stretch>
            <a:fillRect/>
          </a:stretch>
        </p:blipFill>
        <p:spPr>
          <a:xfrm>
            <a:off x="96463" y="66287"/>
            <a:ext cx="914402" cy="44014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5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5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65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65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65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65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5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65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5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65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650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650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65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650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650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65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650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650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65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650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650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65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650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650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4DD83AE1-FEB6-4E21-BF02-0255D465AFC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Error - exception </a:t>
            </a:r>
            <a:r>
              <a:rPr lang="en-US" altLang="en-US" b="1" smtClean="0"/>
              <a:t>handling </a:t>
            </a:r>
            <a:endParaRPr lang="en-US" altLang="en-US" b="1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2E97D200-05F8-4595-9F00-0E6B67C79D3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38200" y="3886200"/>
            <a:ext cx="7696200" cy="1752600"/>
          </a:xfrm>
        </p:spPr>
        <p:txBody>
          <a:bodyPr/>
          <a:lstStyle/>
          <a:p>
            <a:pPr rtl="0" eaLnBrk="1" hangingPunct="1"/>
            <a:r>
              <a:rPr lang="en-US" altLang="en-US" smtClean="0"/>
              <a:t>Object </a:t>
            </a:r>
            <a:r>
              <a:rPr lang="en-US" altLang="en-US"/>
              <a:t>Oriented </a:t>
            </a:r>
            <a:r>
              <a:rPr lang="en-US" altLang="en-US" smtClean="0"/>
              <a:t>Programming with </a:t>
            </a:r>
            <a:r>
              <a:rPr lang="en-US" altLang="en-US" smtClean="0"/>
              <a:t>Java </a:t>
            </a:r>
          </a:p>
          <a:p>
            <a:pPr rtl="0" eaLnBrk="1" hangingPunct="1"/>
            <a:r>
              <a:rPr lang="en-US" altLang="en-US" smtClean="0"/>
              <a:t>Chapter </a:t>
            </a:r>
            <a:r>
              <a:rPr lang="en-US" altLang="en-US"/>
              <a:t>5</a:t>
            </a:r>
          </a:p>
          <a:p>
            <a:pPr rtl="0" eaLnBrk="1" hangingPunct="1"/>
            <a:r>
              <a:rPr lang="en-US" altLang="en-US" sz="2000" smtClean="0"/>
              <a:t>FPTU Da Nang – IT Department</a:t>
            </a:r>
            <a:endParaRPr lang="en-US" altLang="en-US" sz="2000"/>
          </a:p>
          <a:p>
            <a:pPr algn="l" rtl="0" eaLnBrk="1" hangingPunct="1"/>
            <a:endParaRPr lang="en-US" altLang="en-US"/>
          </a:p>
          <a:p>
            <a:pPr algn="l" rtl="0" eaLnBrk="1" hangingPunct="1"/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90E49F43-5617-4D34-ACD3-56228D38F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441C16DB-210C-45B0-A068-97CE2CCFCB5A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F627509B-B5EB-440B-A9AF-EA8F081CCE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mtClean="0"/>
              <a:t>Objectives - Content</a:t>
            </a:r>
            <a:endParaRPr lang="en-US" altLang="en-US"/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43293FF0-CBCC-492F-A1A9-63F4FFF06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3600">
                <a:ea typeface="Arial Unicode MS" pitchFamily="34" charset="-128"/>
              </a:rPr>
              <a:t>Error &amp; Exception Concepts</a:t>
            </a:r>
          </a:p>
          <a:p>
            <a:pPr algn="l" rtl="0" eaLnBrk="1" hangingPunct="1"/>
            <a:r>
              <a:rPr lang="en-US" altLang="en-US" sz="3600">
                <a:ea typeface="Arial Unicode MS" pitchFamily="34" charset="-128"/>
              </a:rPr>
              <a:t>Try – catch – finally structure</a:t>
            </a:r>
          </a:p>
          <a:p>
            <a:pPr algn="l" rtl="0" eaLnBrk="1" hangingPunct="1"/>
            <a:r>
              <a:rPr lang="en-US" altLang="en-US" sz="3600">
                <a:ea typeface="Arial Unicode MS" pitchFamily="34" charset="-128"/>
              </a:rPr>
              <a:t>throw &amp; throws </a:t>
            </a:r>
            <a:r>
              <a:rPr lang="en-US" altLang="en-US" sz="3600" smtClean="0">
                <a:ea typeface="Arial Unicode MS" pitchFamily="34" charset="-128"/>
              </a:rPr>
              <a:t>clause</a:t>
            </a:r>
            <a:endParaRPr lang="en-US" altLang="en-US" sz="3600">
              <a:ea typeface="Arial Unicode MS" pitchFamily="34" charset="-128"/>
            </a:endParaRPr>
          </a:p>
          <a:p>
            <a:pPr algn="l" rtl="0" eaLnBrk="1" hangingPunct="1"/>
            <a:r>
              <a:rPr lang="en-US" altLang="en-US" sz="3600">
                <a:ea typeface="Arial Unicode MS" pitchFamily="34" charset="-128"/>
              </a:rPr>
              <a:t>Exception class definition </a:t>
            </a:r>
          </a:p>
          <a:p>
            <a:pPr algn="l" rtl="0" eaLnBrk="1" hangingPunct="1"/>
            <a:r>
              <a:rPr lang="en-US" altLang="en-US" sz="3600">
                <a:ea typeface="Arial Unicode MS" pitchFamily="34" charset="-128"/>
              </a:rPr>
              <a:t>Exceptions and overriding</a:t>
            </a:r>
            <a:r>
              <a:rPr lang="en-US" altLang="en-US" sz="3600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D51DDC-B1AF-414D-BBF4-2F6B69FC7E8E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8642A27-DC10-4AC2-9B3D-7CCCD1248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/>
              <a:t>Error handling in Java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8A291A80-457D-4B4C-8D4B-AE4609C89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altLang="en-US" sz="2800"/>
              <a:t>The usual way of handling errors of </a:t>
            </a:r>
            <a:r>
              <a:rPr lang="en-US" altLang="en-US" sz="2800" smtClean="0"/>
              <a:t>programming language </a:t>
            </a:r>
            <a:r>
              <a:rPr lang="en-US" altLang="en-US" sz="2800"/>
              <a:t>is that when an error is detected, it will report an error to the user or return an abnormal value.</a:t>
            </a:r>
          </a:p>
          <a:p>
            <a:pPr algn="l" rtl="0"/>
            <a:r>
              <a:rPr lang="en-US" altLang="en-US" sz="2800"/>
              <a:t>Java was the first programming language that </a:t>
            </a:r>
            <a:r>
              <a:rPr lang="en-US" altLang="en-US" sz="2800" smtClean="0"/>
              <a:t>handling </a:t>
            </a:r>
            <a:r>
              <a:rPr lang="en-US" altLang="en-US" sz="2800"/>
              <a:t>error </a:t>
            </a:r>
            <a:r>
              <a:rPr lang="en-US" altLang="en-US" sz="2800" smtClean="0"/>
              <a:t>focus </a:t>
            </a:r>
            <a:r>
              <a:rPr lang="en-US" altLang="en-US" sz="2800"/>
              <a:t>on distributed application </a:t>
            </a:r>
            <a:r>
              <a:rPr lang="en-US" altLang="en-US" sz="2800" smtClean="0"/>
              <a:t>on network environments</a:t>
            </a:r>
            <a:r>
              <a:rPr lang="en-US" altLang="en-US" sz="2800"/>
              <a:t>.</a:t>
            </a:r>
          </a:p>
          <a:p>
            <a:pPr algn="l" rtl="0"/>
            <a:r>
              <a:rPr lang="en-US" altLang="en-US" sz="2800" smtClean="0"/>
              <a:t>Exception - </a:t>
            </a:r>
            <a:r>
              <a:rPr lang="en-US" altLang="en-US" sz="2800"/>
              <a:t>errors are propagated to the source of the error by tracing and throw - returning the error to the </a:t>
            </a:r>
            <a:r>
              <a:rPr lang="en-US" altLang="en-US" sz="2800" smtClean="0"/>
              <a:t>original place.</a:t>
            </a:r>
            <a:r>
              <a:rPr lang="en-US" altLang="en-US" smtClean="0"/>
              <a:t> </a:t>
            </a:r>
            <a:endParaRPr lang="en-US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E050C14C-7D33-4296-9039-4C5DCACE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7903A302-364A-45F1-B59E-60BBF408A12B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8C621FB-793F-405E-9F39-93EDDF1B7F6D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CAF8942D-BE8D-42F0-8B4D-7551BE575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4DCEED82-53CC-43C1-97A3-9A4D180666C9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5604A6B1-FF5C-4754-99C1-62AD5BCBA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mtClean="0"/>
              <a:t>Error – Exception concept</a:t>
            </a:r>
            <a:endParaRPr lang="en-US" altLang="en-US"/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51E2FBB-043E-46B8-88CA-500F1F294F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Error classification</a:t>
            </a:r>
            <a:endParaRPr lang="en-US" altLang="en-US" sz="2000">
              <a:ea typeface="Arial Unicode MS" pitchFamily="34" charset="-128"/>
            </a:endParaRP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Error </a:t>
            </a:r>
            <a:r>
              <a:rPr lang="en-US" altLang="en-US" sz="2000" smtClean="0">
                <a:ea typeface="Arial Unicode MS" pitchFamily="34" charset="-128"/>
              </a:rPr>
              <a:t>are </a:t>
            </a:r>
            <a:r>
              <a:rPr lang="en-US" altLang="en-US" sz="2000">
                <a:ea typeface="Arial Unicode MS" pitchFamily="34" charset="-128"/>
              </a:rPr>
              <a:t>unusual, unpredictable, unrecoverable </a:t>
            </a:r>
            <a:r>
              <a:rPr lang="en-US" altLang="en-US" sz="2000" smtClean="0">
                <a:ea typeface="Arial Unicode MS" pitchFamily="34" charset="-128"/>
              </a:rPr>
              <a:t>code incident: </a:t>
            </a:r>
            <a:endParaRPr lang="en-US" altLang="en-US" sz="2000">
              <a:ea typeface="Arial Unicode MS" pitchFamily="34" charset="-128"/>
            </a:endParaRPr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out of memory, system error, </a:t>
            </a:r>
            <a:r>
              <a:rPr lang="en-US" altLang="en-US" sz="2000" smtClean="0">
                <a:ea typeface="Arial Unicode MS" pitchFamily="34" charset="-128"/>
              </a:rPr>
              <a:t>network environment</a:t>
            </a:r>
            <a:endParaRPr lang="en-US" altLang="en-US" sz="2000">
              <a:ea typeface="Arial Unicode MS" pitchFamily="34" charset="-128"/>
            </a:endParaRP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Exception: possible situations that affect the normal logic of the program</a:t>
            </a:r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logic error, programming error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Error &amp; Exception </a:t>
            </a:r>
            <a:r>
              <a:rPr lang="en-US" altLang="en-US" sz="2000">
                <a:ea typeface="Arial Unicode MS" pitchFamily="34" charset="-128"/>
              </a:rPr>
              <a:t>types are all represented by Error &amp; Exception classes that inherit from </a:t>
            </a:r>
            <a:r>
              <a:rPr lang="en-US" altLang="en-US" sz="2000" b="1">
                <a:ea typeface="Arial Unicode MS" pitchFamily="34" charset="-128"/>
              </a:rPr>
              <a:t>java.lang.Throwable</a:t>
            </a:r>
            <a:r>
              <a:rPr lang="en-US" altLang="en-US" sz="2000">
                <a:ea typeface="Arial Unicode MS" pitchFamily="34" charset="-128"/>
              </a:rPr>
              <a:t> class 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Exception contains information about the </a:t>
            </a:r>
            <a:r>
              <a:rPr lang="en-US" altLang="en-US" sz="2400" smtClean="0">
                <a:ea typeface="Arial Unicode MS" pitchFamily="34" charset="-128"/>
              </a:rPr>
              <a:t>situation</a:t>
            </a:r>
            <a:r>
              <a:rPr lang="en-US" altLang="en-US" sz="2400">
                <a:ea typeface="Arial Unicode MS" pitchFamily="34" charset="-128"/>
              </a:rPr>
              <a:t>, including the error type, the state of the </a:t>
            </a:r>
            <a:r>
              <a:rPr lang="en-US" altLang="en-US" sz="2400" smtClean="0">
                <a:ea typeface="Arial Unicode MS" pitchFamily="34" charset="-128"/>
              </a:rPr>
              <a:t>program </a:t>
            </a:r>
            <a:r>
              <a:rPr lang="en-US" altLang="en-US" sz="2400">
                <a:ea typeface="Arial Unicode MS" pitchFamily="34" charset="-128"/>
              </a:rPr>
              <a:t>when the error occurs.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The JVM system is responsible for finding the program code for exception handling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97491D-68D6-443A-8224-C2BF6E3FCCD0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15C1991E-4A64-4C8C-A6F0-09609129A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B1E35E0D-D268-45DE-9D8C-AE4FC04AACA4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37DC2FE1-2D61-4628-9DD4-C9E461588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mtClean="0"/>
              <a:t>Error – Exception hierarchy</a:t>
            </a:r>
            <a:endParaRPr lang="en-US" altLang="en-US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9D7BD06-68D0-46DC-A590-34AF5330E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l" rtl="0" eaLnBrk="1" hangingPunct="1"/>
            <a:r>
              <a:rPr lang="en-US" altLang="en-US" smtClean="0">
                <a:ea typeface="Arial Unicode MS" pitchFamily="34" charset="-128"/>
              </a:rPr>
              <a:t>Throwable</a:t>
            </a:r>
            <a:r>
              <a:rPr lang="en-US" altLang="en-US">
                <a:ea typeface="Arial Unicode MS" pitchFamily="34" charset="-128"/>
              </a:rPr>
              <a:t>: throw away</a:t>
            </a:r>
          </a:p>
        </p:txBody>
      </p:sp>
      <p:pic>
        <p:nvPicPr>
          <p:cNvPr id="9221" name="Picture 4">
            <a:extLst>
              <a:ext uri="{FF2B5EF4-FFF2-40B4-BE49-F238E27FC236}">
                <a16:creationId xmlns:a16="http://schemas.microsoft.com/office/drawing/2014/main" id="{6A155CAC-24CE-4C7D-8A95-6EDF17910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57400"/>
            <a:ext cx="7848600" cy="457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A361D0-B383-4B8F-8E91-38DB680EE3A1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62F6E2F8-DB8A-473E-993E-98A95133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9BFC8735-287E-44E1-92A2-686DFD992812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C27F23E7-912C-468C-9D08-874629E85B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>
                <a:ea typeface="Arial Unicode MS" pitchFamily="34" charset="-128"/>
              </a:rPr>
              <a:t>Exception</a:t>
            </a:r>
            <a:endParaRPr lang="en-US" altLang="en-US" sz="3600" b="1">
              <a:latin typeface="Sabon-Roman" charset="0"/>
              <a:ea typeface="Arial Unicode MS" pitchFamily="34" charset="-128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99B8B9E-902B-44C4-A260-6252074827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116888" cy="4608513"/>
          </a:xfrm>
        </p:spPr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>
                <a:ea typeface="Arial Unicode MS" pitchFamily="34" charset="-128"/>
              </a:rPr>
              <a:t>Exception classification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b="1">
                <a:ea typeface="Arial Unicode MS" pitchFamily="34" charset="-128"/>
              </a:rPr>
              <a:t>Runtime exceptions</a:t>
            </a:r>
            <a:r>
              <a:rPr lang="en-US" altLang="en-US">
                <a:ea typeface="Arial Unicode MS" pitchFamily="34" charset="-128"/>
              </a:rPr>
              <a:t>:</a:t>
            </a:r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>
                <a:ea typeface="Arial Unicode MS" pitchFamily="34" charset="-128"/>
              </a:rPr>
              <a:t>Errors </a:t>
            </a:r>
            <a:r>
              <a:rPr lang="en-US" altLang="en-US" smtClean="0">
                <a:ea typeface="Arial Unicode MS" pitchFamily="34" charset="-128"/>
              </a:rPr>
              <a:t>occur at runtime, </a:t>
            </a:r>
            <a:r>
              <a:rPr lang="en-US" altLang="en-US">
                <a:ea typeface="Arial Unicode MS" pitchFamily="34" charset="-128"/>
              </a:rPr>
              <a:t>often due to poor code writing</a:t>
            </a:r>
            <a:br>
              <a:rPr lang="en-US" altLang="en-US">
                <a:ea typeface="Arial Unicode MS" pitchFamily="34" charset="-128"/>
              </a:rPr>
            </a:br>
            <a:r>
              <a:rPr lang="en-US" altLang="en-US" smtClean="0">
                <a:ea typeface="Arial Unicode MS" pitchFamily="34" charset="-128"/>
              </a:rPr>
              <a:t>+ Access array out </a:t>
            </a:r>
            <a:r>
              <a:rPr lang="en-US" altLang="en-US">
                <a:ea typeface="Arial Unicode MS" pitchFamily="34" charset="-128"/>
              </a:rPr>
              <a:t>of </a:t>
            </a:r>
            <a:r>
              <a:rPr lang="en-US" altLang="en-US" smtClean="0">
                <a:ea typeface="Arial Unicode MS" pitchFamily="34" charset="-128"/>
              </a:rPr>
              <a:t>bound</a:t>
            </a:r>
            <a:endParaRPr lang="en-US" altLang="en-US">
              <a:ea typeface="Arial Unicode MS" pitchFamily="34" charset="-128"/>
            </a:endParaRPr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>
                <a:ea typeface="Arial Unicode MS" pitchFamily="34" charset="-128"/>
              </a:rPr>
              <a:t>Predictable avoidance when writing source code </a:t>
            </a:r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>
                <a:ea typeface="Arial Unicode MS" pitchFamily="34" charset="-128"/>
              </a:rPr>
              <a:t>RuntimeException &amp; its subclasses</a:t>
            </a:r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>
                <a:ea typeface="Arial Unicode MS" pitchFamily="34" charset="-128"/>
              </a:rPr>
              <a:t>no processing code is required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b="1">
                <a:ea typeface="Arial Unicode MS" pitchFamily="34" charset="-128"/>
              </a:rPr>
              <a:t>Checked exceptions</a:t>
            </a:r>
            <a:r>
              <a:rPr lang="en-US" altLang="en-US" sz="2400">
                <a:ea typeface="Arial Unicode MS" pitchFamily="34" charset="-128"/>
              </a:rPr>
              <a:t> </a:t>
            </a:r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>
                <a:ea typeface="Arial Unicode MS" pitchFamily="34" charset="-128"/>
              </a:rPr>
              <a:t>error has been </a:t>
            </a:r>
            <a:r>
              <a:rPr lang="en-US" altLang="en-US" smtClean="0">
                <a:ea typeface="Arial Unicode MS" pitchFamily="34" charset="-128"/>
              </a:rPr>
              <a:t>checked, forecast</a:t>
            </a:r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 smtClean="0">
                <a:ea typeface="Arial Unicode MS" pitchFamily="34" charset="-128"/>
              </a:rPr>
              <a:t>Exception </a:t>
            </a:r>
            <a:r>
              <a:rPr lang="en-US" altLang="en-US">
                <a:ea typeface="Arial Unicode MS" pitchFamily="34" charset="-128"/>
              </a:rPr>
              <a:t>and subclasses -</a:t>
            </a:r>
            <a:r>
              <a:rPr lang="en-US" altLang="en-US" sz="2000">
                <a:ea typeface="Arial Unicode MS" pitchFamily="34" charset="-128"/>
              </a:rPr>
              <a:t> except RuntimeException</a:t>
            </a:r>
          </a:p>
          <a:p>
            <a:pPr lvl="2" algn="l" rtl="0" eaLnBrk="1" hangingPunct="1">
              <a:lnSpc>
                <a:spcPct val="90000"/>
              </a:lnSpc>
            </a:pPr>
            <a:r>
              <a:rPr lang="en-US" altLang="en-US">
                <a:ea typeface="Arial Unicode MS" pitchFamily="34" charset="-128"/>
              </a:rPr>
              <a:t>must have </a:t>
            </a:r>
            <a:r>
              <a:rPr lang="en-US" altLang="en-US" smtClean="0">
                <a:ea typeface="Arial Unicode MS" pitchFamily="34" charset="-128"/>
              </a:rPr>
              <a:t>handling code</a:t>
            </a:r>
            <a:endParaRPr lang="en-US" altLang="en-US">
              <a:ea typeface="Arial Unicode MS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B245CB7-8CB4-4F62-8F8E-4E93C8E4BD02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E42A60C1-D250-4BDE-A03F-5DB79748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10B3E9AE-093B-4FF1-B4D5-52172C36631B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5696AB9E-A95A-4274-8404-06B75098E1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>
                <a:ea typeface="Arial Unicode MS" pitchFamily="34" charset="-128"/>
              </a:rPr>
              <a:t>Handling Exceptions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71C5BA59-C938-4069-B561-DC1EA2AF22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400">
                <a:ea typeface="Arial Unicode MS" pitchFamily="34" charset="-128"/>
              </a:rPr>
              <a:t>The Java compiler requires all checked Exceptions to be handled</a:t>
            </a:r>
          </a:p>
          <a:p>
            <a:pPr algn="l" rtl="0" eaLnBrk="1" hangingPunct="1"/>
            <a:r>
              <a:rPr lang="en-US" altLang="en-US" sz="2400">
                <a:ea typeface="Arial Unicode MS" pitchFamily="34" charset="-128"/>
              </a:rPr>
              <a:t>Two Exception handling options:</a:t>
            </a:r>
          </a:p>
          <a:p>
            <a:pPr lvl="1" algn="l" rtl="0" eaLnBrk="1" hangingPunct="1"/>
            <a:r>
              <a:rPr lang="en-US" altLang="en-US" sz="2000">
                <a:ea typeface="Arial Unicode MS" pitchFamily="34" charset="-128"/>
              </a:rPr>
              <a:t>catch errors and handle using blocks </a:t>
            </a:r>
            <a:r>
              <a:rPr lang="en-US" altLang="en-US" sz="2400">
                <a:solidFill>
                  <a:srgbClr val="FF3399"/>
                </a:solidFill>
                <a:ea typeface="Arial Unicode MS" pitchFamily="34" charset="-128"/>
              </a:rPr>
              <a:t>try - catch - finally</a:t>
            </a:r>
            <a:r>
              <a:rPr lang="en-US" altLang="en-US" sz="2000">
                <a:solidFill>
                  <a:srgbClr val="FF3399"/>
                </a:solidFill>
                <a:ea typeface="Arial Unicode MS" pitchFamily="34" charset="-128"/>
              </a:rPr>
              <a:t>.</a:t>
            </a:r>
          </a:p>
          <a:p>
            <a:pPr lvl="1" algn="l" rtl="0" eaLnBrk="1" hangingPunct="1"/>
            <a:r>
              <a:rPr lang="en-US" altLang="en-US" sz="2000" smtClean="0">
                <a:ea typeface="Arial Unicode MS" pitchFamily="34" charset="-128"/>
              </a:rPr>
              <a:t>throws </a:t>
            </a:r>
            <a:r>
              <a:rPr lang="en-US" altLang="en-US" sz="2000">
                <a:ea typeface="Arial Unicode MS" pitchFamily="34" charset="-128"/>
              </a:rPr>
              <a:t>error using </a:t>
            </a:r>
            <a:r>
              <a:rPr lang="en-US" altLang="en-US" sz="2000">
                <a:solidFill>
                  <a:srgbClr val="FF3399"/>
                </a:solidFill>
                <a:ea typeface="Arial Unicode MS" pitchFamily="34" charset="-128"/>
              </a:rPr>
              <a:t>throw </a:t>
            </a:r>
            <a:r>
              <a:rPr lang="en-US" altLang="en-US" sz="2000"/>
              <a:t>and</a:t>
            </a:r>
            <a:r>
              <a:rPr lang="en-US" altLang="en-US" sz="2000" smtClean="0">
                <a:solidFill>
                  <a:srgbClr val="FF3399"/>
                </a:solidFill>
                <a:ea typeface="Arial Unicode MS" pitchFamily="34" charset="-128"/>
              </a:rPr>
              <a:t> </a:t>
            </a:r>
            <a:r>
              <a:rPr lang="en-US" altLang="en-US" sz="2000" smtClean="0">
                <a:ea typeface="Arial Unicode MS" pitchFamily="34" charset="-128"/>
              </a:rPr>
              <a:t>declare </a:t>
            </a:r>
            <a:r>
              <a:rPr lang="en-US" altLang="en-US" sz="2400">
                <a:solidFill>
                  <a:srgbClr val="FF3399"/>
                </a:solidFill>
                <a:ea typeface="Arial Unicode MS" pitchFamily="34" charset="-128"/>
              </a:rPr>
              <a:t>throws</a:t>
            </a:r>
          </a:p>
          <a:p>
            <a:pPr algn="l" rtl="0" eaLnBrk="1" hangingPunct="1"/>
            <a:r>
              <a:rPr lang="en-US" altLang="en-US" sz="2400">
                <a:ea typeface="Arial Unicode MS" pitchFamily="34" charset="-128"/>
              </a:rPr>
              <a:t>When </a:t>
            </a:r>
            <a:r>
              <a:rPr lang="en-US" altLang="en-US" sz="2400" smtClean="0">
                <a:ea typeface="Arial Unicode MS" pitchFamily="34" charset="-128"/>
              </a:rPr>
              <a:t>an error occurs, </a:t>
            </a:r>
            <a:r>
              <a:rPr lang="en-US" altLang="en-US" sz="2400">
                <a:ea typeface="Arial Unicode MS" pitchFamily="34" charset="-128"/>
              </a:rPr>
              <a:t>the JVM will raise an exception, the thread executing </a:t>
            </a:r>
            <a:r>
              <a:rPr lang="en-US" altLang="en-US" sz="2400" smtClean="0">
                <a:ea typeface="Arial Unicode MS" pitchFamily="34" charset="-128"/>
              </a:rPr>
              <a:t>the </a:t>
            </a:r>
            <a:r>
              <a:rPr lang="en-US" altLang="en-US" sz="2400">
                <a:ea typeface="Arial Unicode MS" pitchFamily="34" charset="-128"/>
              </a:rPr>
              <a:t>method will terminate the execution of the next instructions after the error situation, and this exception will be thrown towards the object calling the method.</a:t>
            </a:r>
          </a:p>
          <a:p>
            <a:pPr lvl="1" algn="l" rtl="0" eaLnBrk="1" hangingPunct="1"/>
            <a:r>
              <a:rPr lang="en-US" altLang="en-US" sz="2000">
                <a:ea typeface="Arial Unicode MS" pitchFamily="34" charset="-128"/>
              </a:rPr>
              <a:t>if there is no </a:t>
            </a:r>
            <a:r>
              <a:rPr lang="en-US" altLang="en-US" sz="2000" smtClean="0">
                <a:ea typeface="Arial Unicode MS" pitchFamily="34" charset="-128"/>
              </a:rPr>
              <a:t>handling code, control </a:t>
            </a:r>
            <a:r>
              <a:rPr lang="en-US" altLang="en-US" sz="2000">
                <a:ea typeface="Arial Unicode MS" pitchFamily="34" charset="-128"/>
              </a:rPr>
              <a:t>will return </a:t>
            </a:r>
            <a:r>
              <a:rPr lang="en-US" altLang="en-US" sz="2000" smtClean="0">
                <a:ea typeface="Arial Unicode MS" pitchFamily="34" charset="-128"/>
              </a:rPr>
              <a:t>back to main() function.</a:t>
            </a:r>
            <a:endParaRPr lang="en-US" altLang="en-US" sz="2000">
              <a:ea typeface="Arial Unicode MS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027C0D-44DE-4C0F-AB6A-E3A522E129A1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97E8E7BA-6D22-44F7-8137-697E1ED7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 sz="4000"/>
              <a:t>Two error handling mechanisms 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852BF94D-2066-4FE3-B49F-8CDB469C6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altLang="en-US" sz="2800"/>
              <a:t>Catch error</a:t>
            </a:r>
          </a:p>
          <a:p>
            <a:pPr lvl="1" algn="l" rtl="0"/>
            <a:r>
              <a:rPr lang="en-US" altLang="en-US" sz="2400"/>
              <a:t>Use the </a:t>
            </a:r>
            <a:r>
              <a:rPr lang="en-US" altLang="en-US" sz="2400" b="1"/>
              <a:t>try.. catch.. finally </a:t>
            </a:r>
            <a:r>
              <a:rPr lang="en-US" altLang="en-US" sz="2400"/>
              <a:t>. construct</a:t>
            </a:r>
          </a:p>
          <a:p>
            <a:pPr lvl="1" algn="l" rtl="0"/>
            <a:r>
              <a:rPr lang="en-US" altLang="en-US" sz="2400"/>
              <a:t>Handle errors so that the program does not terminate abnormally.</a:t>
            </a:r>
          </a:p>
          <a:p>
            <a:pPr lvl="1" algn="l" rtl="0"/>
            <a:r>
              <a:rPr lang="en-US" altLang="en-US" sz="2400"/>
              <a:t>Allow re-try </a:t>
            </a:r>
            <a:r>
              <a:rPr lang="en-US" altLang="en-US" sz="2400" smtClean="0"/>
              <a:t>when </a:t>
            </a:r>
            <a:r>
              <a:rPr lang="en-US" altLang="en-US" sz="2400"/>
              <a:t>there is an </a:t>
            </a:r>
            <a:r>
              <a:rPr lang="en-US" altLang="en-US" sz="2400" smtClean="0"/>
              <a:t>error/exception</a:t>
            </a:r>
            <a:endParaRPr lang="en-US" altLang="en-US" sz="2400"/>
          </a:p>
          <a:p>
            <a:r>
              <a:rPr lang="en-US" altLang="en-US" sz="2800"/>
              <a:t>Throw </a:t>
            </a:r>
            <a:r>
              <a:rPr lang="en-US" altLang="en-US" sz="2800" smtClean="0"/>
              <a:t>back an </a:t>
            </a:r>
            <a:r>
              <a:rPr lang="en-US" altLang="en-US" sz="2800"/>
              <a:t>error </a:t>
            </a:r>
            <a:r>
              <a:rPr lang="en-US" altLang="en-US" sz="2800" smtClean="0"/>
              <a:t>to </a:t>
            </a:r>
            <a:r>
              <a:rPr lang="en-US" altLang="en-US" sz="2800"/>
              <a:t>the </a:t>
            </a:r>
            <a:r>
              <a:rPr lang="en-US" altLang="en-US" sz="2800" smtClean="0"/>
              <a:t>original place</a:t>
            </a:r>
            <a:endParaRPr lang="en-US" altLang="en-US" sz="2800"/>
          </a:p>
          <a:p>
            <a:pPr lvl="1" algn="l" rtl="0"/>
            <a:r>
              <a:rPr lang="en-US" altLang="en-US" sz="2400"/>
              <a:t>Declare </a:t>
            </a:r>
            <a:r>
              <a:rPr lang="en-US" altLang="en-US" sz="2400" smtClean="0"/>
              <a:t>the method as </a:t>
            </a:r>
            <a:r>
              <a:rPr lang="en-US" altLang="en-US" sz="2400" b="1"/>
              <a:t>throws Exception</a:t>
            </a:r>
            <a:r>
              <a:rPr lang="en-US" altLang="en-US" sz="2400"/>
              <a:t> . </a:t>
            </a:r>
          </a:p>
          <a:p>
            <a:pPr lvl="1" algn="l" rtl="0"/>
            <a:r>
              <a:rPr lang="en-US" altLang="en-US" sz="2400"/>
              <a:t>Throw an error using the </a:t>
            </a:r>
            <a:r>
              <a:rPr lang="en-US" altLang="en-US" sz="2400" b="1"/>
              <a:t>throw new </a:t>
            </a:r>
            <a:r>
              <a:rPr lang="en-US" altLang="en-US" sz="2400" b="1" smtClean="0"/>
              <a:t>Exception()</a:t>
            </a:r>
            <a:endParaRPr lang="en-US" altLang="en-US" sz="2400" b="1"/>
          </a:p>
          <a:p>
            <a:pPr lvl="1" algn="l" rtl="0"/>
            <a:r>
              <a:rPr lang="en-US" altLang="en-US" sz="2400"/>
              <a:t>Only throws an error when it's out of control</a:t>
            </a: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82E4F54E-94D1-4B6D-B76F-9C6D21DE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D45D0314-4F04-4175-A284-06F41ADE2A46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1727BE-0BD6-4068-9D5F-9FDCBC3F5C8B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9735D3C1-53E9-4642-8406-6896FE0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5A64149C-5CFA-426D-A39F-8EA2B0BC1A50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E72D8933-C1EC-4B63-B1A0-EFA3CB3D51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4000" smtClean="0">
                <a:ea typeface="Arial Unicode MS" pitchFamily="34" charset="-128"/>
              </a:rPr>
              <a:t>Business Exception</a:t>
            </a:r>
            <a:endParaRPr lang="en-US" altLang="en-US" sz="4000">
              <a:ea typeface="Arial Unicode MS" pitchFamily="34" charset="-128"/>
            </a:endParaRP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656C77FE-AB33-44B3-BEBA-5A99EA57E1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800">
                <a:ea typeface="Arial Unicode MS" pitchFamily="34" charset="-128"/>
              </a:rPr>
              <a:t>In Java, creating an Exception object on error and passing it to the JVM at run time is called throwing an exception.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>
                <a:ea typeface="Arial Unicode MS" pitchFamily="34" charset="-128"/>
              </a:rPr>
              <a:t>Errors related to application logic should be represented by defining subclasses of Exception or RuntimeException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Helps distinguish business errors and system errors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public class BankingException extends Exception {</a:t>
            </a:r>
            <a:br>
              <a:rPr lang="en-US" altLang="en-US" sz="2400">
                <a:ea typeface="Arial Unicode MS" pitchFamily="34" charset="-128"/>
              </a:rPr>
            </a:br>
            <a:r>
              <a:rPr lang="en-US" altLang="en-US" sz="2400">
                <a:ea typeface="Arial Unicode MS" pitchFamily="34" charset="-128"/>
              </a:rPr>
              <a:t>public BankingException(String msg) {super(msg); }</a:t>
            </a:r>
            <a:br>
              <a:rPr lang="en-US" altLang="en-US" sz="2400">
                <a:ea typeface="Arial Unicode MS" pitchFamily="34" charset="-128"/>
              </a:rPr>
            </a:br>
            <a:r>
              <a:rPr lang="en-US" altLang="en-US" sz="2400">
                <a:ea typeface="Arial Unicode MS" pitchFamily="34" charset="-128"/>
              </a:rPr>
              <a:t>}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07D205-C836-4023-A361-756B71F62BCA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0B40C470-A9EB-4618-9359-C547A487F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13F8B91E-D615-4504-BF8C-0701A2088560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D7D9DB2F-2878-4A63-B2FD-8F7A88EE4F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throw and </a:t>
            </a:r>
            <a:r>
              <a:rPr lang="en-US" altLang="en-US" smtClean="0"/>
              <a:t>throws</a:t>
            </a:r>
            <a:endParaRPr lang="en-US" altLang="en-US"/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833D16E-31CD-4631-A374-86F0051E75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 sz="2400">
                <a:ea typeface="Arial Unicode MS" pitchFamily="34" charset="-128"/>
              </a:rPr>
              <a:t>Exceptions are actually thrown from </a:t>
            </a:r>
            <a:r>
              <a:rPr lang="en-US" altLang="en-US" sz="2400" smtClean="0">
                <a:ea typeface="Arial Unicode MS" pitchFamily="34" charset="-128"/>
              </a:rPr>
              <a:t>method </a:t>
            </a:r>
            <a:r>
              <a:rPr lang="en-US" altLang="en-US" sz="2400">
                <a:ea typeface="Arial Unicode MS" pitchFamily="34" charset="-128"/>
              </a:rPr>
              <a:t>when it is necessary to notify the calling object of </a:t>
            </a:r>
            <a:r>
              <a:rPr lang="en-US" altLang="en-US" sz="2400" smtClean="0">
                <a:ea typeface="Arial Unicode MS" pitchFamily="34" charset="-128"/>
              </a:rPr>
              <a:t>error situation</a:t>
            </a:r>
            <a:endParaRPr lang="en-US" altLang="en-US" sz="2400">
              <a:ea typeface="Arial Unicode MS" pitchFamily="34" charset="-128"/>
            </a:endParaRPr>
          </a:p>
          <a:p>
            <a:pPr algn="l" rtl="0" eaLnBrk="1" hangingPunct="1"/>
            <a:r>
              <a:rPr lang="en-US" altLang="en-US" sz="2400">
                <a:ea typeface="Arial Unicode MS" pitchFamily="34" charset="-128"/>
              </a:rPr>
              <a:t>Use the throw clause to throw an Exception</a:t>
            </a:r>
          </a:p>
          <a:p>
            <a:pPr lvl="1" algn="l" rtl="0" eaLnBrk="1" hangingPunct="1"/>
            <a:r>
              <a:rPr lang="en-US" altLang="en-US" sz="1800">
                <a:ea typeface="Arial Unicode MS" pitchFamily="34" charset="-128"/>
              </a:rPr>
              <a:t>if (balance&lt;amount) throw new BankingException(“Out of money”);</a:t>
            </a:r>
          </a:p>
          <a:p>
            <a:pPr algn="l" rtl="0" eaLnBrk="1" hangingPunct="1"/>
            <a:r>
              <a:rPr lang="en-US" altLang="en-US" sz="2400">
                <a:ea typeface="Arial Unicode MS" pitchFamily="34" charset="-128"/>
              </a:rPr>
              <a:t>The method containing the </a:t>
            </a:r>
            <a:r>
              <a:rPr lang="en-US" altLang="en-US" sz="2400" b="1" smtClean="0">
                <a:ea typeface="Arial Unicode MS" pitchFamily="34" charset="-128"/>
              </a:rPr>
              <a:t>throw</a:t>
            </a:r>
            <a:r>
              <a:rPr lang="en-US" altLang="en-US" sz="2400" smtClean="0">
                <a:ea typeface="Arial Unicode MS" pitchFamily="34" charset="-128"/>
              </a:rPr>
              <a:t> </a:t>
            </a:r>
            <a:r>
              <a:rPr lang="en-US" altLang="en-US" sz="2400">
                <a:ea typeface="Arial Unicode MS" pitchFamily="34" charset="-128"/>
              </a:rPr>
              <a:t>statement must declare the possibility of an error with the </a:t>
            </a:r>
            <a:r>
              <a:rPr lang="en-US" altLang="en-US" sz="2400" b="1">
                <a:ea typeface="Arial Unicode MS" pitchFamily="34" charset="-128"/>
              </a:rPr>
              <a:t>throws</a:t>
            </a:r>
            <a:r>
              <a:rPr lang="en-US" altLang="en-US" sz="2400">
                <a:ea typeface="Arial Unicode MS" pitchFamily="34" charset="-128"/>
              </a:rPr>
              <a:t> clause </a:t>
            </a:r>
            <a:endParaRPr lang="en-US" altLang="en-US" sz="2400" smtClean="0">
              <a:ea typeface="Arial Unicode MS" pitchFamily="34" charset="-128"/>
            </a:endParaRPr>
          </a:p>
          <a:p>
            <a:pPr lvl="1" eaLnBrk="1" hangingPunct="1"/>
            <a:r>
              <a:rPr lang="en-US" altLang="en-US" sz="2000" smtClean="0">
                <a:ea typeface="Arial Unicode MS" pitchFamily="34" charset="-128"/>
              </a:rPr>
              <a:t>No need to declare throws exception if </a:t>
            </a:r>
            <a:r>
              <a:rPr lang="en-US" altLang="en-US" sz="2000">
                <a:ea typeface="Arial Unicode MS" pitchFamily="34" charset="-128"/>
              </a:rPr>
              <a:t>the </a:t>
            </a:r>
            <a:r>
              <a:rPr lang="en-US" altLang="en-US" sz="2000" smtClean="0">
                <a:ea typeface="Arial Unicode MS" pitchFamily="34" charset="-128"/>
              </a:rPr>
              <a:t>exception </a:t>
            </a:r>
            <a:r>
              <a:rPr lang="en-US" altLang="en-US" sz="2000">
                <a:ea typeface="Arial Unicode MS" pitchFamily="34" charset="-128"/>
              </a:rPr>
              <a:t>is </a:t>
            </a:r>
            <a:r>
              <a:rPr lang="en-US" altLang="en-US" sz="2000" smtClean="0">
                <a:ea typeface="Arial Unicode MS" pitchFamily="34" charset="-128"/>
              </a:rPr>
              <a:t>a </a:t>
            </a:r>
            <a:r>
              <a:rPr lang="en-US" altLang="en-US" sz="2000">
                <a:ea typeface="Arial Unicode MS" pitchFamily="34" charset="-128"/>
              </a:rPr>
              <a:t>subclass of RuntimeException</a:t>
            </a:r>
          </a:p>
          <a:p>
            <a:pPr lvl="1" algn="l" rtl="0" eaLnBrk="1" hangingPunct="1"/>
            <a:r>
              <a:rPr lang="en-US" altLang="en-US" sz="1800">
                <a:ea typeface="Arial Unicode MS" pitchFamily="34" charset="-128"/>
              </a:rPr>
              <a:t>public double withdraw(double amount) </a:t>
            </a:r>
            <a:r>
              <a:rPr lang="en-US" altLang="en-US" sz="1800" b="1">
                <a:ea typeface="Arial Unicode MS" pitchFamily="34" charset="-128"/>
              </a:rPr>
              <a:t>throws</a:t>
            </a:r>
            <a:r>
              <a:rPr lang="en-US" altLang="en-US" sz="1800">
                <a:ea typeface="Arial Unicode MS" pitchFamily="34" charset="-128"/>
              </a:rPr>
              <a:t> BankingException{</a:t>
            </a:r>
            <a:br>
              <a:rPr lang="en-US" altLang="en-US" sz="1800">
                <a:ea typeface="Arial Unicode MS" pitchFamily="34" charset="-128"/>
              </a:rPr>
            </a:br>
            <a:r>
              <a:rPr lang="en-US" altLang="en-US" sz="1800">
                <a:ea typeface="Arial Unicode MS" pitchFamily="34" charset="-128"/>
              </a:rPr>
              <a:t> if (balance&lt;amount) </a:t>
            </a:r>
            <a:r>
              <a:rPr lang="en-US" altLang="en-US" sz="1800" b="1">
                <a:ea typeface="Arial Unicode MS" pitchFamily="34" charset="-128"/>
              </a:rPr>
              <a:t>throw</a:t>
            </a:r>
            <a:r>
              <a:rPr lang="en-US" altLang="en-US" sz="1800">
                <a:ea typeface="Arial Unicode MS" pitchFamily="34" charset="-128"/>
              </a:rPr>
              <a:t> new BankingException(“No money”);</a:t>
            </a:r>
            <a:br>
              <a:rPr lang="en-US" altLang="en-US" sz="1800">
                <a:ea typeface="Arial Unicode MS" pitchFamily="34" charset="-128"/>
              </a:rPr>
            </a:br>
            <a:r>
              <a:rPr lang="en-US" altLang="en-US" sz="1800">
                <a:ea typeface="Arial Unicode MS" pitchFamily="34" charset="-128"/>
              </a:rPr>
              <a:t> else balance-=amount;</a:t>
            </a:r>
            <a:br>
              <a:rPr lang="en-US" altLang="en-US" sz="1800">
                <a:ea typeface="Arial Unicode MS" pitchFamily="34" charset="-128"/>
              </a:rPr>
            </a:br>
            <a:r>
              <a:rPr lang="en-US" altLang="en-US" sz="1800">
                <a:ea typeface="Arial Unicode MS" pitchFamily="34" charset="-128"/>
              </a:rPr>
              <a:t> return balance;</a:t>
            </a:r>
            <a:br>
              <a:rPr lang="en-US" altLang="en-US" sz="1800">
                <a:ea typeface="Arial Unicode MS" pitchFamily="34" charset="-128"/>
              </a:rPr>
            </a:br>
            <a:r>
              <a:rPr lang="en-US" altLang="en-US" sz="1800">
                <a:ea typeface="Arial Unicode MS" pitchFamily="34" charset="-128"/>
              </a:rPr>
              <a:t>}</a:t>
            </a:r>
          </a:p>
          <a:p>
            <a:pPr algn="l" rtl="0" eaLnBrk="1" hangingPunct="1"/>
            <a:endParaRPr lang="en-US" altLang="en-US" sz="2200">
              <a:ea typeface="Arial Unicode MS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B22E3E1-E74B-4867-B7B5-09F16A0FED63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EEA8634B-86FA-4AAE-A489-B5E0054C9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DA4F01AA-3E53-45E9-BCB9-060FAFC6EFBA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243AEF13-D71C-4204-895F-16DCE3121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Use try.. catch.. finally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C1D461FB-7155-4562-9582-6059045860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8116888" cy="4608513"/>
          </a:xfrm>
        </p:spPr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400">
                <a:ea typeface="Arial Unicode MS" pitchFamily="34" charset="-128"/>
              </a:rPr>
              <a:t>try{ doSomething; }</a:t>
            </a:r>
            <a:br>
              <a:rPr lang="en-US" altLang="en-US" sz="2400">
                <a:ea typeface="Arial Unicode MS" pitchFamily="34" charset="-128"/>
              </a:rPr>
            </a:br>
            <a:r>
              <a:rPr lang="en-US" altLang="en-US" sz="2400">
                <a:ea typeface="Arial Unicode MS" pitchFamily="34" charset="-128"/>
              </a:rPr>
              <a:t>catch(Exception e){ doXulyLoi; }</a:t>
            </a:r>
            <a:br>
              <a:rPr lang="en-US" altLang="en-US" sz="2400">
                <a:ea typeface="Arial Unicode MS" pitchFamily="34" charset="-128"/>
              </a:rPr>
            </a:br>
            <a:r>
              <a:rPr lang="en-US" altLang="en-US" sz="2400">
                <a:ea typeface="Arial Unicode MS" pitchFamily="34" charset="-128"/>
              </a:rPr>
              <a:t>finally { alwayDoThis; }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400" b="1" smtClean="0">
                <a:ea typeface="Arial Unicode MS" pitchFamily="34" charset="-128"/>
              </a:rPr>
              <a:t>Try </a:t>
            </a:r>
            <a:r>
              <a:rPr lang="en-US" altLang="en-US" sz="2400" smtClean="0">
                <a:ea typeface="Arial Unicode MS" pitchFamily="34" charset="-128"/>
              </a:rPr>
              <a:t>block: </a:t>
            </a:r>
            <a:endParaRPr lang="en-US" altLang="en-US" sz="2400">
              <a:ea typeface="Arial Unicode MS" pitchFamily="34" charset="-128"/>
            </a:endParaRP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statements that can generate an exception.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will terminate the execution of the remaining instructions to jump to the catch block when an error occurs.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400" b="1" smtClean="0">
                <a:ea typeface="Arial Unicode MS" pitchFamily="34" charset="-128"/>
              </a:rPr>
              <a:t>Catch </a:t>
            </a:r>
            <a:r>
              <a:rPr lang="en-US" altLang="en-US" sz="2400" smtClean="0">
                <a:ea typeface="Arial Unicode MS" pitchFamily="34" charset="-128"/>
              </a:rPr>
              <a:t>block: </a:t>
            </a:r>
            <a:endParaRPr lang="en-US" altLang="en-US" sz="2400">
              <a:ea typeface="Arial Unicode MS" pitchFamily="34" charset="-128"/>
            </a:endParaRP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error </a:t>
            </a:r>
            <a:r>
              <a:rPr lang="en-US" altLang="en-US" sz="2000" smtClean="0">
                <a:ea typeface="Arial Unicode MS" pitchFamily="34" charset="-128"/>
              </a:rPr>
              <a:t>that handling error. </a:t>
            </a:r>
            <a:endParaRPr lang="en-US" altLang="en-US" sz="2000">
              <a:ea typeface="Arial Unicode MS" pitchFamily="34" charset="-128"/>
            </a:endParaRP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Error information stored in Exception e 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If there are more than one type of Exception then multiple catch blocks can be used.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Cannot catch if there is no possibility of error in the try . block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400" b="1" smtClean="0">
                <a:ea typeface="Arial Unicode MS" pitchFamily="34" charset="-128"/>
              </a:rPr>
              <a:t>Finally </a:t>
            </a:r>
            <a:r>
              <a:rPr lang="en-US" altLang="en-US" sz="2400" smtClean="0">
                <a:ea typeface="Arial Unicode MS" pitchFamily="34" charset="-128"/>
              </a:rPr>
              <a:t>block: </a:t>
            </a:r>
            <a:r>
              <a:rPr lang="en-US" altLang="en-US" sz="2400">
                <a:ea typeface="Arial Unicode MS" pitchFamily="34" charset="-128"/>
              </a:rPr>
              <a:t>(optional)</a:t>
            </a:r>
          </a:p>
          <a:p>
            <a:pPr lvl="1" algn="l" rtl="0" eaLnBrk="1" hangingPunct="1">
              <a:lnSpc>
                <a:spcPct val="90000"/>
              </a:lnSpc>
            </a:pPr>
            <a:r>
              <a:rPr lang="en-US" altLang="en-US" sz="2000">
                <a:ea typeface="Arial Unicode MS" pitchFamily="34" charset="-128"/>
              </a:rPr>
              <a:t>statements will be executed, regardless of errors or </a:t>
            </a:r>
            <a:r>
              <a:rPr lang="en-US" altLang="en-US" sz="2000" smtClean="0">
                <a:ea typeface="Arial Unicode MS" pitchFamily="34" charset="-128"/>
              </a:rPr>
              <a:t>not</a:t>
            </a:r>
            <a:endParaRPr lang="en-US" altLang="en-US" sz="2000">
              <a:ea typeface="Arial Unicode MS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4541F1-D4AE-4FC9-BF29-C7B69A7DF6CC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36365575-03A0-4B88-8515-147B27605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1CBA7D75-4F36-436E-96DB-C010BC0EE5C8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4187CA2-D740-4A33-8B91-29DB0083B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Use try.. catch..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95363AC-11FA-4FB5-BB99-3B43287B2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8116888" cy="4608513"/>
          </a:xfrm>
        </p:spPr>
        <p:txBody>
          <a:bodyPr/>
          <a:lstStyle/>
          <a:p>
            <a:pPr algn="l" rtl="0" eaLnBrk="1" hangingPunct="1">
              <a:lnSpc>
                <a:spcPct val="90000"/>
              </a:lnSpc>
            </a:pPr>
            <a:r>
              <a:rPr lang="en-US" altLang="en-US" sz="2000" b="1">
                <a:ea typeface="Arial Unicode MS" pitchFamily="34" charset="-128"/>
              </a:rPr>
              <a:t>Example: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ea typeface="Arial Unicode MS" pitchFamily="34" charset="-128"/>
              </a:rPr>
              <a:t>int x = (int)(Math.random() * 5);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ea typeface="Arial Unicode MS" pitchFamily="34" charset="-128"/>
              </a:rPr>
              <a:t>int y = (int)(Math.random() * 10);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ea typeface="Arial Unicode MS" pitchFamily="34" charset="-128"/>
              </a:rPr>
              <a:t>int [] z = new int[5];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ea typeface="Arial Unicode MS" pitchFamily="34" charset="-128"/>
              </a:rPr>
              <a:t>try {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ea typeface="Arial Unicode MS" pitchFamily="34" charset="-128"/>
              </a:rPr>
              <a:t> System.out.println(“y/x gives “ + (y/x));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ea typeface="Arial Unicode MS" pitchFamily="34" charset="-128"/>
              </a:rPr>
              <a:t> System.out.println(“y is “+ y + “ z[y] is” + z[y]);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ea typeface="Arial Unicode MS" pitchFamily="34" charset="-128"/>
              </a:rPr>
              <a:t> }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ea typeface="Arial Unicode MS" pitchFamily="34" charset="-128"/>
              </a:rPr>
              <a:t> catch (ArithmeticException e) {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ea typeface="Arial Unicode MS" pitchFamily="34" charset="-128"/>
              </a:rPr>
              <a:t> System.out.println(“Arithmetic problem” + e);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ea typeface="Arial Unicode MS" pitchFamily="34" charset="-128"/>
              </a:rPr>
              <a:t> }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ea typeface="Arial Unicode MS" pitchFamily="34" charset="-128"/>
              </a:rPr>
              <a:t> catch (ArrayIndexOutOfBoundsException e) {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ea typeface="Arial Unicode MS" pitchFamily="34" charset="-128"/>
              </a:rPr>
              <a:t> System.out.println(“Subscript problem” + e);</a:t>
            </a:r>
          </a:p>
          <a:p>
            <a:pPr lvl="1" algn="l" rtl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ea typeface="Arial Unicode MS" pitchFamily="34" charset="-128"/>
              </a:rPr>
              <a:t> }</a:t>
            </a:r>
          </a:p>
          <a:p>
            <a:pPr algn="l" rtl="0" eaLnBrk="1" hangingPunct="1">
              <a:lnSpc>
                <a:spcPct val="90000"/>
              </a:lnSpc>
            </a:pPr>
            <a:r>
              <a:rPr lang="en-US" altLang="en-US" sz="2800" b="1">
                <a:ea typeface="Arial Unicode MS" pitchFamily="34" charset="-128"/>
              </a:rPr>
              <a:t>Try must be accompanied by catch or finally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EDF805-BCAD-4DD3-B3A5-8963107504AE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>
            <a:extLst>
              <a:ext uri="{FF2B5EF4-FFF2-40B4-BE49-F238E27FC236}">
                <a16:creationId xmlns:a16="http://schemas.microsoft.com/office/drawing/2014/main" id="{2164FFD9-D345-46A4-A11D-10C6E8D3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50C0992D-390D-42E1-8F8A-C57AF572D883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pic>
        <p:nvPicPr>
          <p:cNvPr id="17411" name="Picture 2">
            <a:extLst>
              <a:ext uri="{FF2B5EF4-FFF2-40B4-BE49-F238E27FC236}">
                <a16:creationId xmlns:a16="http://schemas.microsoft.com/office/drawing/2014/main" id="{02E181BF-32F2-43E3-A580-01ED25150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0"/>
            <a:ext cx="838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BD40E6-5BAB-4770-B79B-CA50E825B749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06904535-77D3-4592-806F-065681B51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CE2EDD72-999A-4C15-A15E-1669553E6429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364228AB-A993-405A-B795-644D991AB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>
                <a:ea typeface="Arial Unicode MS" pitchFamily="34" charset="-128"/>
              </a:rPr>
              <a:t>Exceptions and Overriding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78B2400F-C513-47D0-BC50-B29DADAAF3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/>
            <a:r>
              <a:rPr lang="en-US" altLang="en-US">
                <a:ea typeface="Arial Unicode MS" pitchFamily="34" charset="-128"/>
              </a:rPr>
              <a:t>The override method is not allowed to throw more checked exceptions than the </a:t>
            </a:r>
            <a:r>
              <a:rPr lang="en-US" altLang="en-US" smtClean="0">
                <a:ea typeface="Arial Unicode MS" pitchFamily="34" charset="-128"/>
              </a:rPr>
              <a:t>overriden </a:t>
            </a:r>
            <a:r>
              <a:rPr lang="en-US" altLang="en-US">
                <a:ea typeface="Arial Unicode MS" pitchFamily="34" charset="-128"/>
              </a:rPr>
              <a:t>method in the base class</a:t>
            </a:r>
          </a:p>
          <a:p>
            <a:pPr lvl="1" algn="l" rtl="0" eaLnBrk="1" hangingPunct="1"/>
            <a:r>
              <a:rPr lang="en-US" altLang="en-US">
                <a:ea typeface="Arial Unicode MS" pitchFamily="34" charset="-128"/>
              </a:rPr>
              <a:t>For that reason, some base classes need to declare </a:t>
            </a:r>
            <a:r>
              <a:rPr lang="en-US" altLang="en-US" smtClean="0">
                <a:ea typeface="Arial Unicode MS" pitchFamily="34" charset="-128"/>
              </a:rPr>
              <a:t>throws </a:t>
            </a:r>
            <a:r>
              <a:rPr lang="en-US" altLang="en-US">
                <a:ea typeface="Arial Unicode MS" pitchFamily="34" charset="-128"/>
              </a:rPr>
              <a:t>an Exception even though there isn't an Exception</a:t>
            </a:r>
          </a:p>
          <a:p>
            <a:pPr algn="l" rtl="0" eaLnBrk="1" hangingPunct="1"/>
            <a:r>
              <a:rPr lang="en-US" altLang="en-US">
                <a:ea typeface="Arial Unicode MS" pitchFamily="34" charset="-128"/>
              </a:rPr>
              <a:t>The override method can throw Exceptions so that these exceptions are subclasses of the exception thrown in the </a:t>
            </a:r>
            <a:r>
              <a:rPr lang="en-US" altLang="en-US" smtClean="0">
                <a:ea typeface="Arial Unicode MS" pitchFamily="34" charset="-128"/>
              </a:rPr>
              <a:t>overriden </a:t>
            </a:r>
            <a:r>
              <a:rPr lang="en-US" altLang="en-US">
                <a:ea typeface="Arial Unicode MS" pitchFamily="34" charset="-128"/>
              </a:rPr>
              <a:t>method.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E5918D-476D-4AF2-B1D3-23E4697D3CC4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D69CCB95-5F69-4BC3-AC5C-12DAD4AC1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B070DEFF-FC7A-4F3A-9B1F-A89EA010B33F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046C4B42-50C0-46BE-9CFF-17884622C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Exception &amp; Overriding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9997971B-B732-42A2-9330-615B00EB1D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 b="1">
                <a:solidFill>
                  <a:srgbClr val="000000"/>
                </a:solidFill>
                <a:latin typeface="Sabon-Roman" charset="0"/>
                <a:ea typeface="Arial Unicode MS" pitchFamily="34" charset="-128"/>
              </a:rPr>
              <a:t>Review question</a:t>
            </a:r>
            <a:br>
              <a:rPr lang="en-US" altLang="en-US" sz="2800" b="1">
                <a:solidFill>
                  <a:srgbClr val="000000"/>
                </a:solidFill>
                <a:latin typeface="Sabon-Roman" charset="0"/>
                <a:ea typeface="Arial Unicode MS" pitchFamily="34" charset="-128"/>
              </a:rPr>
            </a:br>
            <a:r>
              <a:rPr lang="en-US" altLang="en-US" sz="2000">
                <a:solidFill>
                  <a:srgbClr val="000000"/>
                </a:solidFill>
                <a:ea typeface="Arial Unicode MS" pitchFamily="34" charset="-128"/>
              </a:rPr>
              <a:t>The risky() method might throw a java.io.IOException, java.lang.RuntimeException, java.net.MalformedURLException (which is a subclass of java.io.IOException). Which of the following classes and sets of classes are legal?</a:t>
            </a:r>
            <a:r>
              <a:rPr lang="en-US" altLang="en-US" sz="2000">
                <a:ea typeface="Arial Unicode MS" pitchFamily="34" charset="-128"/>
              </a:rPr>
              <a:t> </a:t>
            </a: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latin typeface="Univers-Bold" charset="0"/>
                <a:ea typeface="Arial Unicode MS" pitchFamily="34" charset="-128"/>
              </a:rPr>
              <a:t>A. </a:t>
            </a:r>
            <a:r>
              <a:rPr lang="en-US" altLang="en-US" sz="2000" b="1">
                <a:solidFill>
                  <a:srgbClr val="000000"/>
                </a:solidFill>
                <a:latin typeface="Mono3Frame-Regular" charset="0"/>
                <a:ea typeface="Arial Unicode MS" pitchFamily="34" charset="-128"/>
              </a:rPr>
              <a:t> public class SomeClass {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latin typeface="Mono3Frame-Regular" charset="0"/>
                <a:ea typeface="Arial Unicode MS" pitchFamily="34" charset="-128"/>
              </a:rPr>
              <a:t> public void aMethod() {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latin typeface="Mono3Frame-Regular" charset="0"/>
                <a:ea typeface="Arial Unicode MS" pitchFamily="34" charset="-128"/>
              </a:rPr>
              <a:t> risky();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latin typeface="Mono3Frame-Regular" charset="0"/>
                <a:ea typeface="Arial Unicode MS" pitchFamily="34" charset="-128"/>
              </a:rPr>
              <a:t> }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latin typeface="Mono3Frame-Regular" charset="0"/>
                <a:ea typeface="Arial Unicode MS" pitchFamily="34" charset="-128"/>
              </a:rPr>
              <a:t> }</a:t>
            </a: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latin typeface="Univers-Bold" charset="0"/>
                <a:ea typeface="Arial Unicode MS" pitchFamily="34" charset="-128"/>
              </a:rPr>
              <a:t>B. </a:t>
            </a:r>
            <a:r>
              <a:rPr lang="en-US" altLang="en-US" sz="2000" b="1">
                <a:solidFill>
                  <a:srgbClr val="000000"/>
                </a:solidFill>
                <a:latin typeface="Mono3Frame-Regular" charset="0"/>
                <a:ea typeface="Arial Unicode MS" pitchFamily="34" charset="-128"/>
              </a:rPr>
              <a:t>public class SomeClass {</a:t>
            </a: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latin typeface="Mono3Frame-Regular" charset="0"/>
                <a:ea typeface="Arial Unicode MS" pitchFamily="34" charset="-128"/>
              </a:rPr>
              <a:t> public void aMethod() throws IOException {</a:t>
            </a: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latin typeface="Mono3Frame-Regular" charset="0"/>
                <a:ea typeface="Arial Unicode MS" pitchFamily="34" charset="-128"/>
              </a:rPr>
              <a:t> risky();</a:t>
            </a: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latin typeface="Mono3Frame-Regular" charset="0"/>
                <a:ea typeface="Arial Unicode MS" pitchFamily="34" charset="-128"/>
              </a:rPr>
              <a:t> }</a:t>
            </a: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latin typeface="Mono3Frame-Regular" charset="0"/>
                <a:ea typeface="Arial Unicode MS" pitchFamily="34" charset="-128"/>
              </a:rPr>
              <a:t> }</a:t>
            </a:r>
            <a:endParaRPr lang="en-US" altLang="en-US" sz="24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20679E4-3F1C-4DD5-89E2-F87238D46961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22B419C1-352C-4306-9938-CE32644AF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219AE357-DCCA-43A6-B8C3-E8E19FD4DE36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E9651EC-27C9-4AE7-A121-2EB26F4C84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Exception &amp; Overriding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C27BC3D-7D65-4DFA-A982-6C9CD7D17D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latin typeface="Univers-Bold" charset="0"/>
                <a:ea typeface="Arial Unicode MS" pitchFamily="34" charset="-128"/>
              </a:rPr>
              <a:t>C.</a:t>
            </a: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public class SomeClass {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public void aMethod() throws RuntimeException {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risky(); </a:t>
            </a: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} }</a:t>
            </a:r>
            <a:r>
              <a:rPr lang="en-US" altLang="en-US" sz="2000" b="1">
                <a:ea typeface="Arial Unicode MS" pitchFamily="34" charset="-128"/>
              </a:rPr>
              <a:t> </a:t>
            </a: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D. public class SomeClass {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public void aMethod() {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try {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risky();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}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catch (IOException e) {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e.printStackTrace();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}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}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}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6DB6AC-6532-4218-8DE2-179293DC5916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4614C1B0-BBD3-4449-9FE1-C618F187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rtl="0">
              <a:spcBef>
                <a:spcPct val="0"/>
              </a:spcBef>
              <a:buClrTx/>
              <a:buSzTx/>
              <a:buFontTx/>
              <a:buNone/>
            </a:pPr>
            <a:fld id="{A09052F9-A8D1-4797-BDAC-CD82C76C4408}" type="slidenum">
              <a:rPr lang="en-US" altLang="en-US" sz="1400"/>
              <a:pPr algn="l" rtl="0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EB94813-908D-41C8-9D35-0E2EBA827A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rtl="0" eaLnBrk="1" hangingPunct="1"/>
            <a:r>
              <a:rPr lang="en-US" altLang="en-US"/>
              <a:t>Exception &amp; Overriding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32053BBF-8CF4-47DA-BED3-3A58CFF8A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E. public class SomeClass {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public void aMethod() throws MalformedURLException {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try { </a:t>
            </a: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risky(); </a:t>
            </a: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}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catch (IOException e) { }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}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};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public class AnotherClass extends SomeClass {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public void aMethod() throws java.io.IOException {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super.aMethod();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}</a:t>
            </a:r>
            <a:endParaRPr lang="en-US" altLang="en-US" sz="2000" b="1">
              <a:ea typeface="Arial Unicode MS" pitchFamily="34" charset="-128"/>
            </a:endParaRPr>
          </a:p>
          <a:p>
            <a:pPr algn="l" rtl="0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000" b="1">
                <a:solidFill>
                  <a:srgbClr val="000000"/>
                </a:solidFill>
                <a:ea typeface="Arial Unicode MS" pitchFamily="34" charset="-128"/>
              </a:rPr>
              <a:t> }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6EC969-E321-4D61-A347-D295A7B1F8DE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12871214-F391-4C48-8815-CE5AB8F54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altLang="en-US"/>
              <a:t>Constructive questions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878235C5-CDC1-4E04-B5D5-BBDE1C653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altLang="en-US" sz="2200" dirty="0"/>
              <a:t>How is error handling in Java different from other languages?</a:t>
            </a:r>
          </a:p>
          <a:p>
            <a:pPr algn="l" rtl="0"/>
            <a:r>
              <a:rPr lang="en-US" altLang="en-US" sz="2200"/>
              <a:t>When </a:t>
            </a:r>
            <a:r>
              <a:rPr lang="en-US" altLang="en-US" sz="2200" smtClean="0"/>
              <a:t>errors should be catched, should be thrown?</a:t>
            </a:r>
            <a:endParaRPr lang="en-US" altLang="en-US" sz="2200" dirty="0"/>
          </a:p>
          <a:p>
            <a:pPr algn="l" rtl="0"/>
            <a:r>
              <a:rPr lang="en-US" altLang="en-US" sz="2200" dirty="0"/>
              <a:t>How to prevent the program from crashing because the user accidentally entered the wrong data?</a:t>
            </a:r>
          </a:p>
          <a:p>
            <a:pPr algn="l" rtl="0"/>
            <a:r>
              <a:rPr lang="en-US" altLang="en-US" sz="2200" dirty="0"/>
              <a:t>Write a function that allows input of an integer from the keyboard, valid from m to n. Any invalid input is allowed to re-enter until ok</a:t>
            </a:r>
          </a:p>
          <a:p>
            <a:pPr algn="l" rtl="0"/>
            <a:r>
              <a:rPr lang="en-US" altLang="en-US" sz="2200" dirty="0"/>
              <a:t>A function declaration throws Exception, even though the function body is not capable of generating an error. What is this for?</a:t>
            </a:r>
          </a:p>
          <a:p>
            <a:pPr algn="l" rtl="0"/>
            <a:r>
              <a:rPr lang="en-US" altLang="en-US" sz="2200" dirty="0"/>
              <a:t>Define a class of </a:t>
            </a:r>
            <a:r>
              <a:rPr lang="en-US" altLang="en-US" sz="2200"/>
              <a:t>business </a:t>
            </a:r>
            <a:r>
              <a:rPr lang="en-US" altLang="en-US" sz="2200" smtClean="0"/>
              <a:t>exception </a:t>
            </a:r>
            <a:r>
              <a:rPr lang="en-US" altLang="en-US" sz="2200" dirty="0"/>
              <a:t>of the library management application. System logging when errors occur.</a:t>
            </a: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0D4CECA9-04B7-455A-B00D-8B8207BF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F42EBF-3BE2-4EF7-B4D9-E4853CE04983}" type="slidenum">
              <a:rPr lang="en-US" altLang="en-US"/>
              <a:pPr algn="l" rtl="0"/>
              <a:t>18</a:t>
            </a:fld>
            <a:endParaRPr lang="en-US" alt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00AAFD-4DDA-4BA6-A30E-9C8D4FE6C766}" type="datetime1">
              <a:rPr lang="en-US" smtClean="0"/>
              <a:t>04/08/2021</a:t>
            </a:fld>
            <a:endParaRPr lang="en-US"/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aiGiangCDCN">
  <a:themeElements>
    <a:clrScheme name="BaiGiangCDCN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aiGiangCDC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aiGiangCDCN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GiangCDCN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iGiangCDCN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GiangCDCN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GiangCDCN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iGiangCDCN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BaiGiangCDCN</Template>
  <TotalTime>807</TotalTime>
  <Words>979</Words>
  <Application>Microsoft Office PowerPoint</Application>
  <PresentationFormat>On-screen Show (4:3)</PresentationFormat>
  <Paragraphs>178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 Unicode MS</vt:lpstr>
      <vt:lpstr>Arial</vt:lpstr>
      <vt:lpstr>Mono3Frame-Regular</vt:lpstr>
      <vt:lpstr>Sabon-Roman</vt:lpstr>
      <vt:lpstr>Univers-Bold</vt:lpstr>
      <vt:lpstr>Wingdings</vt:lpstr>
      <vt:lpstr>BaiGiangCDCN</vt:lpstr>
      <vt:lpstr>Error - exception handling </vt:lpstr>
      <vt:lpstr>Objectives - Content</vt:lpstr>
      <vt:lpstr>Error handling in Java</vt:lpstr>
      <vt:lpstr>Error – Exception concept</vt:lpstr>
      <vt:lpstr>Error – Exception hierarchy</vt:lpstr>
      <vt:lpstr>Exception</vt:lpstr>
      <vt:lpstr>Handling Exceptions</vt:lpstr>
      <vt:lpstr>Two error handling mechanisms </vt:lpstr>
      <vt:lpstr>Business Exception</vt:lpstr>
      <vt:lpstr>throw and throws</vt:lpstr>
      <vt:lpstr>Use try.. catch.. finally</vt:lpstr>
      <vt:lpstr>Use try.. catch..</vt:lpstr>
      <vt:lpstr>PowerPoint Presentation</vt:lpstr>
      <vt:lpstr>Exceptions and Overriding</vt:lpstr>
      <vt:lpstr>Exception &amp; Overriding</vt:lpstr>
      <vt:lpstr>Exception &amp; Overriding</vt:lpstr>
      <vt:lpstr>Exception &amp; Overriding</vt:lpstr>
      <vt:lpstr>Constructive questions</vt:lpstr>
    </vt:vector>
  </TitlesOfParts>
  <Company>Softech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 Handling</dc:title>
  <dc:creator>Lanh Nguyen</dc:creator>
  <cp:lastModifiedBy>Windows User</cp:lastModifiedBy>
  <cp:revision>31</cp:revision>
  <dcterms:created xsi:type="dcterms:W3CDTF">2003-04-26T06:48:02Z</dcterms:created>
  <dcterms:modified xsi:type="dcterms:W3CDTF">2021-08-04T07:09:18Z</dcterms:modified>
</cp:coreProperties>
</file>