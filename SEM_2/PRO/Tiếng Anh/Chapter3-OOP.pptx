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09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61" r:id="rId4"/>
    <p:sldId id="276" r:id="rId5"/>
    <p:sldId id="262" r:id="rId6"/>
    <p:sldId id="265" r:id="rId7"/>
    <p:sldId id="266" r:id="rId8"/>
    <p:sldId id="267" r:id="rId9"/>
    <p:sldId id="268" r:id="rId10"/>
    <p:sldId id="269" r:id="rId11"/>
    <p:sldId id="264" r:id="rId12"/>
    <p:sldId id="277" r:id="rId13"/>
    <p:sldId id="284" r:id="rId14"/>
    <p:sldId id="281" r:id="rId15"/>
    <p:sldId id="295" r:id="rId16"/>
    <p:sldId id="296" r:id="rId17"/>
    <p:sldId id="283" r:id="rId18"/>
    <p:sldId id="292" r:id="rId19"/>
    <p:sldId id="280" r:id="rId20"/>
    <p:sldId id="272" r:id="rId21"/>
    <p:sldId id="293" r:id="rId22"/>
    <p:sldId id="275" r:id="rId23"/>
    <p:sldId id="285" r:id="rId24"/>
    <p:sldId id="290" r:id="rId25"/>
    <p:sldId id="274" r:id="rId26"/>
    <p:sldId id="286" r:id="rId27"/>
    <p:sldId id="287" r:id="rId28"/>
    <p:sldId id="288" r:id="rId29"/>
    <p:sldId id="289" r:id="rId30"/>
    <p:sldId id="297" r:id="rId31"/>
    <p:sldId id="294" r:id="rId32"/>
    <p:sldId id="298" r:id="rId33"/>
    <p:sldId id="299" r:id="rId34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660"/>
  </p:normalViewPr>
  <p:slideViewPr>
    <p:cSldViewPr>
      <p:cViewPr varScale="1">
        <p:scale>
          <a:sx n="80" d="100"/>
          <a:sy n="80" d="100"/>
        </p:scale>
        <p:origin x="151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92"/>
    </p:cViewPr>
  </p:sorterViewPr>
  <p:notesViewPr>
    <p:cSldViewPr>
      <p:cViewPr varScale="1">
        <p:scale>
          <a:sx n="41" d="100"/>
          <a:sy n="41" d="100"/>
        </p:scale>
        <p:origin x="-1470" y="-72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F04DFF4-073A-4576-BEFF-8FF7964CDF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47A1294-6512-462E-9A9E-7F67FA9A63C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6A4A8166-56AC-4222-A6BF-D52E4D835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660DB8B4-A75F-4135-8CBA-3E9A2471C8F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3475FA6-8AFB-43BE-BD56-2B9A384268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870A3FC-47BE-4F6F-9020-6D8A82C93D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277705E-8338-41F3-ACBD-BEEEFCE10C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602FA69-28E7-4AD7-B381-22E3DA9AE50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6B6F77C3-04DA-4376-8137-4774080D14F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E2A7929A-CA26-4B39-A0A6-9ED8FA331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968169B4-AB3F-4B2C-9DA8-8315C74D38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390F021-E530-4E58-A22B-804C5C95BC1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anose="020B0604020202020204" pitchFamily="34" charset="-128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anose="020B0604020202020204" pitchFamily="34" charset="-128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anose="020B0604020202020204" pitchFamily="34" charset="-128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anose="020B0604020202020204" pitchFamily="34" charset="-128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anose="020B0604020202020204" pitchFamily="34" charset="-128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B747D0A-5FDB-438A-A921-E75BE8E6981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C41E8021-965D-4FF9-B493-7423CC27A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2A61CC6C-62D3-46EF-BBCC-FE4B835D6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C6ED2884-9A86-4C97-B14F-8D24CCD81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33CB461-135E-4335-9C11-F2F89E5CE8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96FE1150-846C-49B8-87F5-BC68CCC6B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4FCC184A-E1A9-4700-914E-5004BBFD7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E723240F-6B54-4EFB-BDB8-A00638B5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F4A51AB9-C6BF-41EA-BAAA-61B4EC67A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D0289F21-5BA6-42F6-8803-32C36B4942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4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4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28743616-1156-4EBA-BCD2-33B24722BB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DE36ED5-E622-48CA-BA07-E35BF4483CDB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3EFA045-9C42-43B2-94B6-5FAF734F6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BC4157FD-DE71-4C4C-9623-AA50CC0CD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6B583E-7F9D-4779-B2DD-D2160355FD4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7" name="Picture 16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4054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848CE66-035C-40F5-BF1A-A840B1278F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BCE80-C588-453A-8710-4D8E0135449A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3D42689-2AF4-4E72-A7E8-4AB2973BB8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0E32561-AAAB-47A0-8023-DB1F911333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920689-EE1D-47EC-9A8B-62A832178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61812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D51ABF8-968A-4D3F-8AEF-BF93F8C6BD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9B141-33C1-4641-AC93-60B683C41F63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B1E3E6-8A6E-4C4F-A55A-ACF6744023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B486992-ABA6-4433-80E1-9901D47154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968CFB-8404-49B0-8C90-170C2B31DF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377421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398145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2050" y="1524000"/>
            <a:ext cx="3983038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9962E05-2AA8-4BAE-A1AD-422C9C8D00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83DFB-7052-436C-B522-037F25FB58FC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E67499F-C645-4055-B47F-7D9E336BFB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CFA07B19-F512-4325-9EC9-8485BDA22E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AC322-8005-4A73-B05E-0CE3E15C83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683860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B43B9656-9BA6-40C2-8019-DC21F2EB27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D8F96-CF38-453B-8660-6F89B91964E2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4007A492-480D-418B-8860-7D7C9176DD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58606AB2-0B3A-4A14-8BDE-38147AA3E6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5CE0A-0410-43EE-8D65-F00BF98407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727995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1BAF114E-983E-4BBB-954D-FC82A9B181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77CF5-20C0-4A1D-A07D-F2188069A119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4D1971D-4020-425F-8B52-781C17B1A6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80E4DF7-1F45-473C-8812-66BBFCD47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4D368D-C3FB-479D-8CE9-405370E1E9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414153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7FF39B7D-A27A-4B8E-BDBF-84E443F868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D3B5F-5973-4847-B079-627DC49809A3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69256CB-30F8-4B8C-B403-2B37C776E7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64A911E-E62B-44EF-AA09-B62FC0A5F5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88B549-72CC-4C35-AFA3-516870994E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685765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E497A87-BCBD-413D-9D0E-0E407C28A7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23A01-C75C-42B6-8A81-F5F9FCE0FBF6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94E03EB-460E-4A69-86E5-DD686FA624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46D92A7-B9AA-4798-943F-E9DB22517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F6D0EB-AE27-4BD8-B967-85C47B95E1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654178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5647CC3-B1C8-4529-9510-C04473AEAF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B205-A035-44FA-B7C5-937332F7B278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AB88DE8-90E7-4C85-9CBE-FA3229BB1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74C916E-E523-40BB-A062-14499AA1B2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481034-5865-475A-B2EC-B85CA88DC9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432150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62BB5ED-6F15-46BA-8B64-D48E7F9968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F2B20-5673-467E-89BC-ACCF8314EF0B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B939552-6AB2-402F-BA0A-EFCE520B8A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C70DCCF-A87E-4B19-AD2E-87155499C6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2E2C52-7987-4538-A667-867213FA27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881774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6263" y="187325"/>
            <a:ext cx="2028825" cy="5945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7325"/>
            <a:ext cx="5935663" cy="594518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8F3E04BF-2219-4131-AA37-ECFF1F81B3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F92AA-438E-49D7-844C-2A4ACF3403C8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672B9A5-574B-4A70-9F39-E4F0BDB46B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AB08771-E9EB-49C3-8346-16533A900D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B6CAA2-3030-4946-B172-AEC495A96B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6850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E293E0-0CFB-45E8-A190-CB69122E6F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6715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956D12-4982-47B0-A8F2-02C0BD3F65E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078A36-8052-4A30-B6B7-04782C6287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2017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9716B18-2FB4-4A73-856F-8B8C288B10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20173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454531-D62D-49E0-92F9-ED242742DA2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E8D5037-42B3-402F-B569-0071921F09E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327150"/>
            <a:ext cx="8226425" cy="746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35C50FA-9422-4B62-97E7-DAB209A1F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87325"/>
            <a:ext cx="779303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29" name="Rectangle 9">
            <a:extLst>
              <a:ext uri="{FF2B5EF4-FFF2-40B4-BE49-F238E27FC236}">
                <a16:creationId xmlns:a16="http://schemas.microsoft.com/office/drawing/2014/main" id="{50382843-EE52-4980-85C9-32DD8EB1A2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24000"/>
            <a:ext cx="8116888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30" name="Rectangle 10">
            <a:extLst>
              <a:ext uri="{FF2B5EF4-FFF2-40B4-BE49-F238E27FC236}">
                <a16:creationId xmlns:a16="http://schemas.microsoft.com/office/drawing/2014/main" id="{0CCA2C6B-78A0-4BF7-A6DE-2A7B41999C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3638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F4BDFBD0-6833-45FC-AE7B-0BB72B203C29}" type="datetime1">
              <a:rPr lang="en-US"/>
              <a:pPr>
                <a:defRPr/>
              </a:pPr>
              <a:t>04/08/2021</a:t>
            </a:fld>
            <a:endParaRPr lang="en-US"/>
          </a:p>
        </p:txBody>
      </p:sp>
      <p:sp>
        <p:nvSpPr>
          <p:cNvPr id="133131" name="Rectangle 11">
            <a:extLst>
              <a:ext uri="{FF2B5EF4-FFF2-40B4-BE49-F238E27FC236}">
                <a16:creationId xmlns:a16="http://schemas.microsoft.com/office/drawing/2014/main" id="{9F9B6656-13D2-40CA-859A-67B0E37B19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33600" y="6243638"/>
            <a:ext cx="579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32" name="Rectangle 12">
            <a:extLst>
              <a:ext uri="{FF2B5EF4-FFF2-40B4-BE49-F238E27FC236}">
                <a16:creationId xmlns:a16="http://schemas.microsoft.com/office/drawing/2014/main" id="{B1B47D2D-2DA8-4F47-B354-500D4BB657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243638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1155AC7-5FD5-4C4F-9238-D1F8EBAE5C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7BF9FCA0-4167-4380-A517-91462B732A3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6400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id="{DAC2B1D4-813C-477C-AE58-E727467911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0207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pic>
        <p:nvPicPr>
          <p:cNvPr id="15" name="Picture 14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A683A78-839F-40F5-8F60-011E2F37CE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/>
          <a:lstStyle/>
          <a:p>
            <a:pPr algn="ctr" rtl="0" eaLnBrk="1" hangingPunct="1"/>
            <a:r>
              <a:rPr lang="en-US" altLang="en-US" b="1">
                <a:solidFill>
                  <a:schemeClr val="tx1"/>
                </a:solidFill>
              </a:rPr>
              <a:t>Object Oriented Programming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3DDA908-020A-4F5E-81E7-4E283A309B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76400" y="3962400"/>
            <a:ext cx="6400800" cy="1371600"/>
          </a:xfrm>
        </p:spPr>
        <p:txBody>
          <a:bodyPr/>
          <a:lstStyle/>
          <a:p>
            <a:pPr rtl="0" eaLnBrk="1" hangingPunct="1"/>
            <a:r>
              <a:rPr lang="en-US" altLang="en-US"/>
              <a:t>Object Oriented Programming with Java - Chapter 3</a:t>
            </a:r>
          </a:p>
          <a:p>
            <a:pPr rtl="0" eaLnBrk="1" hangingPunct="1"/>
            <a:r>
              <a:rPr lang="en-US" altLang="en-US" sz="1800" smtClean="0"/>
              <a:t>FPTU Da Nang – IT Department</a:t>
            </a:r>
            <a:endParaRPr lang="en-US" altLang="en-US" sz="1800"/>
          </a:p>
          <a:p>
            <a:pPr algn="l" rtl="0" eaLnBrk="1" hangingPunct="1"/>
            <a:endParaRPr lang="en-US" altLang="en-US"/>
          </a:p>
        </p:txBody>
      </p:sp>
      <p:sp>
        <p:nvSpPr>
          <p:cNvPr id="5124" name="Slide Number Placeholder 1">
            <a:extLst>
              <a:ext uri="{FF2B5EF4-FFF2-40B4-BE49-F238E27FC236}">
                <a16:creationId xmlns:a16="http://schemas.microsoft.com/office/drawing/2014/main" id="{6709C2E8-1B87-4F31-B1FE-4CEE4FA6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A5C1FB4-5BD7-44C3-9DE6-B7B296663C34}" type="slidenum">
              <a:rPr lang="en-US" altLang="en-US" sz="1400">
                <a:solidFill>
                  <a:schemeClr val="bg2"/>
                </a:solidFill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F4CB84-0531-4603-AF70-6A651FED3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7087" y="542131"/>
            <a:ext cx="7772400" cy="685800"/>
          </a:xfrm>
        </p:spPr>
        <p:txBody>
          <a:bodyPr>
            <a:normAutofit fontScale="90000"/>
          </a:bodyPr>
          <a:lstStyle/>
          <a:p>
            <a:pPr algn="ctr" rtl="0" eaLnBrk="1" hangingPunct="1">
              <a:defRPr/>
            </a:pPr>
            <a:r>
              <a:rPr lang="en-US" altLang="en-US" smtClean="0"/>
              <a:t>Objectives - Content</a:t>
            </a:r>
            <a:endParaRPr lang="en-US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B072839-0C3E-4787-B264-08DE65249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676400"/>
            <a:ext cx="7847013" cy="4356100"/>
          </a:xfrm>
        </p:spPr>
        <p:txBody>
          <a:bodyPr/>
          <a:lstStyle/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</a:rPr>
              <a:t>Think OOP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Object concept - Class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Arial Unicode MS" pitchFamily="34" charset="-128"/>
                <a:ea typeface="Arial Unicode MS" pitchFamily="34" charset="-128"/>
              </a:rPr>
              <a:t>3 </a:t>
            </a:r>
            <a:r>
              <a:rPr lang="en-US" altLang="en-US" sz="2400" b="1" smtClean="0">
                <a:latin typeface="Arial Unicode MS" pitchFamily="34" charset="-128"/>
                <a:ea typeface="Arial Unicode MS" pitchFamily="34" charset="-128"/>
              </a:rPr>
              <a:t>features </a:t>
            </a: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of OOP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Structure of class</a:t>
            </a:r>
          </a:p>
          <a:p>
            <a:pPr lvl="2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 Unicode MS" pitchFamily="34" charset="-128"/>
              </a:rPr>
              <a:t>Attributes</a:t>
            </a:r>
          </a:p>
          <a:p>
            <a:pPr lvl="2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 Unicode MS" pitchFamily="34" charset="-128"/>
              </a:rPr>
              <a:t>Methods </a:t>
            </a:r>
          </a:p>
          <a:p>
            <a:pPr lvl="2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 Unicode MS" pitchFamily="34" charset="-128"/>
              </a:rPr>
              <a:t>Construction 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Data abstraction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Encapsulation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Inheritance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Arial Unicode MS" pitchFamily="34" charset="-128"/>
                <a:ea typeface="Arial Unicode MS" pitchFamily="34" charset="-128"/>
              </a:rPr>
              <a:t>Polymorphism</a:t>
            </a:r>
            <a:r>
              <a:rPr lang="en-US" altLang="en-US" sz="2400" b="1" dirty="0">
                <a:latin typeface="Arial Unicode MS" pitchFamily="34" charset="-128"/>
              </a:rPr>
              <a:t> </a:t>
            </a:r>
          </a:p>
        </p:txBody>
      </p:sp>
      <p:sp>
        <p:nvSpPr>
          <p:cNvPr id="6148" name="Slide Number Placeholder 2">
            <a:extLst>
              <a:ext uri="{FF2B5EF4-FFF2-40B4-BE49-F238E27FC236}">
                <a16:creationId xmlns:a16="http://schemas.microsoft.com/office/drawing/2014/main" id="{E78A9343-5B6A-487D-8A8F-F9EFF983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72177C9-9E65-43F8-8097-DC6AFAE57021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860815-EAAD-466E-AE32-98818D04E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/>
              <a:t>OOP concept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2E98B64-F751-49FC-AE0C-5EA4D0FE1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/>
              <a:t>Starting point: All are objects.</a:t>
            </a:r>
          </a:p>
          <a:p>
            <a:pPr lvl="1" algn="l" rtl="0" eaLnBrk="1" hangingPunct="1"/>
            <a:r>
              <a:rPr lang="en-US" altLang="en-US" sz="2000"/>
              <a:t>The real world </a:t>
            </a:r>
            <a:r>
              <a:rPr lang="en-US" altLang="en-US" sz="2000" smtClean="0"/>
              <a:t>are </a:t>
            </a:r>
            <a:r>
              <a:rPr lang="en-US" altLang="en-US" sz="2000"/>
              <a:t>objects</a:t>
            </a:r>
          </a:p>
          <a:p>
            <a:pPr lvl="1" algn="l" rtl="0" eaLnBrk="1" hangingPunct="1"/>
            <a:r>
              <a:rPr lang="en-US" altLang="en-US" sz="2000"/>
              <a:t>Each object has properties and behaviors</a:t>
            </a:r>
          </a:p>
          <a:p>
            <a:pPr lvl="1" algn="l" rtl="0" eaLnBrk="1" hangingPunct="1"/>
            <a:r>
              <a:rPr lang="en-US" altLang="en-US" sz="2000"/>
              <a:t>Objects interact with each other.</a:t>
            </a:r>
          </a:p>
          <a:p>
            <a:pPr algn="l" rtl="0" eaLnBrk="1" hangingPunct="1"/>
            <a:r>
              <a:rPr lang="en-US" altLang="en-US" sz="2400"/>
              <a:t>New ways of thinking to solve </a:t>
            </a:r>
            <a:r>
              <a:rPr lang="en-US" altLang="en-US" sz="2400" smtClean="0"/>
              <a:t>problems </a:t>
            </a:r>
            <a:r>
              <a:rPr lang="en-US" altLang="en-US" sz="2400"/>
              <a:t>on computers</a:t>
            </a:r>
          </a:p>
          <a:p>
            <a:pPr lvl="1" algn="l" rtl="0" eaLnBrk="1" hangingPunct="1"/>
            <a:r>
              <a:rPr lang="en-US" altLang="en-US" sz="2000"/>
              <a:t>adapt the </a:t>
            </a:r>
            <a:r>
              <a:rPr lang="en-US" altLang="en-US" sz="2000" smtClean="0"/>
              <a:t>computer </a:t>
            </a:r>
            <a:r>
              <a:rPr lang="en-US" altLang="en-US" sz="2000"/>
              <a:t>to the problem - instead of describing the problem according to what is familiar to </a:t>
            </a:r>
            <a:r>
              <a:rPr lang="en-US" altLang="en-US" sz="2000" smtClean="0"/>
              <a:t>computer</a:t>
            </a:r>
            <a:r>
              <a:rPr lang="en-US" altLang="en-US" sz="2000"/>
              <a:t>.</a:t>
            </a:r>
          </a:p>
          <a:p>
            <a:pPr lvl="1" algn="l" rtl="0" eaLnBrk="1" hangingPunct="1"/>
            <a:r>
              <a:rPr lang="en-US" altLang="en-US" sz="2000"/>
              <a:t>Replace data structures and data manipulation functions with objects</a:t>
            </a:r>
          </a:p>
          <a:p>
            <a:pPr lvl="1" algn="l" rtl="0" eaLnBrk="1" hangingPunct="1"/>
            <a:r>
              <a:rPr lang="en-US" altLang="en-US" sz="2000"/>
              <a:t>Create a new type of association - stronger between data and data processing functions</a:t>
            </a:r>
          </a:p>
          <a:p>
            <a:pPr lvl="1" algn="l" rtl="0" eaLnBrk="1" hangingPunct="1"/>
            <a:r>
              <a:rPr lang="en-US" altLang="en-US" sz="2000"/>
              <a:t>New way of organizing source code</a:t>
            </a:r>
          </a:p>
        </p:txBody>
      </p:sp>
      <p:sp>
        <p:nvSpPr>
          <p:cNvPr id="8196" name="Slide Number Placeholder 1">
            <a:extLst>
              <a:ext uri="{FF2B5EF4-FFF2-40B4-BE49-F238E27FC236}">
                <a16:creationId xmlns:a16="http://schemas.microsoft.com/office/drawing/2014/main" id="{D8299995-386D-4EDC-8BFE-201F2598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5762151-458E-4396-9895-2E4295596D14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>
            <a:extLst>
              <a:ext uri="{FF2B5EF4-FFF2-40B4-BE49-F238E27FC236}">
                <a16:creationId xmlns:a16="http://schemas.microsoft.com/office/drawing/2014/main" id="{B4FC4D14-91EF-4DCF-8BD3-8812DCE1D8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OOP concept..</a:t>
            </a:r>
          </a:p>
        </p:txBody>
      </p:sp>
      <p:sp>
        <p:nvSpPr>
          <p:cNvPr id="9219" name="Rectangle 1027">
            <a:extLst>
              <a:ext uri="{FF2B5EF4-FFF2-40B4-BE49-F238E27FC236}">
                <a16:creationId xmlns:a16="http://schemas.microsoft.com/office/drawing/2014/main" id="{05C36A99-71D3-4257-B715-192EB93A3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OOP programming is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indicate the objects that </a:t>
            </a:r>
            <a:r>
              <a:rPr lang="en-US" altLang="en-US" sz="2400" smtClean="0">
                <a:ea typeface="Arial Unicode MS" pitchFamily="34" charset="-128"/>
              </a:rPr>
              <a:t>relevant </a:t>
            </a:r>
            <a:r>
              <a:rPr lang="en-US" altLang="en-US" sz="2400">
                <a:ea typeface="Arial Unicode MS" pitchFamily="34" charset="-128"/>
              </a:rPr>
              <a:t>the problem, 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simulate objects with classes, </a:t>
            </a:r>
          </a:p>
          <a:p>
            <a:pPr lvl="1" algn="l" rtl="0" eaLnBrk="1" hangingPunct="1"/>
            <a:r>
              <a:rPr lang="en-US" altLang="en-US" sz="2400" smtClean="0">
                <a:ea typeface="Arial Unicode MS" pitchFamily="34" charset="-128"/>
              </a:rPr>
              <a:t>let </a:t>
            </a:r>
            <a:r>
              <a:rPr lang="en-US" altLang="en-US" sz="2400">
                <a:ea typeface="Arial Unicode MS" pitchFamily="34" charset="-128"/>
              </a:rPr>
              <a:t>objects to interact with each other.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2000">
                <a:ea typeface="Arial Unicode MS" pitchFamily="34" charset="-128"/>
              </a:rPr>
              <a:t>OOP techniques help describe real-world problems into relationships between objects in a programming problem. </a:t>
            </a:r>
          </a:p>
          <a:p>
            <a:pPr lvl="1" algn="l" rtl="0" eaLnBrk="1" hangingPunct="1"/>
            <a:r>
              <a:rPr lang="en-US" altLang="en-US" sz="1800">
                <a:ea typeface="Arial Unicode MS" pitchFamily="34" charset="-128"/>
              </a:rPr>
              <a:t>Tightly associate real-world objects with </a:t>
            </a:r>
            <a:r>
              <a:rPr lang="en-US" altLang="en-US" sz="1800" smtClean="0">
                <a:ea typeface="Arial Unicode MS" pitchFamily="34" charset="-128"/>
              </a:rPr>
              <a:t>programming </a:t>
            </a:r>
            <a:r>
              <a:rPr lang="en-US" altLang="en-US" sz="1800">
                <a:ea typeface="Arial Unicode MS" pitchFamily="34" charset="-128"/>
              </a:rPr>
              <a:t>objects</a:t>
            </a:r>
          </a:p>
          <a:p>
            <a:pPr lvl="1" algn="l" rtl="0" eaLnBrk="1" hangingPunct="1"/>
            <a:r>
              <a:rPr lang="en-US" altLang="en-US" sz="1800">
                <a:ea typeface="Arial Unicode MS" pitchFamily="34" charset="-128"/>
              </a:rPr>
              <a:t>OOP programs are images of objects exchanging information (sending messages). </a:t>
            </a:r>
          </a:p>
          <a:p>
            <a:pPr lvl="1" algn="l" rtl="0" eaLnBrk="1" hangingPunct="1"/>
            <a:r>
              <a:rPr lang="en-US" altLang="en-US" sz="1800" smtClean="0">
                <a:ea typeface="Arial Unicode MS" pitchFamily="34" charset="-128"/>
              </a:rPr>
              <a:t>Way for </a:t>
            </a:r>
            <a:r>
              <a:rPr lang="en-US" altLang="en-US" sz="1800">
                <a:ea typeface="Arial Unicode MS" pitchFamily="34" charset="-128"/>
              </a:rPr>
              <a:t>programmers </a:t>
            </a:r>
            <a:r>
              <a:rPr lang="en-US" altLang="en-US" sz="1800" smtClean="0">
                <a:ea typeface="Arial Unicode MS" pitchFamily="34" charset="-128"/>
              </a:rPr>
              <a:t>to describe </a:t>
            </a:r>
            <a:r>
              <a:rPr lang="en-US" altLang="en-US" sz="1800">
                <a:ea typeface="Arial Unicode MS" pitchFamily="34" charset="-128"/>
              </a:rPr>
              <a:t>the </a:t>
            </a:r>
            <a:r>
              <a:rPr lang="en-US" altLang="en-US" sz="1800" smtClean="0">
                <a:ea typeface="Arial Unicode MS" pitchFamily="34" charset="-128"/>
              </a:rPr>
              <a:t>problem</a:t>
            </a:r>
            <a:r>
              <a:rPr lang="en-US" altLang="en-US" sz="1800">
                <a:ea typeface="Arial Unicode MS" pitchFamily="34" charset="-128"/>
              </a:rPr>
              <a:t>, </a:t>
            </a:r>
            <a:r>
              <a:rPr lang="en-US" altLang="en-US" sz="1800" smtClean="0">
                <a:ea typeface="Arial Unicode MS" pitchFamily="34" charset="-128"/>
              </a:rPr>
              <a:t>solving the problem</a:t>
            </a:r>
            <a:endParaRPr lang="en-US" altLang="en-US" sz="1800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2200">
                <a:ea typeface="Arial Unicode MS" pitchFamily="34" charset="-128"/>
              </a:rPr>
              <a:t>Writing a sales management program, how would you start?</a:t>
            </a:r>
          </a:p>
        </p:txBody>
      </p:sp>
      <p:sp>
        <p:nvSpPr>
          <p:cNvPr id="9220" name="Slide Number Placeholder 1">
            <a:extLst>
              <a:ext uri="{FF2B5EF4-FFF2-40B4-BE49-F238E27FC236}">
                <a16:creationId xmlns:a16="http://schemas.microsoft.com/office/drawing/2014/main" id="{6C163011-095B-4196-ABEB-FA9A62DF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EBC64A4-771C-488D-8221-9470157E380A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A8F8AFB-E050-4FCB-A9D1-A8A806AAF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/>
              <a:t>Advantages of OOP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2E3FB17-83D0-460B-A02E-2C17BC0466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116888" cy="4953000"/>
          </a:xfrm>
        </p:spPr>
        <p:txBody>
          <a:bodyPr/>
          <a:lstStyle/>
          <a:p>
            <a:pPr algn="l" rtl="0" eaLnBrk="1" hangingPunct="1"/>
            <a:r>
              <a:rPr lang="en-US" altLang="en-US" sz="2400"/>
              <a:t>OOP techniques guide the process of analyzing, designing &amp; implementing software projects, using project business concepts &amp; terminology. </a:t>
            </a:r>
          </a:p>
          <a:p>
            <a:pPr lvl="1" algn="l" rtl="0" eaLnBrk="1" hangingPunct="1"/>
            <a:r>
              <a:rPr lang="en-US" altLang="en-US" sz="2000"/>
              <a:t>expressed in a business language instead of a programming language</a:t>
            </a:r>
          </a:p>
          <a:p>
            <a:pPr lvl="1" algn="l" rtl="0" eaLnBrk="1" hangingPunct="1"/>
            <a:r>
              <a:rPr lang="en-US" altLang="en-US" sz="2000"/>
              <a:t>Object-oriented analysis and design</a:t>
            </a:r>
          </a:p>
          <a:p>
            <a:pPr algn="l" rtl="0" eaLnBrk="1" hangingPunct="1"/>
            <a:r>
              <a:rPr lang="en-US" altLang="en-US" sz="2400"/>
              <a:t>Increase programming productivity &amp; efficiency </a:t>
            </a:r>
          </a:p>
          <a:p>
            <a:pPr lvl="1" algn="l" rtl="0" eaLnBrk="1" hangingPunct="1"/>
            <a:r>
              <a:rPr lang="en-US" altLang="en-US" sz="2000" b="1"/>
              <a:t>Reusable code</a:t>
            </a:r>
          </a:p>
          <a:p>
            <a:pPr lvl="1" algn="l" rtl="0" eaLnBrk="1" hangingPunct="1"/>
            <a:r>
              <a:rPr lang="en-US" altLang="en-US" sz="2000" b="1"/>
              <a:t>Ability to edit, upgrade, customize quickly.</a:t>
            </a:r>
          </a:p>
          <a:p>
            <a:pPr lvl="1" algn="l" rtl="0" eaLnBrk="1" hangingPunct="1"/>
            <a:r>
              <a:rPr lang="en-US" altLang="en-US" sz="2000" b="1"/>
              <a:t>Promote sharing of programming </a:t>
            </a:r>
            <a:r>
              <a:rPr lang="en-US" altLang="en-US" sz="2000" b="1" smtClean="0"/>
              <a:t>source  codes</a:t>
            </a:r>
            <a:endParaRPr lang="en-US" altLang="en-US" sz="2000" b="1"/>
          </a:p>
          <a:p>
            <a:pPr algn="l" rtl="0" eaLnBrk="1" hangingPunct="1"/>
            <a:r>
              <a:rPr lang="en-US" altLang="en-US" sz="2400"/>
              <a:t>Ease of isolation &amp; error handling</a:t>
            </a:r>
          </a:p>
          <a:p>
            <a:pPr algn="l" rtl="0" eaLnBrk="1" hangingPunct="1"/>
            <a:r>
              <a:rPr lang="en-US" altLang="en-US" sz="2400"/>
              <a:t>Limit accidental errors caused by random data modification</a:t>
            </a:r>
          </a:p>
          <a:p>
            <a:pPr algn="l" rtl="0" eaLnBrk="1" hangingPunct="1"/>
            <a:endParaRPr lang="en-US" altLang="en-US" sz="2400"/>
          </a:p>
        </p:txBody>
      </p:sp>
      <p:sp>
        <p:nvSpPr>
          <p:cNvPr id="10244" name="Slide Number Placeholder 1">
            <a:extLst>
              <a:ext uri="{FF2B5EF4-FFF2-40B4-BE49-F238E27FC236}">
                <a16:creationId xmlns:a16="http://schemas.microsoft.com/office/drawing/2014/main" id="{B199A7A3-5CA8-4C91-B771-D076E7DF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ABBF766-B148-4AE4-BC86-F015F9751007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0ABA9BE-4E71-4C99-9CF9-010668D1C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mtClean="0"/>
              <a:t>Object </a:t>
            </a:r>
            <a:r>
              <a:rPr lang="en-US" altLang="en-US"/>
              <a:t>- Class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93B89C-CB5B-4F72-BC97-E37572A3F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The components involved in a problem are represented as objects. </a:t>
            </a:r>
          </a:p>
          <a:p>
            <a:pPr lvl="1" algn="l" rtl="0" eaLnBrk="1" hangingPunct="1"/>
            <a:r>
              <a:rPr lang="en-US" altLang="en-US" sz="2000"/>
              <a:t>The object is a black box that hides its internal structure, communicating with the outside by sending &amp; receiving messages.</a:t>
            </a:r>
          </a:p>
          <a:p>
            <a:pPr lvl="1" algn="l" rtl="0" eaLnBrk="1" hangingPunct="1"/>
            <a:r>
              <a:rPr lang="en-US" altLang="en-US" sz="2000"/>
              <a:t>An object is actually a collection of data and operations on that data set.</a:t>
            </a:r>
          </a:p>
          <a:p>
            <a:pPr algn="l" rtl="0" eaLnBrk="1" hangingPunct="1"/>
            <a:r>
              <a:rPr lang="en-US" altLang="en-US" sz="2400"/>
              <a:t>An object </a:t>
            </a:r>
            <a:r>
              <a:rPr lang="en-US" altLang="en-US" sz="2400" smtClean="0"/>
              <a:t>includes:</a:t>
            </a:r>
            <a:endParaRPr lang="en-US" altLang="en-US" sz="2400"/>
          </a:p>
          <a:p>
            <a:pPr lvl="1" algn="l" rtl="0" eaLnBrk="1" hangingPunct="1"/>
            <a:r>
              <a:rPr lang="en-US" altLang="en-US" sz="2000"/>
              <a:t>Attributes: data, information about the object </a:t>
            </a:r>
          </a:p>
          <a:p>
            <a:pPr lvl="1" algn="l" rtl="0" eaLnBrk="1" hangingPunct="1"/>
            <a:r>
              <a:rPr lang="en-US" altLang="en-US" sz="2000"/>
              <a:t>Behaviors: methods, operations that change the properties of the object</a:t>
            </a:r>
          </a:p>
          <a:p>
            <a:pPr algn="l" rtl="0" eaLnBrk="1" hangingPunct="1"/>
            <a:r>
              <a:rPr lang="en-US" altLang="en-US" sz="2400"/>
              <a:t>Objects of the same type are described as </a:t>
            </a:r>
            <a:r>
              <a:rPr lang="en-US" altLang="en-US" sz="2400" smtClean="0"/>
              <a:t>class</a:t>
            </a:r>
            <a:endParaRPr lang="en-US" altLang="en-US" sz="2400"/>
          </a:p>
          <a:p>
            <a:pPr lvl="1" algn="l" rtl="0" eaLnBrk="1" hangingPunct="1"/>
            <a:endParaRPr lang="en-US" altLang="en-US" sz="2000"/>
          </a:p>
        </p:txBody>
      </p:sp>
      <p:sp>
        <p:nvSpPr>
          <p:cNvPr id="11268" name="Slide Number Placeholder 1">
            <a:extLst>
              <a:ext uri="{FF2B5EF4-FFF2-40B4-BE49-F238E27FC236}">
                <a16:creationId xmlns:a16="http://schemas.microsoft.com/office/drawing/2014/main" id="{859CB8AA-6C72-4F6B-BF4A-8EFBA28C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E048478-668A-4493-AC4D-51592E85F67E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CBC43DE-01C0-4E71-B2FE-7D5904512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/>
              <a:t>Class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02BC72F-307B-4581-A5F8-5DB336C6B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116888" cy="5105400"/>
          </a:xfrm>
        </p:spPr>
        <p:txBody>
          <a:bodyPr/>
          <a:lstStyle/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A class is a description of a collection of objects that share the same properties (data) and behavior (method).</a:t>
            </a:r>
          </a:p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Class is actually a data type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defined in accordance with the problem 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not just a unit of storage on a computer</a:t>
            </a:r>
            <a:r>
              <a:rPr lang="en-US" altLang="en-US" sz="2400"/>
              <a:t>.</a:t>
            </a:r>
          </a:p>
          <a:p>
            <a:pPr algn="l" rtl="0" eaLnBrk="1" hangingPunct="1"/>
            <a:r>
              <a:rPr lang="en-US" altLang="en-US" sz="2400"/>
              <a:t>The class is built from the following components: </a:t>
            </a:r>
          </a:p>
          <a:p>
            <a:pPr lvl="1" algn="l" rtl="0" eaLnBrk="1" hangingPunct="1"/>
            <a:r>
              <a:rPr lang="en-US" altLang="en-US" sz="2400"/>
              <a:t>Component data – data member (attribute)</a:t>
            </a:r>
          </a:p>
          <a:p>
            <a:pPr lvl="1" algn="l" rtl="0" eaLnBrk="1" hangingPunct="1"/>
            <a:r>
              <a:rPr lang="en-US" altLang="en-US" sz="2400"/>
              <a:t>Member function – function member (behavior)</a:t>
            </a:r>
          </a:p>
          <a:p>
            <a:pPr algn="l" rtl="0" eaLnBrk="1" hangingPunct="1"/>
            <a:r>
              <a:rPr lang="en-US" altLang="en-US" sz="2400" smtClean="0"/>
              <a:t>Ex: class Fraction: represent fraction</a:t>
            </a:r>
            <a:endParaRPr lang="en-US" altLang="en-US" sz="2800"/>
          </a:p>
          <a:p>
            <a:pPr lvl="1" algn="l" rtl="0" eaLnBrk="1" hangingPunct="1"/>
            <a:r>
              <a:rPr lang="en-US" altLang="en-US" sz="2000"/>
              <a:t>numerator, denominator</a:t>
            </a:r>
          </a:p>
          <a:p>
            <a:pPr lvl="1" algn="l" rtl="0" eaLnBrk="1" hangingPunct="1"/>
            <a:r>
              <a:rPr lang="en-US" altLang="en-US" sz="2000"/>
              <a:t>Add, subtract, multiply, divide, inverse, </a:t>
            </a:r>
            <a:r>
              <a:rPr lang="en-US" altLang="en-US" sz="2000" smtClean="0"/>
              <a:t>simplify fraction</a:t>
            </a:r>
            <a:endParaRPr lang="en-US" altLang="en-US" sz="2000"/>
          </a:p>
        </p:txBody>
      </p:sp>
      <p:sp>
        <p:nvSpPr>
          <p:cNvPr id="12292" name="Slide Number Placeholder 1">
            <a:extLst>
              <a:ext uri="{FF2B5EF4-FFF2-40B4-BE49-F238E27FC236}">
                <a16:creationId xmlns:a16="http://schemas.microsoft.com/office/drawing/2014/main" id="{32BDDC59-84A1-4837-89C2-C37B6733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38628D1D-77CB-4BFD-B275-EA2DFF783AD2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E681541-CE82-4ABA-98B9-FE6D4BFA6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z="3200"/>
              <a:t>Relationship between class and object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ACCE539-46FA-47BE-88F5-9DCD2393A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153400" cy="4564063"/>
          </a:xfrm>
        </p:spPr>
        <p:txBody>
          <a:bodyPr/>
          <a:lstStyle/>
          <a:p>
            <a:pPr algn="l" rtl="0" eaLnBrk="1" hangingPunct="1"/>
            <a:r>
              <a:rPr lang="en-US" altLang="en-US"/>
              <a:t>class defines an entity - while object is that entity</a:t>
            </a:r>
          </a:p>
          <a:p>
            <a:pPr algn="l" rtl="0" eaLnBrk="1" hangingPunct="1"/>
            <a:r>
              <a:rPr lang="en-US" altLang="en-US"/>
              <a:t>class is the template - conceptual model - for objects.</a:t>
            </a:r>
          </a:p>
          <a:p>
            <a:pPr lvl="1" algn="l" rtl="0" eaLnBrk="1" hangingPunct="1"/>
            <a:r>
              <a:rPr lang="en-US" altLang="en-US"/>
              <a:t>All objects of a class share the same characteristics &amp; actions. </a:t>
            </a:r>
          </a:p>
          <a:p>
            <a:pPr algn="l" rtl="0" eaLnBrk="1" hangingPunct="1"/>
            <a:r>
              <a:rPr lang="en-US" altLang="en-US"/>
              <a:t>General – </a:t>
            </a:r>
            <a:r>
              <a:rPr lang="en-US" altLang="en-US" smtClean="0"/>
              <a:t>particular instance</a:t>
            </a:r>
            <a:endParaRPr lang="en-US" altLang="en-US"/>
          </a:p>
          <a:p>
            <a:pPr algn="l" rtl="0" eaLnBrk="1" hangingPunct="1"/>
            <a:r>
              <a:rPr lang="en-US" altLang="en-US"/>
              <a:t>General </a:t>
            </a:r>
            <a:r>
              <a:rPr lang="en-US" altLang="en-US" smtClean="0"/>
              <a:t>– specific thing</a:t>
            </a:r>
            <a:endParaRPr lang="en-US" altLang="en-US"/>
          </a:p>
          <a:p>
            <a:pPr algn="l" rtl="0" eaLnBrk="1" hangingPunct="1"/>
            <a:endParaRPr lang="en-US" altLang="en-US"/>
          </a:p>
        </p:txBody>
      </p:sp>
      <p:sp>
        <p:nvSpPr>
          <p:cNvPr id="13316" name="Slide Number Placeholder 1">
            <a:extLst>
              <a:ext uri="{FF2B5EF4-FFF2-40B4-BE49-F238E27FC236}">
                <a16:creationId xmlns:a16="http://schemas.microsoft.com/office/drawing/2014/main" id="{CBEBF5F7-9B00-4703-A9B0-B99903A9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4132EAE-D9A6-4A4E-9653-31D66C4D40C3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3D72598-180E-449F-99F5-05B759A07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mtClean="0"/>
              <a:t>Object attributes</a:t>
            </a:r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E5DDC3D-7347-4E49-8F6F-D917EF62B4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116888" cy="5029200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Attribute, property, field, data member : nouns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Use nouns to </a:t>
            </a:r>
            <a:r>
              <a:rPr lang="en-US" altLang="en-US" sz="2400" smtClean="0"/>
              <a:t>name attribute.</a:t>
            </a:r>
            <a:endParaRPr lang="en-US" altLang="en-US" sz="240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Store the data of an object.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The value of the data is determined only after the object is created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Are member variables declared inside a class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Shared attributes </a:t>
            </a:r>
            <a:r>
              <a:rPr lang="en-US" altLang="en-US" sz="2800" smtClean="0"/>
              <a:t>between all objects</a:t>
            </a:r>
            <a:endParaRPr lang="en-US" altLang="en-US" sz="28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“School name” of all students in a school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Static variable, class variable: </a:t>
            </a:r>
            <a:r>
              <a:rPr lang="en-US" altLang="en-US" sz="2400" smtClean="0"/>
              <a:t>use static keyword </a:t>
            </a:r>
            <a:endParaRPr lang="en-US" altLang="en-US" sz="240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 smtClean="0"/>
              <a:t>Instance attributes, individual attributes</a:t>
            </a:r>
            <a:endParaRPr lang="en-US" altLang="en-US" sz="28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Student's "Date of Birth</a:t>
            </a:r>
            <a:r>
              <a:rPr lang="en-US" altLang="en-US" sz="2400" smtClean="0"/>
              <a:t>"</a:t>
            </a:r>
            <a:endParaRPr lang="en-US" altLang="en-US" sz="24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smtClean="0"/>
              <a:t>Each object has it own attributes </a:t>
            </a:r>
            <a:endParaRPr lang="en-US" altLang="en-US" sz="2400"/>
          </a:p>
        </p:txBody>
      </p:sp>
      <p:sp>
        <p:nvSpPr>
          <p:cNvPr id="14340" name="Slide Number Placeholder 1">
            <a:extLst>
              <a:ext uri="{FF2B5EF4-FFF2-40B4-BE49-F238E27FC236}">
                <a16:creationId xmlns:a16="http://schemas.microsoft.com/office/drawing/2014/main" id="{153A6DB6-4EB9-4211-97C8-4B5567F7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9D95360-AF52-4311-8566-22F1619C58F3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3EC36A3-00D1-4B21-8D70-B78708E9E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mtClean="0"/>
              <a:t>Object behaviors</a:t>
            </a: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00C50E9-16B7-43B4-B1E4-55ABDA5A1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/>
              <a:t>Behavior, method, function member : verbs</a:t>
            </a:r>
          </a:p>
          <a:p>
            <a:pPr algn="l" rtl="0" eaLnBrk="1" hangingPunct="1"/>
            <a:r>
              <a:rPr lang="en-US" altLang="en-US" sz="2400"/>
              <a:t>Methods, functions, behaviors: </a:t>
            </a:r>
          </a:p>
          <a:p>
            <a:pPr lvl="1" algn="l" rtl="0" eaLnBrk="1" hangingPunct="1"/>
            <a:r>
              <a:rPr lang="en-US" altLang="en-US" sz="2000"/>
              <a:t>use verbs to </a:t>
            </a:r>
            <a:r>
              <a:rPr lang="en-US" altLang="en-US" sz="2000" smtClean="0"/>
              <a:t>name method</a:t>
            </a:r>
            <a:endParaRPr lang="en-US" altLang="en-US" sz="2000"/>
          </a:p>
          <a:p>
            <a:pPr algn="l" rtl="0" eaLnBrk="1" hangingPunct="1"/>
            <a:r>
              <a:rPr lang="en-US" altLang="en-US" sz="2400"/>
              <a:t>A method is </a:t>
            </a:r>
            <a:r>
              <a:rPr lang="en-US" altLang="en-US" sz="2400" smtClean="0"/>
              <a:t>an </a:t>
            </a:r>
            <a:r>
              <a:rPr lang="en-US" altLang="en-US" sz="2400"/>
              <a:t>object's behavior</a:t>
            </a:r>
          </a:p>
          <a:p>
            <a:pPr lvl="1" algn="l" rtl="0" eaLnBrk="1" hangingPunct="1"/>
            <a:r>
              <a:rPr lang="en-US" altLang="en-US" sz="2000"/>
              <a:t>In programming terms, a method is a function</a:t>
            </a:r>
          </a:p>
          <a:p>
            <a:pPr lvl="1" algn="l" rtl="0" eaLnBrk="1" hangingPunct="1"/>
            <a:r>
              <a:rPr lang="en-US" altLang="en-US" sz="2000" smtClean="0"/>
              <a:t>Defines </a:t>
            </a:r>
            <a:r>
              <a:rPr lang="en-US" altLang="en-US" sz="2000"/>
              <a:t>the steps of an action to be performed by the object when the method </a:t>
            </a:r>
            <a:r>
              <a:rPr lang="en-US" altLang="en-US" sz="2000" smtClean="0"/>
              <a:t>invocation </a:t>
            </a:r>
            <a:r>
              <a:rPr lang="en-US" altLang="en-US" sz="2000"/>
              <a:t>is passed to the object.</a:t>
            </a:r>
          </a:p>
          <a:p>
            <a:pPr lvl="1" algn="l" rtl="0" eaLnBrk="1" hangingPunct="1"/>
            <a:r>
              <a:rPr lang="en-US" altLang="en-US" sz="2000"/>
              <a:t>A way to change the </a:t>
            </a:r>
            <a:r>
              <a:rPr lang="en-US" altLang="en-US" sz="2000" smtClean="0"/>
              <a:t>status - instance variables- </a:t>
            </a:r>
            <a:r>
              <a:rPr lang="en-US" altLang="en-US" sz="2000"/>
              <a:t>of an object.</a:t>
            </a:r>
          </a:p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Method</a:t>
            </a:r>
            <a:r>
              <a:rPr lang="en-US" altLang="en-US" sz="2400"/>
              <a:t> define the interface of an object</a:t>
            </a:r>
          </a:p>
          <a:p>
            <a:pPr lvl="1" algn="l" rtl="0" eaLnBrk="1" hangingPunct="1"/>
            <a:r>
              <a:rPr lang="en-US" altLang="en-US" sz="2000"/>
              <a:t>"send a message to the object"</a:t>
            </a:r>
          </a:p>
          <a:p>
            <a:pPr lvl="1" algn="l" rtl="0" eaLnBrk="1" hangingPunct="1"/>
            <a:r>
              <a:rPr lang="en-US" altLang="en-US" sz="2000" smtClean="0"/>
              <a:t>Ways for objects comunication</a:t>
            </a:r>
            <a:endParaRPr lang="en-US" altLang="en-US" sz="2000"/>
          </a:p>
        </p:txBody>
      </p:sp>
      <p:sp>
        <p:nvSpPr>
          <p:cNvPr id="15364" name="Slide Number Placeholder 1">
            <a:extLst>
              <a:ext uri="{FF2B5EF4-FFF2-40B4-BE49-F238E27FC236}">
                <a16:creationId xmlns:a16="http://schemas.microsoft.com/office/drawing/2014/main" id="{8B90E213-7FFC-4155-B577-394D42AD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483B3DF-C927-4B51-94AD-0D6C11CC3CFA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A88E851-7AB4-4E87-9CB3-068FAD463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/>
              <a:t>Data abstraction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E975CA4-D10A-43A3-BD81-C166B4BD72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153400" cy="4564063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 b="1"/>
              <a:t>Data abstraction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The process of identifying objects with properties and behaviors that are appropriate </a:t>
            </a:r>
            <a:r>
              <a:rPr lang="en-US" altLang="en-US" sz="2400" smtClean="0"/>
              <a:t>with </a:t>
            </a:r>
            <a:r>
              <a:rPr lang="en-US" altLang="en-US" sz="2400"/>
              <a:t>the problem being solved.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One of the challenges of OOP is to create a one-to-one mapping between the elements of the real problem and the objects in the programming problem.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Design class diagrams of objects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Creating abstract data types </a:t>
            </a:r>
            <a:r>
              <a:rPr lang="en-US" altLang="en-US" sz="2400" smtClean="0">
                <a:ea typeface="Arial Unicode MS" pitchFamily="34" charset="-128"/>
              </a:rPr>
              <a:t>(</a:t>
            </a:r>
            <a:r>
              <a:rPr lang="en-US" altLang="en-US" sz="2400">
                <a:ea typeface="Arial Unicode MS" pitchFamily="34" charset="-128"/>
              </a:rPr>
              <a:t>classes) - is </a:t>
            </a:r>
            <a:r>
              <a:rPr lang="en-US" altLang="en-US" sz="2400" smtClean="0">
                <a:ea typeface="Arial Unicode MS" pitchFamily="34" charset="-128"/>
              </a:rPr>
              <a:t>the </a:t>
            </a:r>
            <a:r>
              <a:rPr lang="en-US" altLang="en-US" sz="2400">
                <a:ea typeface="Arial Unicode MS" pitchFamily="34" charset="-128"/>
              </a:rPr>
              <a:t>fundamental </a:t>
            </a:r>
            <a:r>
              <a:rPr lang="en-US" altLang="en-US" sz="2400" smtClean="0">
                <a:ea typeface="Arial Unicode MS" pitchFamily="34" charset="-128"/>
              </a:rPr>
              <a:t>issue </a:t>
            </a:r>
            <a:r>
              <a:rPr lang="en-US" altLang="en-US" sz="2400">
                <a:ea typeface="Arial Unicode MS" pitchFamily="34" charset="-128"/>
              </a:rPr>
              <a:t>of OOP.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The abstract model simplifies the real-world problem but must accurately reflect the real world in order to be able to use the model for predicting real-world behaviour.</a:t>
            </a:r>
          </a:p>
        </p:txBody>
      </p:sp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E4173CB6-C42F-4F62-B5A1-71D19937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678E9D5-4FB6-478F-A76E-FF71AB694E47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0A237E0-5D72-4277-BF71-75BE5750F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Data abstraction..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F8A252D-6ED4-46C9-A3EB-04606486D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 eaLnBrk="1" hangingPunct="1">
              <a:defRPr/>
            </a:pPr>
            <a:r>
              <a:rPr lang="en-US" altLang="en-US" sz="2400"/>
              <a:t>Advantages of data abstraction:</a:t>
            </a:r>
          </a:p>
          <a:p>
            <a:pPr lvl="1" algn="l" rtl="0" eaLnBrk="1" hangingPunct="1">
              <a:defRPr/>
            </a:pPr>
            <a:r>
              <a:rPr lang="en-US" altLang="en-US" sz="2000"/>
              <a:t>Identify and focus on the problem at hand</a:t>
            </a:r>
          </a:p>
          <a:p>
            <a:pPr lvl="1" algn="l" rtl="0" eaLnBrk="1" hangingPunct="1">
              <a:defRPr/>
            </a:pPr>
            <a:r>
              <a:rPr lang="en-US" altLang="en-US" sz="2000"/>
              <a:t>Get rid of uninteresting details</a:t>
            </a:r>
          </a:p>
          <a:p>
            <a:pPr algn="l" rtl="0" eaLnBrk="1" hangingPunct="1">
              <a:defRPr/>
            </a:pPr>
            <a: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Data abstraction method: </a:t>
            </a:r>
            <a:b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3 questions to answer:</a:t>
            </a:r>
          </a:p>
          <a:p>
            <a:pPr lvl="1" algn="l" rtl="0" eaLnBrk="1" hangingPunct="1">
              <a:defRPr/>
            </a:pPr>
            <a:r>
              <a:rPr lang="en-US" altLang="en-US"/>
              <a:t>What are the objects? </a:t>
            </a:r>
          </a:p>
          <a:p>
            <a:pPr lvl="2" algn="l" rtl="0" eaLnBrk="1" hangingPunct="1">
              <a:defRPr/>
            </a:pPr>
            <a:r>
              <a:rPr lang="en-US" altLang="en-US"/>
              <a:t>How to decompose a problem into objects</a:t>
            </a:r>
          </a:p>
          <a:p>
            <a:pPr lvl="1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What are their interfaces? </a:t>
            </a:r>
          </a:p>
          <a:p>
            <a:pPr lvl="2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What kind of information, what messages will objects exchange?</a:t>
            </a:r>
            <a:r>
              <a:rPr lang="en-US" altLang="en-US"/>
              <a:t> </a:t>
            </a:r>
          </a:p>
          <a:p>
            <a:pPr lvl="1" algn="l" rtl="0" eaLnBrk="1" hangingPunct="1">
              <a:defRPr/>
            </a:pPr>
            <a:r>
              <a:rPr lang="en-US" altLang="en-US"/>
              <a:t>What properties are concerned?</a:t>
            </a:r>
          </a:p>
          <a:p>
            <a:pPr lvl="2" algn="l" rtl="0" eaLnBrk="1" hangingPunct="1">
              <a:defRPr/>
            </a:pPr>
            <a:r>
              <a:rPr lang="en-US" altLang="en-US"/>
              <a:t>What kind of data are we interested in? 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A9A4894-66FC-4C12-8101-BBBD8ED9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0397632A-25F2-4FEC-8B7C-FACD8CC285CA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6429546C-D2A9-4071-8D6B-7A25424DA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Class diagram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F0F3D5D2-507E-4647-BBC0-C73307DA3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524000"/>
            <a:ext cx="4114800" cy="4343400"/>
          </a:xfrm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rtl="0"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Fraction</a:t>
            </a:r>
            <a:endParaRPr lang="en-US" altLang="en-US" sz="2400"/>
          </a:p>
          <a:p>
            <a:pPr algn="l" rtl="0" eaLnBrk="1" hangingPunct="1">
              <a:buFontTx/>
              <a:buChar char="•"/>
            </a:pPr>
            <a:r>
              <a:rPr lang="en-US" altLang="en-US" sz="2400"/>
              <a:t>int </a:t>
            </a:r>
            <a:r>
              <a:rPr lang="en-US" altLang="en-US" sz="2400" smtClean="0"/>
              <a:t>nominator;</a:t>
            </a:r>
            <a:endParaRPr lang="en-US" altLang="en-US" sz="2400"/>
          </a:p>
          <a:p>
            <a:pPr algn="l" rtl="0" eaLnBrk="1" hangingPunct="1">
              <a:buFontTx/>
              <a:buChar char="•"/>
            </a:pPr>
            <a:r>
              <a:rPr lang="en-US" altLang="en-US" sz="2400"/>
              <a:t>i</a:t>
            </a:r>
            <a:r>
              <a:rPr lang="en-US" altLang="en-US" sz="2400" smtClean="0"/>
              <a:t>nt denominator;</a:t>
            </a:r>
          </a:p>
          <a:p>
            <a:pPr algn="l" rtl="0" eaLnBrk="1" hangingPunct="1">
              <a:buSzTx/>
              <a:buFontTx/>
              <a:buChar char="+"/>
            </a:pPr>
            <a:r>
              <a:rPr lang="en-US" altLang="en-US" sz="2400" smtClean="0"/>
              <a:t>Fraction()</a:t>
            </a:r>
          </a:p>
          <a:p>
            <a:pPr algn="l" rtl="0" eaLnBrk="1" hangingPunct="1">
              <a:buSzTx/>
              <a:buFontTx/>
              <a:buChar char="+"/>
            </a:pPr>
            <a:r>
              <a:rPr lang="en-US" altLang="en-US" sz="2400" smtClean="0"/>
              <a:t>Fraction(int </a:t>
            </a:r>
            <a:r>
              <a:rPr lang="en-US" altLang="en-US" sz="2400"/>
              <a:t>a, int b)</a:t>
            </a:r>
          </a:p>
          <a:p>
            <a:pPr algn="l" rtl="0" eaLnBrk="1" hangingPunct="1">
              <a:buSzTx/>
              <a:buFontTx/>
              <a:buChar char="+"/>
            </a:pPr>
            <a:r>
              <a:rPr lang="en-US" altLang="en-US" sz="2400"/>
              <a:t>double valueOf()</a:t>
            </a:r>
          </a:p>
          <a:p>
            <a:pPr algn="l" rtl="0" eaLnBrk="1" hangingPunct="1">
              <a:buSzTx/>
              <a:buFontTx/>
              <a:buChar char="+"/>
            </a:pPr>
            <a:r>
              <a:rPr lang="en-US" altLang="en-US" sz="2400" smtClean="0"/>
              <a:t>Fraction </a:t>
            </a:r>
            <a:r>
              <a:rPr lang="en-US" altLang="en-US" sz="2400"/>
              <a:t>simplify()</a:t>
            </a:r>
          </a:p>
          <a:p>
            <a:pPr algn="l" rtl="0" eaLnBrk="1" hangingPunct="1">
              <a:buSzTx/>
              <a:buFontTx/>
              <a:buChar char="+"/>
            </a:pPr>
            <a:r>
              <a:rPr lang="en-US" altLang="en-US" sz="2400" smtClean="0"/>
              <a:t>Fraction add(</a:t>
            </a:r>
            <a:r>
              <a:rPr lang="en-US" altLang="en-US" sz="1800" smtClean="0"/>
              <a:t>Fraction </a:t>
            </a:r>
            <a:r>
              <a:rPr lang="en-US" altLang="en-US" sz="1800"/>
              <a:t>x)</a:t>
            </a:r>
          </a:p>
          <a:p>
            <a:pPr algn="l" rtl="0" eaLnBrk="1" hangingPunct="1">
              <a:buSzTx/>
              <a:buFontTx/>
              <a:buChar char="+"/>
            </a:pPr>
            <a:r>
              <a:rPr lang="en-US" altLang="en-US" sz="1800"/>
              <a:t>..</a:t>
            </a:r>
          </a:p>
        </p:txBody>
      </p:sp>
      <p:sp>
        <p:nvSpPr>
          <p:cNvPr id="18436" name="Line 1028">
            <a:extLst>
              <a:ext uri="{FF2B5EF4-FFF2-40B4-BE49-F238E27FC236}">
                <a16:creationId xmlns:a16="http://schemas.microsoft.com/office/drawing/2014/main" id="{145F27A7-24EF-41E1-9061-5DC16A5A4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930400"/>
            <a:ext cx="411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rtl="0"/>
            <a:endParaRPr lang="en-AU"/>
          </a:p>
        </p:txBody>
      </p:sp>
      <p:sp>
        <p:nvSpPr>
          <p:cNvPr id="18437" name="Line 1029">
            <a:extLst>
              <a:ext uri="{FF2B5EF4-FFF2-40B4-BE49-F238E27FC236}">
                <a16:creationId xmlns:a16="http://schemas.microsoft.com/office/drawing/2014/main" id="{20D29425-8189-4DBE-A40E-D17EA0A7D8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859088"/>
            <a:ext cx="411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rtl="0"/>
            <a:endParaRPr lang="en-AU"/>
          </a:p>
        </p:txBody>
      </p:sp>
      <p:sp>
        <p:nvSpPr>
          <p:cNvPr id="18438" name="AutoShape 1030">
            <a:extLst>
              <a:ext uri="{FF2B5EF4-FFF2-40B4-BE49-F238E27FC236}">
                <a16:creationId xmlns:a16="http://schemas.microsoft.com/office/drawing/2014/main" id="{B3196C01-147D-484E-9329-F20B0BB91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663700"/>
            <a:ext cx="2057400" cy="533400"/>
          </a:xfrm>
          <a:prstGeom prst="wedgeEllipseCallout">
            <a:avLst>
              <a:gd name="adj1" fmla="val -63949"/>
              <a:gd name="adj2" fmla="val -3125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Class name</a:t>
            </a:r>
          </a:p>
        </p:txBody>
      </p:sp>
      <p:sp>
        <p:nvSpPr>
          <p:cNvPr id="18439" name="AutoShape 1031">
            <a:extLst>
              <a:ext uri="{FF2B5EF4-FFF2-40B4-BE49-F238E27FC236}">
                <a16:creationId xmlns:a16="http://schemas.microsoft.com/office/drawing/2014/main" id="{81C0DA9E-6DD8-4B84-A4AE-9588DF8A0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368550"/>
            <a:ext cx="1752600" cy="533400"/>
          </a:xfrm>
          <a:prstGeom prst="wedgeEllipseCallout">
            <a:avLst>
              <a:gd name="adj1" fmla="val -63949"/>
              <a:gd name="adj2" fmla="val -3125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Data</a:t>
            </a:r>
          </a:p>
        </p:txBody>
      </p:sp>
      <p:sp>
        <p:nvSpPr>
          <p:cNvPr id="18440" name="AutoShape 1032">
            <a:extLst>
              <a:ext uri="{FF2B5EF4-FFF2-40B4-BE49-F238E27FC236}">
                <a16:creationId xmlns:a16="http://schemas.microsoft.com/office/drawing/2014/main" id="{4609BC2B-5FF0-44F6-B79D-138BD9AD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38600"/>
            <a:ext cx="2286000" cy="838200"/>
          </a:xfrm>
          <a:prstGeom prst="wedgeEllipseCallout">
            <a:avLst>
              <a:gd name="adj1" fmla="val -60694"/>
              <a:gd name="adj2" fmla="val -3125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Unicode MS" pitchFamily="34" charset="-128"/>
              </a:rPr>
              <a:t>Method</a:t>
            </a:r>
          </a:p>
        </p:txBody>
      </p:sp>
      <p:sp>
        <p:nvSpPr>
          <p:cNvPr id="18441" name="Slide Number Placeholder 1">
            <a:extLst>
              <a:ext uri="{FF2B5EF4-FFF2-40B4-BE49-F238E27FC236}">
                <a16:creationId xmlns:a16="http://schemas.microsoft.com/office/drawing/2014/main" id="{43424805-E620-40DE-862D-312070F8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8605275-4720-4F5A-95C8-6D931484AAE0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>
              <a:latin typeface="Arial Unicode MS" pitchFamily="34" charset="-128"/>
            </a:endParaRPr>
          </a:p>
        </p:txBody>
      </p:sp>
      <p:sp>
        <p:nvSpPr>
          <p:cNvPr id="3" name="Cloud Callout 2"/>
          <p:cNvSpPr/>
          <p:nvPr/>
        </p:nvSpPr>
        <p:spPr bwMode="auto">
          <a:xfrm>
            <a:off x="5410200" y="4876800"/>
            <a:ext cx="1981200" cy="990600"/>
          </a:xfrm>
          <a:prstGeom prst="cloudCallout">
            <a:avLst>
              <a:gd name="adj1" fmla="val -88297"/>
              <a:gd name="adj2" fmla="val -3709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smtClean="0">
                <a:latin typeface="Arial" pitchFamily="34" charset="0"/>
              </a:rPr>
              <a:t>Why 1 argument?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C2B619D-8624-4186-999D-539A909B4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Class </a:t>
            </a:r>
            <a:r>
              <a:rPr lang="en-US" altLang="en-US" smtClean="0"/>
              <a:t>definition - syntax</a:t>
            </a:r>
            <a:endParaRPr lang="en-US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361B0B0-3E4E-4350-B0BE-0E5446F1FE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/>
              <a:t>class </a:t>
            </a:r>
            <a:r>
              <a:rPr lang="en-US" altLang="en-US" smtClean="0"/>
              <a:t>ClassName </a:t>
            </a:r>
            <a:r>
              <a:rPr lang="en-US" altLang="en-US"/>
              <a:t>{</a:t>
            </a:r>
            <a:br>
              <a:rPr lang="en-US" altLang="en-US"/>
            </a:br>
            <a:r>
              <a:rPr lang="en-US" altLang="en-US"/>
              <a:t> </a:t>
            </a:r>
            <a:r>
              <a:rPr lang="en-US" altLang="en-US" sz="2800"/>
              <a:t>//</a:t>
            </a:r>
            <a:r>
              <a:rPr lang="en-US" altLang="en-US" sz="2800" smtClean="0"/>
              <a:t>declare data member: variables, </a:t>
            </a:r>
            <a:r>
              <a:rPr lang="en-US" altLang="en-US" sz="2800"/>
              <a:t>properties</a:t>
            </a:r>
            <a:br>
              <a:rPr lang="en-US" altLang="en-US" sz="2800"/>
            </a:br>
            <a:r>
              <a:rPr lang="en-US" altLang="en-US" sz="2800"/>
              <a:t> //declare </a:t>
            </a:r>
            <a:r>
              <a:rPr lang="en-US" altLang="en-US" sz="2800" smtClean="0"/>
              <a:t>function member: function, </a:t>
            </a:r>
            <a:r>
              <a:rPr lang="en-US" altLang="en-US" sz="2800"/>
              <a:t>behavior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}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000"/>
              <a:t>class </a:t>
            </a:r>
            <a:r>
              <a:rPr lang="en-US" altLang="en-US" sz="2000" smtClean="0"/>
              <a:t>Fraction </a:t>
            </a:r>
            <a:r>
              <a:rPr lang="en-US" altLang="en-US" sz="2000"/>
              <a:t>{</a:t>
            </a:r>
            <a:br>
              <a:rPr lang="en-US" altLang="en-US" sz="2000"/>
            </a:br>
            <a:r>
              <a:rPr lang="en-US" altLang="en-US" sz="2000" smtClean="0"/>
              <a:t> private </a:t>
            </a:r>
            <a:r>
              <a:rPr lang="en-US" altLang="en-US" sz="2000"/>
              <a:t>int </a:t>
            </a:r>
            <a:r>
              <a:rPr lang="en-US" altLang="en-US" sz="2000" smtClean="0"/>
              <a:t>nom, denom; // instance </a:t>
            </a:r>
            <a:r>
              <a:rPr lang="en-US" altLang="en-US" sz="2000"/>
              <a:t>variable</a:t>
            </a:r>
            <a:br>
              <a:rPr lang="en-US" altLang="en-US" sz="2000"/>
            </a:br>
            <a:r>
              <a:rPr lang="en-US" altLang="en-US" sz="2000"/>
              <a:t> public </a:t>
            </a:r>
            <a:r>
              <a:rPr lang="en-US" altLang="en-US" sz="2000" smtClean="0"/>
              <a:t>Fraction(int </a:t>
            </a:r>
            <a:r>
              <a:rPr lang="en-US" altLang="en-US" sz="2000"/>
              <a:t>t,m) { // </a:t>
            </a:r>
            <a:r>
              <a:rPr lang="en-US" altLang="en-US" sz="2000" smtClean="0"/>
              <a:t>constructor</a:t>
            </a:r>
            <a:r>
              <a:rPr lang="en-US" altLang="en-US" sz="2000"/>
              <a:t/>
            </a:r>
            <a:br>
              <a:rPr lang="en-US" altLang="en-US" sz="2000"/>
            </a:br>
            <a:r>
              <a:rPr lang="en-US" altLang="en-US" sz="2000" smtClean="0"/>
              <a:t>   nom=t</a:t>
            </a:r>
            <a:r>
              <a:rPr lang="en-US" altLang="en-US" sz="2000"/>
              <a:t>; </a:t>
            </a:r>
            <a:r>
              <a:rPr lang="en-US" altLang="en-US" sz="2000" smtClean="0"/>
              <a:t>denom=m</a:t>
            </a:r>
            <a:r>
              <a:rPr lang="en-US" altLang="en-US" sz="2000"/>
              <a:t>;</a:t>
            </a:r>
            <a:br>
              <a:rPr lang="en-US" altLang="en-US" sz="2000"/>
            </a:br>
            <a:r>
              <a:rPr lang="en-US" altLang="en-US" sz="2000"/>
              <a:t> }</a:t>
            </a:r>
            <a:br>
              <a:rPr lang="en-US" altLang="en-US" sz="2000"/>
            </a:br>
            <a:r>
              <a:rPr lang="en-US" altLang="en-US" sz="2000"/>
              <a:t> public </a:t>
            </a:r>
            <a:r>
              <a:rPr lang="en-US" altLang="en-US" sz="2000" smtClean="0"/>
              <a:t>Fraction </a:t>
            </a:r>
            <a:r>
              <a:rPr lang="en-US" altLang="en-US" sz="2000"/>
              <a:t>simplify() { </a:t>
            </a:r>
            <a:r>
              <a:rPr lang="en-US" altLang="en-US" sz="2000" smtClean="0"/>
              <a:t>//</a:t>
            </a:r>
            <a:r>
              <a:rPr lang="en-US" altLang="en-US" sz="1800" smtClean="0"/>
              <a:t>returns </a:t>
            </a:r>
            <a:r>
              <a:rPr lang="en-US" altLang="en-US" sz="1800"/>
              <a:t>fraction after simplification</a:t>
            </a:r>
            <a:r>
              <a:rPr lang="en-US" altLang="en-US" sz="2000"/>
              <a:t/>
            </a:r>
            <a:br>
              <a:rPr lang="en-US" altLang="en-US" sz="2000"/>
            </a:br>
            <a:r>
              <a:rPr lang="en-US" altLang="en-US" sz="2000"/>
              <a:t> </a:t>
            </a:r>
            <a:r>
              <a:rPr lang="en-US" altLang="en-US" sz="2000" smtClean="0"/>
              <a:t>    // code to simplify a fraction</a:t>
            </a:r>
            <a:r>
              <a:rPr lang="en-US" altLang="en-US" sz="2000"/>
              <a:t/>
            </a:r>
            <a:br>
              <a:rPr lang="en-US" altLang="en-US" sz="2000"/>
            </a:br>
            <a:r>
              <a:rPr lang="en-US" altLang="en-US" sz="2000"/>
              <a:t> </a:t>
            </a:r>
            <a:r>
              <a:rPr lang="en-US" altLang="en-US" sz="2000" smtClean="0"/>
              <a:t>    return </a:t>
            </a:r>
            <a:r>
              <a:rPr lang="en-US" altLang="en-US" sz="2000"/>
              <a:t>this;</a:t>
            </a:r>
            <a:br>
              <a:rPr lang="en-US" altLang="en-US" sz="2000"/>
            </a:br>
            <a:r>
              <a:rPr lang="en-US" altLang="en-US" sz="2000"/>
              <a:t> }</a:t>
            </a:r>
            <a:br>
              <a:rPr lang="en-US" altLang="en-US" sz="2000"/>
            </a:br>
            <a:r>
              <a:rPr lang="en-US" altLang="en-US" sz="2000"/>
              <a:t>}</a:t>
            </a:r>
          </a:p>
        </p:txBody>
      </p:sp>
      <p:sp>
        <p:nvSpPr>
          <p:cNvPr id="19460" name="Slide Number Placeholder 1">
            <a:extLst>
              <a:ext uri="{FF2B5EF4-FFF2-40B4-BE49-F238E27FC236}">
                <a16:creationId xmlns:a16="http://schemas.microsoft.com/office/drawing/2014/main" id="{53D87021-FEF0-47D3-9963-1C1BFDF3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210AC89F-357A-468C-914C-6BD6EA998DFC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BB24CD5-74D5-4031-A2D4-9145828F2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Class </a:t>
            </a:r>
            <a:r>
              <a:rPr lang="en-US" altLang="en-US" smtClean="0"/>
              <a:t>definition</a:t>
            </a:r>
            <a:endParaRPr lang="en-US" altLang="en-US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8BB0CC3-2F4E-49A9-ADA9-932C19C7A6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3000"/>
              <a:t>Components of </a:t>
            </a:r>
            <a:r>
              <a:rPr lang="en-US" altLang="en-US" sz="3000" smtClean="0"/>
              <a:t>class</a:t>
            </a:r>
            <a:endParaRPr lang="en-US" altLang="en-US" sz="3000"/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200" smtClean="0"/>
              <a:t>Data member : 2 types </a:t>
            </a:r>
            <a:r>
              <a:rPr lang="en-US" altLang="en-US" sz="2200"/>
              <a:t/>
            </a:r>
            <a:br>
              <a:rPr lang="en-US" altLang="en-US" sz="2200"/>
            </a:br>
            <a:r>
              <a:rPr lang="en-US" altLang="en-US" sz="2200"/>
              <a:t>+ instance variable – the unique properties of each </a:t>
            </a:r>
            <a:r>
              <a:rPr lang="en-US" altLang="en-US" sz="2200" smtClean="0"/>
              <a:t>object</a:t>
            </a:r>
            <a:r>
              <a:rPr lang="en-US" altLang="en-US" sz="2200"/>
              <a:t/>
            </a:r>
            <a:br>
              <a:rPr lang="en-US" altLang="en-US" sz="2200"/>
            </a:br>
            <a:r>
              <a:rPr lang="en-US" altLang="en-US" sz="2200"/>
              <a:t>+ static </a:t>
            </a:r>
            <a:r>
              <a:rPr lang="en-US" altLang="en-US" sz="2200" smtClean="0"/>
              <a:t>variable </a:t>
            </a:r>
            <a:r>
              <a:rPr lang="en-US" altLang="en-US" sz="2200"/>
              <a:t>– </a:t>
            </a:r>
            <a:r>
              <a:rPr lang="en-US" altLang="en-US" sz="2200" smtClean="0"/>
              <a:t>common properties for </a:t>
            </a:r>
            <a:r>
              <a:rPr lang="en-US" altLang="en-US" sz="2200"/>
              <a:t>all </a:t>
            </a:r>
            <a:r>
              <a:rPr lang="en-US" altLang="en-US" sz="2200" smtClean="0"/>
              <a:t>objects </a:t>
            </a:r>
            <a:endParaRPr lang="en-US" altLang="en-US" sz="2200"/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200" smtClean="0"/>
              <a:t>Function members: 3 types</a:t>
            </a:r>
            <a:r>
              <a:rPr lang="en-US" altLang="en-US" sz="2200"/>
              <a:t/>
            </a:r>
            <a:br>
              <a:rPr lang="en-US" altLang="en-US" sz="2200"/>
            </a:br>
            <a:r>
              <a:rPr lang="en-US" altLang="en-US" sz="2200"/>
              <a:t>+ Constructor</a:t>
            </a:r>
            <a:br>
              <a:rPr lang="en-US" altLang="en-US" sz="2200"/>
            </a:br>
            <a:r>
              <a:rPr lang="en-US" altLang="en-US" sz="2200"/>
              <a:t>+ Method - the behavior of the object</a:t>
            </a:r>
            <a:br>
              <a:rPr lang="en-US" altLang="en-US" sz="2200"/>
            </a:br>
            <a:r>
              <a:rPr lang="en-US" altLang="en-US" sz="2200"/>
              <a:t>+ </a:t>
            </a:r>
            <a:r>
              <a:rPr lang="en-US" altLang="en-US" sz="2200" smtClean="0"/>
              <a:t>Static function – library function, independent with all objects</a:t>
            </a:r>
            <a:endParaRPr lang="en-US" altLang="en-US" sz="2200"/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600" smtClean="0"/>
              <a:t>class </a:t>
            </a:r>
            <a:r>
              <a:rPr lang="en-US" altLang="en-US" sz="2600"/>
              <a:t>variables and functions declared after the static . keyword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1900" smtClean="0"/>
              <a:t>Ex: schoolName </a:t>
            </a:r>
            <a:r>
              <a:rPr lang="en-US" altLang="en-US" sz="1900"/>
              <a:t>is a common attribute for all students of a </a:t>
            </a:r>
            <a:r>
              <a:rPr lang="en-US" altLang="en-US" sz="1900" smtClean="0"/>
              <a:t>school </a:t>
            </a:r>
            <a:r>
              <a:rPr lang="en-US" altLang="en-US" sz="1900"/>
              <a:t>– static var.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1900" smtClean="0"/>
              <a:t>studentID, fullName</a:t>
            </a:r>
            <a:r>
              <a:rPr lang="en-US" altLang="en-US" sz="1900"/>
              <a:t>, </a:t>
            </a:r>
            <a:r>
              <a:rPr lang="en-US" altLang="en-US" sz="1900" smtClean="0"/>
              <a:t>dateOfBirth </a:t>
            </a:r>
            <a:r>
              <a:rPr lang="en-US" altLang="en-US" sz="1900"/>
              <a:t>are unique properties of each </a:t>
            </a:r>
            <a:r>
              <a:rPr lang="en-US" altLang="en-US" sz="1900" smtClean="0"/>
              <a:t>student </a:t>
            </a:r>
            <a:r>
              <a:rPr lang="en-US" altLang="en-US" sz="1900"/>
              <a:t>– instance var.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600"/>
              <a:t>class Student {</a:t>
            </a:r>
            <a:br>
              <a:rPr lang="en-US" altLang="en-US" sz="2600"/>
            </a:br>
            <a:r>
              <a:rPr lang="en-US" altLang="en-US" sz="2600"/>
              <a:t> String </a:t>
            </a:r>
            <a:r>
              <a:rPr lang="en-US" altLang="en-US" sz="2600" smtClean="0"/>
              <a:t>studentID</a:t>
            </a:r>
            <a:r>
              <a:rPr lang="en-US" altLang="en-US" sz="2600"/>
              <a:t>, fullName;</a:t>
            </a:r>
            <a:br>
              <a:rPr lang="en-US" altLang="en-US" sz="2600"/>
            </a:br>
            <a:r>
              <a:rPr lang="en-US" altLang="en-US" sz="2600"/>
              <a:t> Date dob;</a:t>
            </a:r>
            <a:br>
              <a:rPr lang="en-US" altLang="en-US" sz="2600"/>
            </a:br>
            <a:r>
              <a:rPr lang="en-US" altLang="en-US" sz="2600"/>
              <a:t> static String schoolName</a:t>
            </a:r>
            <a:r>
              <a:rPr lang="en-US" altLang="en-US" sz="2600" smtClean="0"/>
              <a:t>;</a:t>
            </a:r>
            <a:br>
              <a:rPr lang="en-US" altLang="en-US" sz="2600" smtClean="0"/>
            </a:br>
            <a:r>
              <a:rPr lang="en-US" altLang="en-US" sz="2600" smtClean="0"/>
              <a:t> //…</a:t>
            </a:r>
            <a:r>
              <a:rPr lang="en-US" altLang="en-US" sz="2600"/>
              <a:t/>
            </a:r>
            <a:br>
              <a:rPr lang="en-US" altLang="en-US" sz="2600"/>
            </a:br>
            <a:r>
              <a:rPr lang="en-US" altLang="en-US" sz="2600"/>
              <a:t>}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9689F17-FE5C-4A2F-8EEE-E0B2F960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B618DBC-8AFD-43FF-A375-D529DDA84DF8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3055F02-9CFD-4595-93E9-CD27486C8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mtClean="0"/>
              <a:t>Constructor</a:t>
            </a:r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8DF75EF-B6F4-42FF-9F2B-CAC516561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153400" cy="5105400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000"/>
              <a:t>A special </a:t>
            </a:r>
            <a:r>
              <a:rPr lang="en-US" altLang="en-US" sz="2000" smtClean="0"/>
              <a:t>method for object initialization of </a:t>
            </a:r>
            <a:r>
              <a:rPr lang="en-US" altLang="en-US" sz="2000"/>
              <a:t>a class.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/>
              <a:t>allocate memory for </a:t>
            </a:r>
            <a:r>
              <a:rPr lang="en-US" altLang="en-US" sz="1800" smtClean="0"/>
              <a:t>data members</a:t>
            </a:r>
            <a:endParaRPr lang="en-US" altLang="en-US" sz="18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/>
              <a:t>initialize the object's </a:t>
            </a:r>
            <a:r>
              <a:rPr lang="en-US" altLang="en-US" sz="1800" smtClean="0"/>
              <a:t>data members</a:t>
            </a:r>
            <a:endParaRPr lang="en-US" altLang="en-US" sz="18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smtClean="0"/>
              <a:t>Being called </a:t>
            </a:r>
            <a:r>
              <a:rPr lang="en-US" altLang="en-US" sz="1800"/>
              <a:t>when instantiating </a:t>
            </a:r>
            <a:r>
              <a:rPr lang="en-US" altLang="en-US" sz="1800" smtClean="0"/>
              <a:t>object </a:t>
            </a:r>
            <a:r>
              <a:rPr lang="en-US" altLang="en-US" sz="1800"/>
              <a:t>using </a:t>
            </a:r>
            <a:r>
              <a:rPr lang="en-US" altLang="en-US" sz="1800" b="1" i="1" smtClean="0"/>
              <a:t>new</a:t>
            </a:r>
            <a:r>
              <a:rPr lang="en-US" altLang="en-US" sz="1800" i="1" smtClean="0"/>
              <a:t> operator</a:t>
            </a:r>
            <a:endParaRPr lang="en-US" altLang="en-US" sz="1800" i="1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1600" i="1" smtClean="0"/>
              <a:t>Fraction </a:t>
            </a:r>
            <a:r>
              <a:rPr lang="en-US" altLang="en-US" sz="1600" i="1"/>
              <a:t>a= new </a:t>
            </a:r>
            <a:r>
              <a:rPr lang="en-US" altLang="en-US" sz="1600" i="1" smtClean="0"/>
              <a:t>Fraction(3,4</a:t>
            </a:r>
            <a:r>
              <a:rPr lang="en-US" altLang="en-US" sz="1600" i="1"/>
              <a:t>);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i="1"/>
              <a:t>All classes must have </a:t>
            </a:r>
            <a:r>
              <a:rPr lang="en-US" altLang="en-US" sz="1800" i="1" smtClean="0"/>
              <a:t>constructor</a:t>
            </a:r>
            <a:endParaRPr lang="en-US" altLang="en-US" sz="1800" i="1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000" i="1"/>
              <a:t>Notes on syntax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i="1" smtClean="0"/>
              <a:t>Constructor </a:t>
            </a:r>
            <a:r>
              <a:rPr lang="en-US" altLang="en-US" sz="1800" i="1"/>
              <a:t>name is the same as </a:t>
            </a:r>
            <a:r>
              <a:rPr lang="en-US" altLang="en-US" sz="1800" i="1" smtClean="0"/>
              <a:t>class </a:t>
            </a:r>
            <a:r>
              <a:rPr lang="en-US" altLang="en-US" sz="1800" i="1"/>
              <a:t>name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i="1"/>
              <a:t>No return type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i="1"/>
              <a:t>The constructors call each other by </a:t>
            </a:r>
            <a:r>
              <a:rPr lang="en-US" altLang="en-US" sz="1800" i="1" smtClean="0"/>
              <a:t>syntax </a:t>
            </a:r>
            <a:r>
              <a:rPr lang="en-US" altLang="en-US" sz="1800" b="1" i="1"/>
              <a:t>this(argument);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000" i="1"/>
              <a:t>Default constructor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i="1" smtClean="0"/>
              <a:t>Has no </a:t>
            </a:r>
            <a:r>
              <a:rPr lang="en-US" altLang="en-US" sz="1800" i="1"/>
              <a:t>arguments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1800" i="1"/>
              <a:t>automatically generated by the compiler when the class </a:t>
            </a:r>
            <a:r>
              <a:rPr lang="en-US" altLang="en-US" sz="1800" i="1" smtClean="0"/>
              <a:t>did </a:t>
            </a:r>
            <a:r>
              <a:rPr lang="en-US" altLang="en-US" sz="1800" i="1"/>
              <a:t>not declare </a:t>
            </a:r>
            <a:r>
              <a:rPr lang="en-US" altLang="en-US" sz="1800" i="1" smtClean="0"/>
              <a:t>any </a:t>
            </a:r>
            <a:r>
              <a:rPr lang="en-US" altLang="en-US" sz="1800" i="1"/>
              <a:t>constructor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000" i="1"/>
              <a:t>There can be multiple constructors </a:t>
            </a:r>
            <a:r>
              <a:rPr lang="en-US" altLang="en-US" sz="2000" i="1" smtClean="0"/>
              <a:t>up </a:t>
            </a:r>
            <a:r>
              <a:rPr lang="en-US" altLang="en-US" sz="2000" i="1"/>
              <a:t>on the initialization </a:t>
            </a:r>
            <a:r>
              <a:rPr lang="en-US" altLang="en-US" sz="2000" i="1" smtClean="0"/>
              <a:t>context of an object</a:t>
            </a:r>
            <a:endParaRPr lang="en-US" altLang="en-US" sz="2000" i="1"/>
          </a:p>
          <a:p>
            <a:pPr lvl="1" algn="l" rtl="0" eaLnBrk="1" hangingPunct="1">
              <a:lnSpc>
                <a:spcPct val="90000"/>
              </a:lnSpc>
            </a:pPr>
            <a:endParaRPr lang="en-US" altLang="en-US" sz="1800" i="1"/>
          </a:p>
        </p:txBody>
      </p:sp>
      <p:sp>
        <p:nvSpPr>
          <p:cNvPr id="21508" name="Slide Number Placeholder 1">
            <a:extLst>
              <a:ext uri="{FF2B5EF4-FFF2-40B4-BE49-F238E27FC236}">
                <a16:creationId xmlns:a16="http://schemas.microsoft.com/office/drawing/2014/main" id="{28324230-D42D-4E90-879C-859EED43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11BE455-A939-4B5A-9B25-B4AA3B47B40E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16DE9DA-7454-4093-866B-CEFD59E64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Method - function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6884154-4E86-428D-8354-702C00472A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 b="1"/>
              <a:t>Method</a:t>
            </a:r>
            <a:r>
              <a:rPr lang="en-US" altLang="en-US" sz="2400"/>
              <a:t> - </a:t>
            </a:r>
            <a:r>
              <a:rPr lang="en-US" altLang="en-US" sz="2400" smtClean="0"/>
              <a:t>represent </a:t>
            </a:r>
            <a:r>
              <a:rPr lang="en-US" altLang="en-US" sz="2400"/>
              <a:t>the behavior of </a:t>
            </a:r>
            <a:r>
              <a:rPr lang="en-US" altLang="en-US" sz="2400" smtClean="0"/>
              <a:t>object</a:t>
            </a:r>
            <a:r>
              <a:rPr lang="en-US" altLang="en-US" sz="2400"/>
              <a:t>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200" smtClean="0"/>
              <a:t>changes object's properties/ states</a:t>
            </a:r>
            <a:endParaRPr lang="en-US" altLang="en-US" sz="22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200" smtClean="0"/>
              <a:t>Can access all other members</a:t>
            </a:r>
            <a:endParaRPr lang="en-US" altLang="en-US" sz="22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200" smtClean="0"/>
              <a:t>Mechanism for interactions </a:t>
            </a:r>
            <a:r>
              <a:rPr lang="en-US" altLang="en-US" sz="2200"/>
              <a:t>between objects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200" i="1" smtClean="0"/>
              <a:t>Example: multiply </a:t>
            </a:r>
            <a:r>
              <a:rPr lang="en-US" altLang="en-US" sz="2200" i="1"/>
              <a:t>method in class </a:t>
            </a:r>
            <a:r>
              <a:rPr lang="en-US" altLang="en-US" sz="2200" i="1" smtClean="0"/>
              <a:t>Fraction</a:t>
            </a:r>
            <a:r>
              <a:rPr lang="en-US" altLang="en-US" sz="2200" i="1"/>
              <a:t/>
            </a:r>
            <a:br>
              <a:rPr lang="en-US" altLang="en-US" sz="2200" i="1"/>
            </a:br>
            <a:r>
              <a:rPr lang="en-US" altLang="en-US" sz="2000" i="1" smtClean="0"/>
              <a:t>Fraction multiply(Fraction </a:t>
            </a:r>
            <a:r>
              <a:rPr lang="en-US" altLang="en-US" sz="2000" i="1"/>
              <a:t>p) {</a:t>
            </a:r>
            <a:br>
              <a:rPr lang="en-US" altLang="en-US" sz="2000" i="1"/>
            </a:br>
            <a:r>
              <a:rPr lang="en-US" altLang="en-US" sz="2000" i="1"/>
              <a:t> return new </a:t>
            </a:r>
            <a:r>
              <a:rPr lang="en-US" altLang="en-US" sz="2000" i="1" smtClean="0"/>
              <a:t>Fraction(this.nom*p.nom, this.denom*p.denom);</a:t>
            </a:r>
            <a:r>
              <a:rPr lang="en-US" altLang="en-US" sz="2000" i="1"/>
              <a:t/>
            </a:r>
            <a:br>
              <a:rPr lang="en-US" altLang="en-US" sz="2000" i="1"/>
            </a:br>
            <a:r>
              <a:rPr lang="en-US" altLang="en-US" sz="2000" i="1"/>
              <a:t>}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 b="1" i="1" smtClean="0"/>
              <a:t>Static Function</a:t>
            </a:r>
            <a:r>
              <a:rPr lang="en-US" altLang="en-US" sz="2400" i="1" smtClean="0"/>
              <a:t> </a:t>
            </a:r>
            <a:r>
              <a:rPr lang="en-US" altLang="en-US" sz="2400" i="1"/>
              <a:t>– shared function, library function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i="1"/>
              <a:t>Independent of class objects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i="1" smtClean="0"/>
              <a:t>static </a:t>
            </a:r>
            <a:r>
              <a:rPr lang="en-US" altLang="en-US" sz="2000" i="1"/>
              <a:t>members </a:t>
            </a:r>
            <a:r>
              <a:rPr lang="en-US" altLang="en-US" sz="2000" i="1" smtClean="0"/>
              <a:t>can </a:t>
            </a:r>
            <a:r>
              <a:rPr lang="en-US" altLang="en-US" sz="2000" i="1"/>
              <a:t>be </a:t>
            </a:r>
            <a:r>
              <a:rPr lang="en-US" altLang="en-US" sz="2000" i="1" smtClean="0"/>
              <a:t>accessed each others</a:t>
            </a:r>
            <a:endParaRPr lang="en-US" altLang="en-US" sz="2000" i="1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i="1" smtClean="0"/>
              <a:t>Ex: static function </a:t>
            </a:r>
            <a:r>
              <a:rPr lang="en-US" altLang="en-US" sz="2000" i="1"/>
              <a:t>to multiply 2 fractions</a:t>
            </a:r>
            <a:br>
              <a:rPr lang="en-US" altLang="en-US" sz="2000" i="1"/>
            </a:br>
            <a:r>
              <a:rPr lang="en-US" altLang="en-US" sz="2000" b="1" i="1"/>
              <a:t>static </a:t>
            </a:r>
            <a:r>
              <a:rPr lang="en-US" altLang="en-US" sz="2000" b="1" i="1" smtClean="0"/>
              <a:t>Fraction multiply(Fraction </a:t>
            </a:r>
            <a:r>
              <a:rPr lang="en-US" altLang="en-US" sz="2000" b="1" i="1"/>
              <a:t>p, </a:t>
            </a:r>
            <a:r>
              <a:rPr lang="en-US" altLang="en-US" sz="2000" b="1" i="1" smtClean="0"/>
              <a:t>Fraction </a:t>
            </a:r>
            <a:r>
              <a:rPr lang="en-US" altLang="en-US" sz="2000" b="1" i="1"/>
              <a:t>q){ </a:t>
            </a:r>
            <a:r>
              <a:rPr lang="en-US" altLang="en-US" sz="2000" b="1" i="1" smtClean="0"/>
              <a:t/>
            </a:r>
            <a:br>
              <a:rPr lang="en-US" altLang="en-US" sz="2000" b="1" i="1" smtClean="0"/>
            </a:br>
            <a:r>
              <a:rPr lang="en-US" altLang="en-US" sz="2000" b="1" i="1" smtClean="0"/>
              <a:t>    return p.multiply(q</a:t>
            </a:r>
            <a:r>
              <a:rPr lang="en-US" altLang="en-US" sz="2000" b="1" i="1"/>
              <a:t>);}</a:t>
            </a:r>
          </a:p>
        </p:txBody>
      </p:sp>
      <p:sp>
        <p:nvSpPr>
          <p:cNvPr id="22532" name="Slide Number Placeholder 1">
            <a:extLst>
              <a:ext uri="{FF2B5EF4-FFF2-40B4-BE49-F238E27FC236}">
                <a16:creationId xmlns:a16="http://schemas.microsoft.com/office/drawing/2014/main" id="{A77470A0-CD51-4EEC-9207-398201A3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6B0895C-0316-4BE0-B711-97CABDD5E6C0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50">
            <a:extLst>
              <a:ext uri="{FF2B5EF4-FFF2-40B4-BE49-F238E27FC236}">
                <a16:creationId xmlns:a16="http://schemas.microsoft.com/office/drawing/2014/main" id="{E60DFAE8-F32F-4BF1-9695-13140C47B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 smtClean="0"/>
              <a:t>Access </a:t>
            </a:r>
            <a:r>
              <a:rPr lang="en-US" altLang="en-US" sz="3600"/>
              <a:t>class members</a:t>
            </a:r>
          </a:p>
        </p:txBody>
      </p:sp>
      <p:sp>
        <p:nvSpPr>
          <p:cNvPr id="23556" name="Rectangle 2051">
            <a:extLst>
              <a:ext uri="{FF2B5EF4-FFF2-40B4-BE49-F238E27FC236}">
                <a16:creationId xmlns:a16="http://schemas.microsoft.com/office/drawing/2014/main" id="{D55ADAF1-FC73-4602-AB80-B98A6D484B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 eaLnBrk="1" hangingPunct="1">
              <a:defRPr/>
            </a:pPr>
            <a:r>
              <a:rPr lang="en-US" altLang="en-US" sz="2400" smtClean="0"/>
              <a:t>Access </a:t>
            </a:r>
            <a:r>
              <a:rPr lang="en-US" altLang="en-US" sz="2400"/>
              <a:t>within the class</a:t>
            </a:r>
          </a:p>
          <a:p>
            <a:pPr lvl="1" algn="l" rtl="0" eaLnBrk="1" hangingPunct="1">
              <a:defRPr/>
            </a:pPr>
            <a:r>
              <a:rPr lang="en-US" altLang="en-US" sz="2000" smtClean="0"/>
              <a:t>this.fieldName</a:t>
            </a:r>
            <a:endParaRPr lang="en-US" altLang="en-US" sz="2000"/>
          </a:p>
          <a:p>
            <a:pPr lvl="1" algn="l" rtl="0" eaLnBrk="1" hangingPunct="1">
              <a:defRPr/>
            </a:pPr>
            <a:r>
              <a:rPr lang="en-US" altLang="en-US" sz="2000" smtClean="0"/>
              <a:t>this.methodName(argument)</a:t>
            </a:r>
            <a:endParaRPr lang="en-US" altLang="en-US" sz="2000"/>
          </a:p>
          <a:p>
            <a:pPr lvl="1" algn="l" rtl="0" eaLnBrk="1" hangingPunct="1">
              <a:defRPr/>
            </a:pPr>
            <a:r>
              <a:rPr lang="en-US" altLang="en-US" sz="1800" i="1" smtClean="0"/>
              <a:t>use </a:t>
            </a:r>
            <a:r>
              <a:rPr lang="en-US" altLang="en-US" sz="2000" b="1"/>
              <a:t>this</a:t>
            </a:r>
            <a:r>
              <a:rPr lang="en-US" altLang="en-US" sz="1800" i="1"/>
              <a:t> when it is necessary to distinguish member variables of a </a:t>
            </a:r>
            <a:r>
              <a:rPr lang="en-US" altLang="en-US" sz="1800" i="1" smtClean="0"/>
              <a:t>class has </a:t>
            </a:r>
            <a:r>
              <a:rPr lang="en-US" altLang="en-US" sz="1800" i="1"/>
              <a:t>the same name as local </a:t>
            </a:r>
            <a:r>
              <a:rPr lang="en-US" altLang="en-US" sz="1800" i="1" smtClean="0"/>
              <a:t>variables.</a:t>
            </a:r>
            <a:endParaRPr lang="en-US" altLang="en-US" sz="1800" i="1"/>
          </a:p>
          <a:p>
            <a:pPr algn="l" rtl="0" eaLnBrk="1" hangingPunct="1">
              <a:defRPr/>
            </a:pPr>
            <a:r>
              <a:rPr lang="en-US" altLang="en-US" sz="2400"/>
              <a:t>Access from outside the class</a:t>
            </a:r>
          </a:p>
          <a:p>
            <a:pPr lvl="1" algn="l" rtl="0" eaLnBrk="1" hangingPunct="1">
              <a:defRPr/>
            </a:pPr>
            <a:r>
              <a:rPr lang="en-US" altLang="en-US" sz="2000"/>
              <a:t>Constructor: call the constructor using the </a:t>
            </a:r>
            <a:r>
              <a:rPr lang="en-US" altLang="en-US" sz="2000" b="1" smtClean="0"/>
              <a:t>new</a:t>
            </a:r>
            <a:r>
              <a:rPr lang="en-US" altLang="en-US" sz="2000" smtClean="0"/>
              <a:t> </a:t>
            </a:r>
            <a:r>
              <a:rPr lang="en-US" altLang="en-US" sz="2000"/>
              <a:t>operator </a:t>
            </a:r>
          </a:p>
          <a:p>
            <a:pPr lvl="1" algn="l" rtl="0" eaLnBrk="1" hangingPunct="1">
              <a:defRPr/>
            </a:pPr>
            <a:r>
              <a:rPr lang="en-US" altLang="en-US" sz="2000"/>
              <a:t>Non-static </a:t>
            </a:r>
            <a:r>
              <a:rPr lang="en-US" altLang="en-US" sz="2000" smtClean="0"/>
              <a:t>member</a:t>
            </a:r>
            <a:endParaRPr lang="en-US" altLang="en-US" sz="2000"/>
          </a:p>
          <a:p>
            <a:pPr lvl="2" algn="l" rtl="0" eaLnBrk="1" hangingPunct="1">
              <a:defRPr/>
            </a:pPr>
            <a:r>
              <a:rPr lang="en-US" altLang="en-US" sz="1600" smtClean="0"/>
              <a:t>VarName.fieldName</a:t>
            </a:r>
            <a:endParaRPr lang="en-US" altLang="en-US" sz="1600"/>
          </a:p>
          <a:p>
            <a:pPr lvl="2" algn="l" rtl="0" eaLnBrk="1" hangingPunct="1">
              <a:defRPr/>
            </a:pPr>
            <a:r>
              <a:rPr lang="en-US" altLang="en-US" sz="1600" smtClean="0"/>
              <a:t>VarName.methodName(argument</a:t>
            </a:r>
            <a:r>
              <a:rPr lang="en-US" altLang="en-US" sz="1600"/>
              <a:t>)</a:t>
            </a:r>
          </a:p>
          <a:p>
            <a:pPr lvl="1" algn="l" rtl="0" eaLnBrk="1" hangingPunct="1">
              <a:defRPr/>
            </a:pPr>
            <a:r>
              <a:rPr lang="en-US" altLang="en-US" sz="2000"/>
              <a:t>Static </a:t>
            </a:r>
            <a:r>
              <a:rPr lang="en-US" altLang="en-US" sz="2000" smtClean="0"/>
              <a:t>member</a:t>
            </a:r>
            <a:endParaRPr lang="en-US" altLang="en-US" sz="2000"/>
          </a:p>
          <a:p>
            <a:pPr lvl="2" algn="l" rtl="0" eaLnBrk="1" hangingPunct="1">
              <a:defRPr/>
            </a:pPr>
            <a:r>
              <a:rPr lang="en-US" altLang="en-US" sz="1600" smtClean="0"/>
              <a:t>ClassName.memberName</a:t>
            </a:r>
            <a:endParaRPr lang="en-US" altLang="en-US" sz="1600"/>
          </a:p>
          <a:p>
            <a:pPr algn="l" rtl="0" eaLnBrk="1" hangingPunct="1">
              <a:defRPr/>
            </a:pPr>
            <a:r>
              <a:rPr lang="en-US" altLang="en-US" sz="2400"/>
              <a:t>Static methods are only allowed to reference static members of the class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893D60C-9020-4C26-B597-5A588A84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49BC163-AB36-4D49-A2D9-3AB403440BEA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50">
            <a:extLst>
              <a:ext uri="{FF2B5EF4-FFF2-40B4-BE49-F238E27FC236}">
                <a16:creationId xmlns:a16="http://schemas.microsoft.com/office/drawing/2014/main" id="{C6A9C67C-74D1-4B96-95A8-7871D0CF1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Three characteristics of OOP</a:t>
            </a:r>
          </a:p>
        </p:txBody>
      </p:sp>
      <p:sp>
        <p:nvSpPr>
          <p:cNvPr id="24580" name="Rectangle 2051">
            <a:extLst>
              <a:ext uri="{FF2B5EF4-FFF2-40B4-BE49-F238E27FC236}">
                <a16:creationId xmlns:a16="http://schemas.microsoft.com/office/drawing/2014/main" id="{C4DDB1B7-6E3E-4C81-BF77-8AB2FF3B8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 eaLnBrk="1" hangingPunct="1">
              <a:defRPr/>
            </a:pPr>
            <a:r>
              <a:rPr lang="en-US" altLang="en-US" sz="2400"/>
              <a:t>Encapsulation: </a:t>
            </a:r>
          </a:p>
          <a:p>
            <a:pPr lvl="1" algn="l" rtl="0" eaLnBrk="1" hangingPunct="1">
              <a:defRPr/>
            </a:pPr>
            <a:r>
              <a:rPr lang="en-US" altLang="en-US" sz="2000"/>
              <a:t>Encapsulation, data hiding</a:t>
            </a:r>
          </a:p>
          <a:p>
            <a:pPr lvl="1" algn="l" rtl="0" eaLnBrk="1" hangingPunct="1">
              <a:defRPr/>
            </a:pPr>
            <a:r>
              <a:rPr lang="en-US" altLang="en-US" sz="2000"/>
              <a:t>Protect data from unauthorized external access</a:t>
            </a:r>
          </a:p>
          <a:p>
            <a:pPr lvl="1" algn="l" rtl="0" eaLnBrk="1" hangingPunct="1">
              <a:defRPr/>
            </a:pPr>
            <a:r>
              <a:rPr lang="en-US" altLang="en-US" sz="2000"/>
              <a:t>Use access </a:t>
            </a:r>
            <a:r>
              <a:rPr lang="en-US" altLang="en-US" sz="2000" smtClean="0"/>
              <a:t>modifiers</a:t>
            </a:r>
            <a:r>
              <a:rPr lang="en-US" altLang="en-US" sz="2000"/>
              <a:t>: </a:t>
            </a:r>
            <a:r>
              <a:rPr lang="en-US" altLang="en-US" sz="2000" b="1"/>
              <a:t>public, private, protected</a:t>
            </a:r>
          </a:p>
          <a:p>
            <a:pPr algn="l" rtl="0" eaLnBrk="1" hangingPunct="1">
              <a:defRPr/>
            </a:pPr>
            <a:r>
              <a:rPr lang="en-US" altLang="en-US" sz="2400"/>
              <a:t>Inherritance</a:t>
            </a:r>
          </a:p>
          <a:p>
            <a:pPr lvl="1" algn="l" rtl="0" eaLnBrk="1" hangingPunct="1">
              <a:defRPr/>
            </a:pPr>
            <a:r>
              <a:rPr lang="en-US" altLang="en-US" sz="2000"/>
              <a:t>Inheritance: </a:t>
            </a:r>
            <a:r>
              <a:rPr lang="en-US" altLang="en-US" sz="2000" smtClean="0"/>
              <a:t>the </a:t>
            </a:r>
            <a:r>
              <a:rPr lang="en-US" altLang="en-US" sz="2000"/>
              <a:t>most "expensive" </a:t>
            </a:r>
            <a:r>
              <a:rPr lang="en-US" altLang="en-US" sz="2000" smtClean="0"/>
              <a:t>idea of OOP</a:t>
            </a:r>
            <a:endParaRPr lang="en-US" altLang="en-US" sz="2000"/>
          </a:p>
          <a:p>
            <a:pPr lvl="1" algn="l" rtl="0" eaLnBrk="1" hangingPunct="1">
              <a:defRPr/>
            </a:pPr>
            <a:r>
              <a:rPr lang="en-US" altLang="en-US" sz="2000"/>
              <a:t>Re-use the source code – code re-usable </a:t>
            </a:r>
          </a:p>
          <a:p>
            <a:pPr lvl="1" algn="l" rtl="0" eaLnBrk="1" hangingPunct="1">
              <a:defRPr/>
            </a:pPr>
            <a:r>
              <a:rPr lang="en-US" altLang="en-US" sz="2000"/>
              <a:t>Base Class (- parent class) and Derived Class (child)</a:t>
            </a:r>
          </a:p>
          <a:p>
            <a:pPr lvl="1" algn="l" rtl="0" eaLnBrk="1" hangingPunct="1">
              <a:defRPr/>
            </a:pPr>
            <a:r>
              <a:rPr lang="en-US" altLang="en-US" sz="2000"/>
              <a:t>Abstract class and interface </a:t>
            </a:r>
          </a:p>
          <a:p>
            <a:pPr algn="l" rtl="0" eaLnBrk="1" hangingPunct="1">
              <a:defRPr/>
            </a:pPr>
            <a:r>
              <a:rPr lang="en-US" altLang="en-US" sz="2400"/>
              <a:t>Polymorphism</a:t>
            </a:r>
          </a:p>
          <a:p>
            <a:pPr lvl="1" algn="l" rtl="0" eaLnBrk="1" hangingPunct="1">
              <a:defRPr/>
            </a:pPr>
            <a:r>
              <a:rPr lang="en-US" altLang="en-US" sz="2000" smtClean="0"/>
              <a:t>Diversity </a:t>
            </a:r>
            <a:r>
              <a:rPr lang="en-US" altLang="en-US" sz="2000"/>
              <a:t>when subjects exhibit behaviors</a:t>
            </a:r>
          </a:p>
          <a:p>
            <a:pPr lvl="1" algn="l" rtl="0" eaLnBrk="1" hangingPunct="1">
              <a:defRPr/>
            </a:pPr>
            <a:r>
              <a:rPr lang="en-US" altLang="en-US" sz="2000" smtClean="0"/>
              <a:t>Overload </a:t>
            </a:r>
            <a:r>
              <a:rPr lang="en-US" altLang="en-US" sz="2000"/>
              <a:t>– override </a:t>
            </a:r>
            <a:r>
              <a:rPr lang="en-US" altLang="en-US" sz="2000" smtClean="0"/>
              <a:t>method</a:t>
            </a:r>
            <a:endParaRPr lang="en-US" altLang="en-US" sz="200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D45AFDF-BCDB-4C00-A66E-FA11131D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B48D081-674F-4082-BA4C-18A9388663A0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29E4DDC-1540-4F19-BF47-E4BE6340B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z="3600"/>
              <a:t>Encapsulation – data hiding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208E12D-2741-415C-A81C-B052AC9D2F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600200"/>
            <a:ext cx="8001000" cy="4521200"/>
          </a:xfrm>
        </p:spPr>
        <p:txBody>
          <a:bodyPr>
            <a:normAutofit fontScale="92500"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400" smtClean="0"/>
              <a:t>Hide </a:t>
            </a:r>
            <a:r>
              <a:rPr lang="en-US" altLang="en-US" sz="2400"/>
              <a:t>the internal structure of the class, including: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/>
              <a:t>Properties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/>
              <a:t>Method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/>
              <a:t>Implementation details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Access </a:t>
            </a:r>
            <a:r>
              <a:rPr lang="en-US" altLang="en-US" sz="2400" smtClean="0"/>
              <a:t>modifiers </a:t>
            </a:r>
            <a:r>
              <a:rPr lang="en-US" altLang="en-US" sz="2400"/>
              <a:t>are used to implement the idea of ​​encapsulation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/>
              <a:t>public – private - protected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Encapsulation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Data is always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hide: member variables almost private access </a:t>
            </a:r>
            <a:endParaRPr lang="en-US" altLang="en-US" sz="20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Method for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communication with the outside world: public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access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Protected access for sub-class that inherited</a:t>
            </a:r>
            <a:endParaRPr lang="en-US" altLang="en-US" sz="20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The encapsulation feature allows the internal content of the </a:t>
            </a:r>
            <a:r>
              <a:rPr lang="en-US" altLang="en-US" sz="24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class </a:t>
            </a:r>
            <a: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to be changed without affecting the related </a:t>
            </a:r>
            <a:r>
              <a:rPr lang="en-US" altLang="en-US" sz="24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classes</a:t>
            </a:r>
            <a:endParaRPr lang="en-US" altLang="en-US" sz="2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F5CDB7C-1E31-455A-AA01-9D53B071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7D35FD0-CA83-4CB8-BB16-7EC91943882D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05F9706-EED9-420E-A22C-839D00A6F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200"/>
              <a:t>Encapsulation..</a:t>
            </a:r>
            <a:r>
              <a:rPr lang="en-US" altLang="en-US"/>
              <a:t> </a:t>
            </a:r>
            <a:r>
              <a:rPr lang="en-US" altLang="en-US" sz="2400"/>
              <a:t>Keywords specifying access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B0DEB22D-6841-47B6-B83B-D412E7A0AB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676400"/>
            <a:ext cx="8229600" cy="4114800"/>
          </a:xfrm>
        </p:spPr>
        <p:txBody>
          <a:bodyPr>
            <a:normAutofit fontScale="92500" lnSpcReduction="20000"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Access modifiers</a:t>
            </a:r>
            <a:r>
              <a:rPr lang="en-US" altLang="en-US" sz="2400" smtClean="0"/>
              <a:t>:</a:t>
            </a:r>
            <a:endParaRPr lang="en-US" altLang="en-US"/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/>
              <a:t>control access to class &amp; class members</a:t>
            </a:r>
          </a:p>
          <a:p>
            <a:pPr marL="0" indent="0" algn="l" rtl="0" eaLnBrk="1" hangingPunct="1">
              <a:lnSpc>
                <a:spcPct val="90000"/>
              </a:lnSpc>
              <a:buNone/>
              <a:defRPr/>
            </a:pPr>
            <a:r>
              <a:rPr lang="en-US" altLang="en-US" sz="2400"/>
              <a:t>	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/>
              <a:t>public</a:t>
            </a:r>
          </a:p>
          <a:p>
            <a:pPr lvl="2" algn="l" rtl="0" eaLnBrk="1" hangingPunct="1">
              <a:lnSpc>
                <a:spcPct val="90000"/>
              </a:lnSpc>
              <a:defRPr/>
            </a:pPr>
            <a:r>
              <a:rPr lang="en-US" altLang="en-US" smtClean="0"/>
              <a:t>No limitation </a:t>
            </a:r>
            <a:r>
              <a:rPr lang="en-US" altLang="en-US"/>
              <a:t>access </a:t>
            </a:r>
          </a:p>
          <a:p>
            <a:pPr lvl="2" algn="l" rtl="0" eaLnBrk="1" hangingPunct="1">
              <a:lnSpc>
                <a:spcPct val="90000"/>
              </a:lnSpc>
              <a:defRPr/>
            </a:pPr>
            <a:r>
              <a:rPr lang="en-US" altLang="en-US"/>
              <a:t>apply to class, applet, application, class </a:t>
            </a:r>
            <a:r>
              <a:rPr lang="en-US" altLang="en-US" smtClean="0"/>
              <a:t>members</a:t>
            </a:r>
            <a:endParaRPr lang="en-US" altLang="en-US"/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/>
              <a:t>private</a:t>
            </a:r>
          </a:p>
          <a:p>
            <a:pPr lvl="2" algn="l" rtl="0" eaLnBrk="1" hangingPunct="1">
              <a:lnSpc>
                <a:spcPct val="90000"/>
              </a:lnSpc>
              <a:defRPr/>
            </a:pPr>
            <a:r>
              <a:rPr lang="en-US" altLang="en-US"/>
              <a:t>only allow access inside the class</a:t>
            </a:r>
          </a:p>
          <a:p>
            <a:pPr lvl="2" algn="l" rtl="0" eaLnBrk="1" hangingPunct="1">
              <a:lnSpc>
                <a:spcPct val="90000"/>
              </a:lnSpc>
              <a:defRPr/>
            </a:pPr>
            <a:r>
              <a:rPr lang="en-US" altLang="en-US"/>
              <a:t>does not apply to class declaration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/>
              <a:t>protected</a:t>
            </a:r>
          </a:p>
          <a:p>
            <a:pPr lvl="2" algn="l" rtl="0" eaLnBrk="1" hangingPunct="1">
              <a:lnSpc>
                <a:spcPct val="90000"/>
              </a:lnSpc>
              <a:defRPr/>
            </a:pPr>
            <a:r>
              <a:rPr lang="en-US" altLang="en-US"/>
              <a:t>allow access from subclass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000" smtClean="0"/>
              <a:t>No declaration of access: default access</a:t>
            </a:r>
            <a:endParaRPr lang="en-US" altLang="en-US" sz="2000"/>
          </a:p>
          <a:p>
            <a:pPr lvl="2" algn="l" rtl="0" eaLnBrk="1" hangingPunct="1">
              <a:lnSpc>
                <a:spcPct val="90000"/>
              </a:lnSpc>
              <a:defRPr/>
            </a:pPr>
            <a:r>
              <a:rPr lang="en-US" altLang="en-US"/>
              <a:t>allow access by other classes in the same package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alt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3B0D76E-9635-477F-B904-4C310AD4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2149BD4-927D-4782-88CB-024ED39FEA16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026">
            <a:extLst>
              <a:ext uri="{FF2B5EF4-FFF2-40B4-BE49-F238E27FC236}">
                <a16:creationId xmlns:a16="http://schemas.microsoft.com/office/drawing/2014/main" id="{E3AAAB33-D927-492D-9F4B-4B42D257C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772400" cy="584200"/>
          </a:xfrm>
        </p:spPr>
        <p:txBody>
          <a:bodyPr>
            <a:normAutofit fontScale="90000"/>
          </a:bodyPr>
          <a:lstStyle/>
          <a:p>
            <a:pPr algn="ctr" rtl="0" eaLnBrk="1" hangingPunct="1">
              <a:defRPr/>
            </a:pPr>
            <a:r>
              <a:rPr lang="en-US" altLang="en-US" smtClean="0"/>
              <a:t>Inheritance</a:t>
            </a:r>
            <a:endParaRPr lang="en-US" altLang="en-US"/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001EBB63-3311-478D-B627-0C9AC6298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Inheritance:</a:t>
            </a:r>
          </a:p>
          <a:p>
            <a:pPr lvl="1" algn="l" rtl="0" eaLnBrk="1" hangingPunct="1"/>
            <a:r>
              <a:rPr lang="en-US" altLang="en-US" sz="2400"/>
              <a:t>Allows a class to share </a:t>
            </a:r>
            <a:r>
              <a:rPr lang="en-US" altLang="en-US" sz="2400" smtClean="0"/>
              <a:t>members </a:t>
            </a:r>
            <a:r>
              <a:rPr lang="en-US" altLang="en-US" sz="2400"/>
              <a:t>defined from another class.</a:t>
            </a:r>
          </a:p>
          <a:p>
            <a:pPr lvl="1" algn="l" rtl="0" eaLnBrk="1" hangingPunct="1"/>
            <a:r>
              <a:rPr lang="en-US" altLang="en-US" sz="2400" smtClean="0"/>
              <a:t>Define </a:t>
            </a:r>
            <a:r>
              <a:rPr lang="en-US" altLang="en-US" sz="2400"/>
              <a:t>a new class from an existing class.</a:t>
            </a:r>
          </a:p>
          <a:p>
            <a:pPr algn="l" rtl="0" eaLnBrk="1" hangingPunct="1"/>
            <a:r>
              <a:rPr lang="en-US" altLang="en-US" sz="2800"/>
              <a:t>Inherited class is called </a:t>
            </a:r>
            <a:r>
              <a:rPr lang="en-US" altLang="en-US" sz="2800" smtClean="0"/>
              <a:t>Sub-class or </a:t>
            </a:r>
            <a:r>
              <a:rPr lang="en-US" altLang="en-US" sz="2800"/>
              <a:t>derived </a:t>
            </a:r>
            <a:r>
              <a:rPr lang="en-US" altLang="en-US" sz="2800" smtClean="0"/>
              <a:t>class</a:t>
            </a:r>
            <a:endParaRPr lang="en-US" altLang="en-US" sz="2800"/>
          </a:p>
          <a:p>
            <a:pPr algn="l" rtl="0" eaLnBrk="1" hangingPunct="1"/>
            <a:r>
              <a:rPr lang="en-US" altLang="en-US" sz="2800"/>
              <a:t>The class for inheritance is called the base class </a:t>
            </a:r>
            <a:r>
              <a:rPr lang="en-US" altLang="en-US" sz="2800" smtClean="0"/>
              <a:t>or </a:t>
            </a:r>
            <a:r>
              <a:rPr lang="en-US" altLang="en-US" sz="2800"/>
              <a:t>super </a:t>
            </a:r>
            <a:r>
              <a:rPr lang="en-US" altLang="en-US" sz="2800" smtClean="0"/>
              <a:t>class</a:t>
            </a:r>
            <a:endParaRPr lang="en-US" altLang="en-US" sz="2800"/>
          </a:p>
          <a:p>
            <a:pPr algn="l" rtl="0" eaLnBrk="1" hangingPunct="1"/>
            <a:r>
              <a:rPr lang="en-US" altLang="en-US" sz="2800"/>
              <a:t>Multiple inheritance - is implemented on interfaces.</a:t>
            </a:r>
          </a:p>
        </p:txBody>
      </p:sp>
      <p:sp>
        <p:nvSpPr>
          <p:cNvPr id="27652" name="Slide Number Placeholder 2">
            <a:extLst>
              <a:ext uri="{FF2B5EF4-FFF2-40B4-BE49-F238E27FC236}">
                <a16:creationId xmlns:a16="http://schemas.microsoft.com/office/drawing/2014/main" id="{4EF14A8F-8D7C-494F-AE7C-E10D2371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6E58341-A709-444B-BF5F-E9EE04F2AE98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C9D5165-33F3-41BE-9919-42AA87201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Inheritance.. Subclass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AF95979-B550-483E-BBB6-E8DE117145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Use </a:t>
            </a:r>
            <a:r>
              <a:rPr lang="en-US" altLang="en-US" b="1">
                <a:ea typeface="Arial Unicode MS" panose="020B0604020202020204" pitchFamily="34" charset="-128"/>
                <a:cs typeface="Arial Unicode MS" panose="020B0604020202020204" pitchFamily="34" charset="-128"/>
              </a:rPr>
              <a:t>extends</a:t>
            </a: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 keyword to define subclasses</a:t>
            </a:r>
          </a:p>
          <a:p>
            <a:pPr lvl="1" algn="l" rtl="0" eaLnBrk="1" hangingPunct="1">
              <a:defRPr/>
            </a:pPr>
            <a:r>
              <a:rPr lang="en-US" altLang="en-US"/>
              <a:t>public class MyPoint </a:t>
            </a:r>
            <a:r>
              <a:rPr lang="en-US" altLang="en-US">
                <a:solidFill>
                  <a:srgbClr val="FF6600"/>
                </a:solidFill>
              </a:rPr>
              <a:t>extends</a:t>
            </a:r>
            <a:r>
              <a:rPr lang="en-US" altLang="en-US"/>
              <a:t> Point</a:t>
            </a:r>
            <a:endParaRPr lang="en-US" altLang="en-US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l" rtl="0" eaLnBrk="1" hangingPunct="1">
              <a:defRPr/>
            </a:pPr>
            <a:r>
              <a:rPr lang="en-US" altLang="en-US" smtClean="0"/>
              <a:t>Sub-class </a:t>
            </a:r>
            <a:endParaRPr lang="en-US" altLang="en-US"/>
          </a:p>
          <a:p>
            <a:pPr lvl="1" algn="l" rtl="0" eaLnBrk="1" hangingPunct="1">
              <a:defRPr/>
            </a:pPr>
            <a:r>
              <a:rPr lang="en-US" altLang="en-US"/>
              <a:t>Inherit all members of the base class </a:t>
            </a:r>
          </a:p>
          <a:p>
            <a:pPr lvl="1" algn="l" rtl="0" eaLnBrk="1" hangingPunct="1">
              <a:defRPr/>
            </a:pPr>
            <a:r>
              <a:rPr lang="en-US" altLang="en-US"/>
              <a:t>Direct access to private members of the base class is not allowed</a:t>
            </a:r>
          </a:p>
          <a:p>
            <a:pPr lvl="1" algn="l" rtl="0" eaLnBrk="1" hangingPunct="1">
              <a:defRPr/>
            </a:pPr>
            <a:r>
              <a:rPr lang="en-US" altLang="en-US"/>
              <a:t>may have </a:t>
            </a:r>
            <a:r>
              <a:rPr lang="en-US" altLang="en-US" smtClean="0"/>
              <a:t>members </a:t>
            </a:r>
            <a:r>
              <a:rPr lang="en-US" altLang="en-US"/>
              <a:t>with the same name as the base class</a:t>
            </a:r>
          </a:p>
          <a:p>
            <a:pPr lvl="2" algn="l" rtl="0" eaLnBrk="1" hangingPunct="1">
              <a:defRPr/>
            </a:pPr>
            <a:r>
              <a:rPr lang="en-US" altLang="en-US"/>
              <a:t>use keywords </a:t>
            </a:r>
            <a:r>
              <a:rPr lang="en-US" altLang="en-US" b="1"/>
              <a:t>super</a:t>
            </a:r>
            <a:r>
              <a:rPr lang="en-US" altLang="en-US"/>
              <a:t> to refer to the direct superclass of a class</a:t>
            </a:r>
          </a:p>
          <a:p>
            <a:pPr lvl="2" algn="l" rtl="0" eaLnBrk="1" hangingPunct="1">
              <a:defRPr/>
            </a:pPr>
            <a:r>
              <a:rPr lang="en-US" altLang="en-US" smtClean="0"/>
              <a:t>Use </a:t>
            </a:r>
            <a:r>
              <a:rPr lang="en-US" altLang="en-US" b="1" smtClean="0"/>
              <a:t>this</a:t>
            </a:r>
            <a:r>
              <a:rPr lang="en-US" altLang="en-US" smtClean="0"/>
              <a:t> </a:t>
            </a:r>
            <a:r>
              <a:rPr lang="en-US" altLang="en-US"/>
              <a:t>to refer to the class itself </a:t>
            </a:r>
          </a:p>
          <a:p>
            <a:pPr lvl="1" algn="l" rtl="0" eaLnBrk="1" hangingPunct="1">
              <a:defRPr/>
            </a:pPr>
            <a:r>
              <a:rPr lang="en-US" altLang="en-US"/>
              <a:t>inherited from only 1 base class - single inheritance</a:t>
            </a:r>
          </a:p>
          <a:p>
            <a:pPr algn="l" rtl="0" eaLnBrk="1" hangingPunct="1">
              <a:defRPr/>
            </a:pPr>
            <a:endParaRPr lang="en-US" altLang="en-US" sz="240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9EDB7A6-E268-43AE-A04B-388F4AA2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B68385E-7CD8-476E-B596-FA6E6DA8067C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7BEEAD74-A3A0-41DD-AEBB-20C6F3392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Inheritance.. </a:t>
            </a:r>
            <a:r>
              <a:rPr lang="en-US" altLang="en-US" sz="2800"/>
              <a:t>subclass constructor</a:t>
            </a:r>
          </a:p>
        </p:txBody>
      </p:sp>
      <p:sp>
        <p:nvSpPr>
          <p:cNvPr id="29699" name="Rectangle 1027">
            <a:extLst>
              <a:ext uri="{FF2B5EF4-FFF2-40B4-BE49-F238E27FC236}">
                <a16:creationId xmlns:a16="http://schemas.microsoft.com/office/drawing/2014/main" id="{88FD5548-7CC5-4248-958D-2C0B79332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l" rtl="0" eaLnBrk="1" hangingPunct="1">
              <a:lnSpc>
                <a:spcPct val="120000"/>
              </a:lnSpc>
              <a:defRPr/>
            </a:pPr>
            <a:r>
              <a:rPr lang="en-US" altLang="en-US" sz="4500">
                <a:ea typeface="Arial Unicode MS" panose="020B0604020202020204" pitchFamily="34" charset="-128"/>
                <a:cs typeface="Arial Unicode MS" panose="020B0604020202020204" pitchFamily="34" charset="-128"/>
              </a:rPr>
              <a:t>The subclass constructor must initialize </a:t>
            </a:r>
            <a:r>
              <a:rPr lang="en-US" altLang="en-US" sz="45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data members that </a:t>
            </a:r>
            <a:r>
              <a:rPr lang="en-US" altLang="en-US" sz="4500">
                <a:ea typeface="Arial Unicode MS" panose="020B0604020202020204" pitchFamily="34" charset="-128"/>
                <a:cs typeface="Arial Unicode MS" panose="020B0604020202020204" pitchFamily="34" charset="-128"/>
              </a:rPr>
              <a:t>inherited from the superclass, by calling the superclass constructor – </a:t>
            </a:r>
          </a:p>
          <a:p>
            <a:pPr lvl="1" algn="l" rtl="0" eaLnBrk="1" hangingPunct="1">
              <a:lnSpc>
                <a:spcPct val="120000"/>
              </a:lnSpc>
              <a:defRPr/>
            </a:pPr>
            <a:r>
              <a:rPr lang="en-US" altLang="en-US" sz="4500">
                <a:ea typeface="Arial Unicode MS" panose="020B0604020202020204" pitchFamily="34" charset="-128"/>
                <a:cs typeface="Arial Unicode MS" panose="020B0604020202020204" pitchFamily="34" charset="-128"/>
              </a:rPr>
              <a:t>use the syntax </a:t>
            </a:r>
            <a:r>
              <a:rPr lang="en-US" altLang="en-US" sz="4500" b="1">
                <a:ea typeface="Arial Unicode MS" panose="020B0604020202020204" pitchFamily="34" charset="-128"/>
                <a:cs typeface="Arial Unicode MS" panose="020B0604020202020204" pitchFamily="34" charset="-128"/>
              </a:rPr>
              <a:t>super(argument);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4500" smtClean="0"/>
              <a:t>call </a:t>
            </a:r>
            <a:r>
              <a:rPr lang="en-US" altLang="en-US" sz="4500"/>
              <a:t>to super must be the first statement in the subclass's constructor. 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4500"/>
              <a:t>the compiler will automatically call the default constructor of the parent class if the subclass does not </a:t>
            </a:r>
            <a:r>
              <a:rPr lang="en-US" altLang="en-US" sz="4500" smtClean="0"/>
              <a:t>invoke–&gt; </a:t>
            </a:r>
            <a:r>
              <a:rPr lang="en-US" altLang="en-US" sz="4500"/>
              <a:t>all classes should </a:t>
            </a:r>
            <a:r>
              <a:rPr lang="en-US" altLang="en-US" sz="4500" smtClean="0"/>
              <a:t>have </a:t>
            </a:r>
            <a:r>
              <a:rPr lang="en-US" altLang="en-US" sz="4500"/>
              <a:t>default constructor</a:t>
            </a:r>
          </a:p>
          <a:p>
            <a:pPr algn="l" rtl="0" eaLnBrk="1" hangingPunct="1">
              <a:lnSpc>
                <a:spcPct val="120000"/>
              </a:lnSpc>
              <a:defRPr/>
            </a:pPr>
            <a:r>
              <a:rPr lang="en-US" altLang="en-US" sz="3500"/>
              <a:t>class Point2D {</a:t>
            </a:r>
            <a:br>
              <a:rPr lang="en-US" altLang="en-US" sz="3500"/>
            </a:br>
            <a:r>
              <a:rPr lang="en-US" altLang="en-US" sz="3500"/>
              <a:t> private int x,y;</a:t>
            </a:r>
            <a:br>
              <a:rPr lang="en-US" altLang="en-US" sz="3500"/>
            </a:br>
            <a:r>
              <a:rPr lang="en-US" altLang="en-US" sz="3500"/>
              <a:t> public Point2D() { x=y=0;}</a:t>
            </a:r>
            <a:br>
              <a:rPr lang="en-US" altLang="en-US" sz="3500"/>
            </a:br>
            <a:r>
              <a:rPr lang="en-US" altLang="en-US" sz="3500"/>
              <a:t>public Point2D(int a, int b) { x=a; y=b;}</a:t>
            </a:r>
            <a:br>
              <a:rPr lang="en-US" altLang="en-US" sz="3500"/>
            </a:br>
            <a:r>
              <a:rPr lang="en-US" altLang="en-US" sz="3500"/>
              <a:t>//..other components </a:t>
            </a:r>
            <a:br>
              <a:rPr lang="en-US" altLang="en-US" sz="3500"/>
            </a:br>
            <a:r>
              <a:rPr lang="en-US" altLang="en-US" sz="3500" smtClean="0"/>
              <a:t>}</a:t>
            </a:r>
            <a:endParaRPr lang="en-US" altLang="en-US" sz="3500"/>
          </a:p>
          <a:p>
            <a:pPr algn="l" rtl="0" eaLnBrk="1" hangingPunct="1">
              <a:lnSpc>
                <a:spcPct val="120000"/>
              </a:lnSpc>
              <a:defRPr/>
            </a:pPr>
            <a:r>
              <a:rPr lang="en-US" altLang="en-US" sz="3500"/>
              <a:t>class Point3D extends Point2D {</a:t>
            </a:r>
            <a:br>
              <a:rPr lang="en-US" altLang="en-US" sz="3500"/>
            </a:br>
            <a:r>
              <a:rPr lang="en-US" altLang="en-US" sz="3500"/>
              <a:t> private int z;</a:t>
            </a:r>
            <a:br>
              <a:rPr lang="en-US" altLang="en-US" sz="3500"/>
            </a:br>
            <a:r>
              <a:rPr lang="en-US" altLang="en-US" sz="3500"/>
              <a:t> public Point3D(int x, int y, int z) {</a:t>
            </a:r>
            <a:br>
              <a:rPr lang="en-US" altLang="en-US" sz="3500"/>
            </a:br>
            <a:r>
              <a:rPr lang="en-US" altLang="en-US" sz="3500"/>
              <a:t>super(x,y); this.z=z;</a:t>
            </a:r>
            <a:br>
              <a:rPr lang="en-US" altLang="en-US" sz="3500"/>
            </a:br>
            <a:r>
              <a:rPr lang="en-US" altLang="en-US" sz="3500"/>
              <a:t> }</a:t>
            </a:r>
            <a:br>
              <a:rPr lang="en-US" altLang="en-US" sz="3500"/>
            </a:br>
            <a:r>
              <a:rPr lang="en-US" altLang="en-US" sz="3500"/>
              <a:t>}</a:t>
            </a:r>
          </a:p>
        </p:txBody>
      </p:sp>
      <p:sp>
        <p:nvSpPr>
          <p:cNvPr id="29700" name="Slide Number Placeholder 1">
            <a:extLst>
              <a:ext uri="{FF2B5EF4-FFF2-40B4-BE49-F238E27FC236}">
                <a16:creationId xmlns:a16="http://schemas.microsoft.com/office/drawing/2014/main" id="{C63D2EFD-C821-44DE-A094-7CDD2C20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F02AE80-B844-4B87-AC41-B1725ECA1E67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1F06C5D-276A-4E91-A532-4F077CE60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mtClean="0"/>
              <a:t>Polymorphism</a:t>
            </a:r>
            <a:endParaRPr lang="en-US" alt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72AA5E-852A-4A07-BDC0-573CBB6D3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Polymorphism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is the </a:t>
            </a:r>
            <a:r>
              <a:rPr lang="en-US" altLang="en-US" sz="2400" smtClean="0"/>
              <a:t>feature that </a:t>
            </a:r>
            <a:r>
              <a:rPr lang="en-US" altLang="en-US" sz="2400"/>
              <a:t>a task </a:t>
            </a:r>
            <a:r>
              <a:rPr lang="en-US" altLang="en-US" sz="2400" smtClean="0"/>
              <a:t>can </a:t>
            </a:r>
            <a:r>
              <a:rPr lang="en-US" altLang="en-US" sz="2400"/>
              <a:t>produces different effects </a:t>
            </a:r>
            <a:r>
              <a:rPr lang="en-US" altLang="en-US" sz="2400" smtClean="0"/>
              <a:t>depend on </a:t>
            </a:r>
            <a:r>
              <a:rPr lang="en-US" altLang="en-US" sz="2400"/>
              <a:t>referencing </a:t>
            </a:r>
            <a:r>
              <a:rPr lang="en-US" altLang="en-US" sz="2400" smtClean="0"/>
              <a:t>context.</a:t>
            </a:r>
            <a:endParaRPr lang="en-US" altLang="en-US" sz="24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allow multiple methods with the same name in the same class or in classes with inheritance relations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Two mechanisms </a:t>
            </a:r>
            <a:r>
              <a:rPr lang="en-US" altLang="en-US" sz="2800" smtClean="0"/>
              <a:t>of </a:t>
            </a:r>
            <a:r>
              <a:rPr lang="en-US" altLang="en-US" sz="2800"/>
              <a:t>polymorphism in Java: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overloading </a:t>
            </a:r>
            <a:r>
              <a:rPr lang="en-US" altLang="en-US" sz="2400" smtClean="0"/>
              <a:t>method</a:t>
            </a:r>
            <a:endParaRPr lang="en-US" altLang="en-US" sz="24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overriding </a:t>
            </a:r>
            <a:r>
              <a:rPr lang="en-US" altLang="en-US" sz="2400" smtClean="0"/>
              <a:t>methods</a:t>
            </a:r>
            <a:endParaRPr lang="en-US" altLang="en-US" sz="240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Helps improve code organization, extensibility adds new features without affecting old components.</a:t>
            </a:r>
          </a:p>
        </p:txBody>
      </p:sp>
      <p:sp>
        <p:nvSpPr>
          <p:cNvPr id="30724" name="Slide Number Placeholder 1">
            <a:extLst>
              <a:ext uri="{FF2B5EF4-FFF2-40B4-BE49-F238E27FC236}">
                <a16:creationId xmlns:a16="http://schemas.microsoft.com/office/drawing/2014/main" id="{AB3BA3D8-CC07-411B-AF5E-ACA59550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07680EB1-EF82-4C49-B149-13E6A61464BE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6A5FD0C-ED9F-4515-8550-6F69E90AB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Polymorphism.. overloading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8B138B1-6AB6-4691-9582-2C2139557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 eaLnBrk="1" hangingPunct="1">
              <a:defRPr/>
            </a:pPr>
            <a:r>
              <a:rPr lang="en-US" altLang="en-US"/>
              <a:t>Overloading: </a:t>
            </a:r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Define methods with the same name in the same class</a:t>
            </a:r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must have argument lists that differ in type or order</a:t>
            </a:r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regardless of the difference in return type, access scope of overloaded methods</a:t>
            </a:r>
          </a:p>
          <a:p>
            <a:pPr algn="l" rtl="0" eaLnBrk="1" hangingPunct="1">
              <a:defRPr/>
            </a:pPr>
            <a:r>
              <a:rPr lang="en-US" altLang="en-US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Example:</a:t>
            </a:r>
            <a:endParaRPr lang="en-US" altLang="en-US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public int max(int ​​x, int y, int z)</a:t>
            </a:r>
          </a:p>
          <a:p>
            <a:pPr lvl="1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public void max(int ​​a,int b, int c)</a:t>
            </a:r>
          </a:p>
          <a:p>
            <a:pPr lvl="1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private double max(double a, double b, double c)</a:t>
            </a:r>
          </a:p>
          <a:p>
            <a:pPr lvl="1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private double max(double a, double b)</a:t>
            </a:r>
          </a:p>
          <a:p>
            <a:pPr lvl="1"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public int max(int ​​a, int b)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A782B52-2248-497D-B816-2AD705B3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0F24BFC-B674-47A0-B9D6-CCBEF9A497E6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41FB858-D550-417E-977F-5E3A5FBD4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Polymorphism.. overriding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9CDE691-E619-4A7A-AA8B-4DD8C42D2A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overriding</a:t>
            </a:r>
          </a:p>
          <a:p>
            <a:pPr lvl="1" algn="l" rtl="0" eaLnBrk="1" hangingPunct="1">
              <a:defRPr/>
            </a:pP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Re-define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methods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of super-class in sub-class</a:t>
            </a:r>
            <a:endParaRPr lang="en-US" altLang="en-US" sz="2000"/>
          </a:p>
          <a:p>
            <a:pPr lvl="1" algn="l" rtl="0" eaLnBrk="1" hangingPunct="1">
              <a:defRPr/>
            </a:pP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Override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method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has same signature with overridden method</a:t>
            </a:r>
            <a:r>
              <a:rPr lang="en-US" altLang="en-US" sz="2000" smtClean="0"/>
              <a:t> </a:t>
            </a:r>
            <a:endParaRPr lang="en-US" altLang="en-US" sz="2000"/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Access scope should not be narrow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as compared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to base class method</a:t>
            </a:r>
            <a:endParaRPr lang="en-US" altLang="en-US" sz="2000"/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method in subclass xxx() can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invoke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overridden method xxx() in parent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class by </a:t>
            </a:r>
            <a:r>
              <a:rPr lang="en-US" altLang="en-US" sz="2000" b="1">
                <a:ea typeface="Arial Unicode MS" panose="020B0604020202020204" pitchFamily="34" charset="-128"/>
                <a:cs typeface="Arial Unicode MS" panose="020B0604020202020204" pitchFamily="34" charset="-128"/>
              </a:rPr>
              <a:t>super.xxx(). </a:t>
            </a:r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Late binding mechanism – link source code at runtime</a:t>
            </a:r>
          </a:p>
          <a:p>
            <a:pPr algn="l" rtl="0" eaLnBrk="1" hangingPunct="1">
              <a:defRPr/>
            </a:pPr>
            <a:r>
              <a:rPr lang="en-US" altLang="en-US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Eg </a:t>
            </a:r>
          </a:p>
          <a:p>
            <a:pPr lvl="1" algn="l" rtl="0" eaLnBrk="1" hangingPunct="1">
              <a:defRPr/>
            </a:pP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The Object class is the default base class of all other classes</a:t>
            </a:r>
          </a:p>
          <a:p>
            <a:pPr lvl="1" algn="l" rtl="0" eaLnBrk="1" hangingPunct="1">
              <a:defRPr/>
            </a:pPr>
            <a:r>
              <a:rPr lang="en-US" altLang="en-US" sz="2000" b="1">
                <a:ea typeface="Arial Unicode MS" panose="020B0604020202020204" pitchFamily="34" charset="-128"/>
                <a:cs typeface="Arial Unicode MS" panose="020B0604020202020204" pitchFamily="34" charset="-128"/>
              </a:rPr>
              <a:t>public String toString()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of the Object class is </a:t>
            </a:r>
            <a:r>
              <a:rPr lang="en-US" altLang="en-US" sz="200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overriden </a:t>
            </a:r>
            <a:r>
              <a:rPr lang="en-US" altLang="en-US" sz="2000">
                <a:ea typeface="Arial Unicode MS" panose="020B0604020202020204" pitchFamily="34" charset="-128"/>
                <a:cs typeface="Arial Unicode MS" panose="020B0604020202020204" pitchFamily="34" charset="-128"/>
              </a:rPr>
              <a:t>by all other classes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CB516D8-3AF1-414D-A84C-AE2D9D30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2F594C8-2B81-416B-877F-D9632956C4A3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CC12A80-1DFD-41A1-A85F-99A7CFBB6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0" eaLnBrk="1" hangingPunct="1"/>
            <a:r>
              <a:rPr lang="en-US" altLang="en-US" sz="3200">
                <a:ea typeface="Arial Unicode MS" pitchFamily="34" charset="-128"/>
              </a:rPr>
              <a:t>Compare overloading &amp; overriding</a:t>
            </a:r>
            <a:r>
              <a:rPr lang="en-US" altLang="en-US" sz="2000"/>
              <a:t>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56817C6-29E7-4817-8163-E7DC0805F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Overloaded methods: 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additions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unlimited quantity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arguments must be different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return type may be different</a:t>
            </a:r>
          </a:p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Overriding methods: 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replacement.</a:t>
            </a:r>
            <a:r>
              <a:rPr lang="en-US" altLang="en-US" sz="2400"/>
              <a:t> 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only</a:t>
            </a:r>
            <a:r>
              <a:rPr lang="en-US" altLang="en-US" sz="2400"/>
              <a:t> </a:t>
            </a:r>
            <a:r>
              <a:rPr lang="en-US" altLang="en-US" sz="2400" smtClean="0"/>
              <a:t>one</a:t>
            </a:r>
            <a:endParaRPr lang="en-US" altLang="en-US" sz="2400"/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arguments must be the same 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return type must be the same</a:t>
            </a:r>
          </a:p>
          <a:p>
            <a:pPr algn="l" rtl="0" eaLnBrk="1" hangingPunct="1"/>
            <a:endParaRPr lang="en-US" altLang="en-US">
              <a:ea typeface="Arial Unicode MS" pitchFamily="34" charset="-128"/>
            </a:endParaRPr>
          </a:p>
        </p:txBody>
      </p:sp>
      <p:sp>
        <p:nvSpPr>
          <p:cNvPr id="33796" name="Slide Number Placeholder 1">
            <a:extLst>
              <a:ext uri="{FF2B5EF4-FFF2-40B4-BE49-F238E27FC236}">
                <a16:creationId xmlns:a16="http://schemas.microsoft.com/office/drawing/2014/main" id="{8289F38B-751D-4832-B32E-4F5057F1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A04D566-6902-419C-9660-6A7E0827C138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74522D5-F736-48A0-9F41-AFFE47B67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/>
              <a:t>Dynamic </a:t>
            </a:r>
            <a:r>
              <a:rPr lang="en-US" altLang="en-US" sz="3600" smtClean="0"/>
              <a:t>binding</a:t>
            </a:r>
            <a:endParaRPr lang="en-US" altLang="en-US" sz="360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F87922F-1B5B-4783-813A-CEF9F8A21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600"/>
              <a:t>Binding is the process of </a:t>
            </a:r>
            <a:r>
              <a:rPr lang="en-US" altLang="en-US" sz="2600" smtClean="0"/>
              <a:t>linking </a:t>
            </a:r>
            <a:r>
              <a:rPr lang="en-US" altLang="en-US" sz="2600"/>
              <a:t>the executable code </a:t>
            </a:r>
            <a:r>
              <a:rPr lang="en-US" altLang="en-US" sz="2600" smtClean="0"/>
              <a:t>with </a:t>
            </a:r>
            <a:r>
              <a:rPr lang="en-US" altLang="en-US" sz="2600"/>
              <a:t>the function call. 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200"/>
              <a:t>Static linking: binding is determined at compile time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200"/>
              <a:t>dynamic binding: </a:t>
            </a:r>
            <a:r>
              <a:rPr lang="en-US" altLang="en-US" sz="2200" smtClean="0"/>
              <a:t>binding </a:t>
            </a:r>
            <a:r>
              <a:rPr lang="en-US" altLang="en-US" sz="2200"/>
              <a:t>is determined at run time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600"/>
              <a:t>In Java, binding takes place at run time - depending on the </a:t>
            </a:r>
            <a:r>
              <a:rPr lang="en-US" altLang="en-US" sz="2600" smtClean="0"/>
              <a:t>reference object </a:t>
            </a:r>
            <a:r>
              <a:rPr lang="en-US" altLang="en-US" sz="2600"/>
              <a:t>that invokes the method - not the type of the variable. This mechanism is called -late binding or -dynamic binding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200"/>
              <a:t>Dynamic binding is the basis of polymorphism in OOP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200"/>
              <a:t>The instanceof operator allows to check the actual class of the object at run time.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68FDEC-A7DD-40B2-A299-493DFF4C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E9AC347-3CD8-421E-B75D-56552B97EDA8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026">
            <a:extLst>
              <a:ext uri="{FF2B5EF4-FFF2-40B4-BE49-F238E27FC236}">
                <a16:creationId xmlns:a16="http://schemas.microsoft.com/office/drawing/2014/main" id="{92F556C4-3812-4712-831F-9505B8D1D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685800"/>
            <a:ext cx="7772400" cy="584200"/>
          </a:xfrm>
        </p:spPr>
        <p:txBody>
          <a:bodyPr>
            <a:normAutofit fontScale="90000"/>
          </a:bodyPr>
          <a:lstStyle/>
          <a:p>
            <a:pPr algn="ctr" rtl="0" eaLnBrk="1" hangingPunct="1">
              <a:defRPr/>
            </a:pPr>
            <a:r>
              <a:rPr lang="en-US" altLang="en-US"/>
              <a:t>OOP Design</a:t>
            </a:r>
          </a:p>
        </p:txBody>
      </p:sp>
      <p:sp>
        <p:nvSpPr>
          <p:cNvPr id="35843" name="Rectangle 1027">
            <a:extLst>
              <a:ext uri="{FF2B5EF4-FFF2-40B4-BE49-F238E27FC236}">
                <a16:creationId xmlns:a16="http://schemas.microsoft.com/office/drawing/2014/main" id="{45FE8C09-DF20-4B83-B82B-CA0EB83042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63687"/>
            <a:ext cx="8116888" cy="4608513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Modularization: is </a:t>
            </a:r>
            <a:r>
              <a:rPr lang="en-US" sz="2000" smtClean="0"/>
              <a:t>the </a:t>
            </a:r>
            <a:r>
              <a:rPr lang="en-US" sz="2000"/>
              <a:t>process of decomposing a problem into a set of modules </a:t>
            </a:r>
            <a:r>
              <a:rPr lang="en-US" sz="2000" smtClean="0"/>
              <a:t>to </a:t>
            </a:r>
            <a:r>
              <a:rPr lang="en-US" sz="2000"/>
              <a:t>reduce the overall complexity of the problem. </a:t>
            </a:r>
            <a:endParaRPr lang="en-US" altLang="en-US" sz="2000"/>
          </a:p>
          <a:p>
            <a:pPr algn="l" rtl="0" eaLnBrk="1" hangingPunct="1"/>
            <a:r>
              <a:rPr lang="en-US" altLang="en-US" sz="2000"/>
              <a:t>Hierarchy - hierarchical: </a:t>
            </a:r>
            <a:r>
              <a:rPr lang="en-US" altLang="en-US" sz="1800"/>
              <a:t>create related sub-systems until the most basic components are reached.</a:t>
            </a:r>
          </a:p>
          <a:p>
            <a:pPr lvl="1" algn="l" rtl="0" eaLnBrk="1" hangingPunct="1"/>
            <a:r>
              <a:rPr lang="en-US" altLang="en-US" sz="1800"/>
              <a:t>IS – A: inheritance type relationship</a:t>
            </a:r>
            <a:br>
              <a:rPr lang="en-US" altLang="en-US" sz="1800"/>
            </a:br>
            <a:r>
              <a:rPr lang="en-US" altLang="en-US" sz="2000"/>
              <a:t>+ </a:t>
            </a:r>
            <a:r>
              <a:rPr lang="en-US" altLang="en-US" sz="1800"/>
              <a:t>a Rose is a Flower</a:t>
            </a:r>
            <a:br>
              <a:rPr lang="en-US" altLang="en-US" sz="1800"/>
            </a:br>
            <a:r>
              <a:rPr lang="en-US" altLang="en-US" sz="1800"/>
              <a:t>+ class Rose extends Flower</a:t>
            </a:r>
          </a:p>
          <a:p>
            <a:pPr lvl="1" algn="l" rtl="0" eaLnBrk="1" hangingPunct="1"/>
            <a:r>
              <a:rPr lang="en-US" altLang="en-US" sz="1800"/>
              <a:t>HAS – A : aggregation </a:t>
            </a:r>
            <a:r>
              <a:rPr lang="en-US" altLang="en-US" sz="1800" smtClean="0"/>
              <a:t>relationship– </a:t>
            </a:r>
            <a:r>
              <a:rPr lang="en-US" altLang="en-US" sz="1800"/>
              <a:t>PART OF</a:t>
            </a:r>
            <a:br>
              <a:rPr lang="en-US" altLang="en-US" sz="1800"/>
            </a:br>
            <a:r>
              <a:rPr lang="en-US" altLang="en-US" sz="1800"/>
              <a:t>+ a Car has 4 wheels, brake..</a:t>
            </a:r>
            <a:br>
              <a:rPr lang="en-US" altLang="en-US" sz="1800"/>
            </a:br>
            <a:r>
              <a:rPr lang="en-US" altLang="en-US" sz="1800"/>
              <a:t>+ member of a class are other classes..</a:t>
            </a:r>
          </a:p>
          <a:p>
            <a:pPr algn="l" rtl="0" eaLnBrk="1" hangingPunct="1"/>
            <a:r>
              <a:rPr lang="en-US" altLang="en-US" sz="2000"/>
              <a:t>Reusability of design through creation of new classes by adding features to existing </a:t>
            </a:r>
            <a:r>
              <a:rPr lang="en-US" altLang="en-US" sz="2000" smtClean="0"/>
              <a:t>classes</a:t>
            </a:r>
          </a:p>
          <a:p>
            <a:pPr eaLnBrk="1" hangingPunct="1"/>
            <a:r>
              <a:rPr lang="en-US" sz="2000" smtClean="0"/>
              <a:t>Generalization – Specialization</a:t>
            </a:r>
          </a:p>
          <a:p>
            <a:pPr eaLnBrk="1" hangingPunct="1"/>
            <a:r>
              <a:rPr lang="en-US" sz="2000"/>
              <a:t>Aggregation or Composition</a:t>
            </a:r>
          </a:p>
          <a:p>
            <a:pPr eaLnBrk="1" hangingPunct="1"/>
            <a:endParaRPr lang="en-US" sz="2800"/>
          </a:p>
          <a:p>
            <a:pPr algn="l" rtl="0" eaLnBrk="1" hangingPunct="1"/>
            <a:endParaRPr lang="en-US" altLang="en-US" sz="2000"/>
          </a:p>
          <a:p>
            <a:pPr algn="l" rtl="0" eaLnBrk="1" hangingPunct="1"/>
            <a:endParaRPr lang="en-US" altLang="en-US" sz="2000"/>
          </a:p>
        </p:txBody>
      </p:sp>
      <p:sp>
        <p:nvSpPr>
          <p:cNvPr id="35844" name="Slide Number Placeholder 1">
            <a:extLst>
              <a:ext uri="{FF2B5EF4-FFF2-40B4-BE49-F238E27FC236}">
                <a16:creationId xmlns:a16="http://schemas.microsoft.com/office/drawing/2014/main" id="{5D2E6FEA-7996-48E7-8566-E0D4756F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1C41648-FA98-4105-9028-185A09B182EC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746ADCE-F990-4CC5-8FED-E27C8E72E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Practice Lab: Chapter 3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3C0423B-0453-4F17-B2E4-51473B4319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Write IntArray class in OOP . style</a:t>
            </a:r>
          </a:p>
          <a:p>
            <a:pPr lvl="1" algn="l" rtl="0" eaLnBrk="1" hangingPunct="1"/>
            <a:r>
              <a:rPr lang="en-US" altLang="en-US"/>
              <a:t>Draw </a:t>
            </a:r>
            <a:r>
              <a:rPr lang="en-US" altLang="en-US" smtClean="0"/>
              <a:t>class </a:t>
            </a:r>
            <a:r>
              <a:rPr lang="en-US" altLang="en-US"/>
              <a:t>diagram</a:t>
            </a:r>
          </a:p>
          <a:p>
            <a:pPr lvl="1" algn="l" rtl="0" eaLnBrk="1" hangingPunct="1"/>
            <a:r>
              <a:rPr lang="en-US" altLang="en-US" smtClean="0"/>
              <a:t>Every </a:t>
            </a:r>
            <a:r>
              <a:rPr lang="en-US" altLang="en-US"/>
              <a:t>operation on the array is replaced by a method</a:t>
            </a:r>
          </a:p>
          <a:p>
            <a:pPr lvl="1" algn="l" rtl="0" eaLnBrk="1" hangingPunct="1"/>
            <a:r>
              <a:rPr lang="en-US" altLang="en-US"/>
              <a:t>Write main() from another class to run </a:t>
            </a:r>
            <a:r>
              <a:rPr lang="en-US" altLang="en-US" smtClean="0"/>
              <a:t>program</a:t>
            </a:r>
            <a:endParaRPr lang="en-US" altLang="en-US"/>
          </a:p>
          <a:p>
            <a:pPr algn="l" rtl="0" eaLnBrk="1" hangingPunct="1"/>
            <a:r>
              <a:rPr lang="en-US" altLang="en-US"/>
              <a:t>Assignment 1: Virtual Shop</a:t>
            </a:r>
          </a:p>
          <a:p>
            <a:pPr lvl="1" algn="l" rtl="0" eaLnBrk="1" hangingPunct="1"/>
            <a:r>
              <a:rPr lang="en-US" altLang="en-US" smtClean="0"/>
              <a:t>Individual asignment</a:t>
            </a:r>
            <a:endParaRPr lang="en-US" altLang="en-US"/>
          </a:p>
          <a:p>
            <a:pPr lvl="1" algn="l" rtl="0" eaLnBrk="1" hangingPunct="1"/>
            <a:r>
              <a:rPr lang="en-US" altLang="en-US" smtClean="0"/>
              <a:t>See </a:t>
            </a:r>
            <a:r>
              <a:rPr lang="en-US" altLang="en-US"/>
              <a:t>virtualshop.doc description</a:t>
            </a:r>
          </a:p>
          <a:p>
            <a:pPr algn="l" rtl="0" eaLnBrk="1" hangingPunct="1"/>
            <a:endParaRPr lang="en-US" altLang="en-US"/>
          </a:p>
        </p:txBody>
      </p:sp>
      <p:sp>
        <p:nvSpPr>
          <p:cNvPr id="36868" name="Slide Number Placeholder 1">
            <a:extLst>
              <a:ext uri="{FF2B5EF4-FFF2-40B4-BE49-F238E27FC236}">
                <a16:creationId xmlns:a16="http://schemas.microsoft.com/office/drawing/2014/main" id="{B702E00E-79CB-40D6-B25A-6EE7C5C5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2CF244B0-9B64-4BF1-85BB-10B1C004E92D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936BEFB0-8681-4EC6-9AB5-52EA90CB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/>
              <a:t>Constructive Questions.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8A6CA-0C39-484E-9C40-96A2679C4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defRPr/>
            </a:pPr>
            <a:r>
              <a:rPr lang="en-US" sz="2000"/>
              <a:t>Compare the advantages and disadvantages of object-oriented programming and functional programming.</a:t>
            </a:r>
          </a:p>
          <a:p>
            <a:pPr algn="l" rtl="0">
              <a:defRPr/>
            </a:pPr>
            <a:r>
              <a:rPr lang="en-US" sz="2000"/>
              <a:t>Indicate the objects of the human resource management </a:t>
            </a:r>
            <a:r>
              <a:rPr lang="en-US" sz="2000" smtClean="0"/>
              <a:t>program according </a:t>
            </a:r>
            <a:r>
              <a:rPr lang="en-US" sz="2000"/>
              <a:t>to your assumptions and understanding.</a:t>
            </a:r>
          </a:p>
          <a:p>
            <a:pPr algn="l" rtl="0">
              <a:defRPr/>
            </a:pPr>
            <a:r>
              <a:rPr lang="en-US" sz="2000"/>
              <a:t>Find examples of classes with static properties.</a:t>
            </a:r>
          </a:p>
          <a:p>
            <a:pPr algn="l" rtl="0">
              <a:defRPr/>
            </a:pPr>
            <a:r>
              <a:rPr lang="en-US" sz="2000"/>
              <a:t>The counter variable i is used in most of the class functions, where should the variable i</a:t>
            </a:r>
            <a:r>
              <a:rPr lang="en-US" sz="2000" smtClean="0"/>
              <a:t> be </a:t>
            </a:r>
            <a:r>
              <a:rPr lang="en-US" sz="2000"/>
              <a:t>declared?</a:t>
            </a:r>
          </a:p>
          <a:p>
            <a:pPr algn="l" rtl="0">
              <a:defRPr/>
            </a:pPr>
            <a:r>
              <a:rPr lang="en-US" sz="2000"/>
              <a:t>How many constructors should a class have? </a:t>
            </a:r>
            <a:r>
              <a:rPr lang="en-US" sz="2000" smtClean="0"/>
              <a:t>Declare </a:t>
            </a:r>
            <a:r>
              <a:rPr lang="en-US" sz="2000"/>
              <a:t>at least 5 constructors </a:t>
            </a:r>
            <a:r>
              <a:rPr lang="en-US" sz="2000" smtClean="0"/>
              <a:t>of class Student(id</a:t>
            </a:r>
            <a:r>
              <a:rPr lang="en-US" sz="2000"/>
              <a:t>, name, dob, tel, password)</a:t>
            </a:r>
          </a:p>
          <a:p>
            <a:pPr algn="l" rtl="0">
              <a:defRPr/>
            </a:pPr>
            <a:r>
              <a:rPr lang="en-US" sz="2000" smtClean="0"/>
              <a:t>Declare </a:t>
            </a:r>
            <a:r>
              <a:rPr lang="en-US" sz="2000"/>
              <a:t>a method that allows to recover forgotten password of Student class? Assume the conditions for the pass to be reissued.</a:t>
            </a:r>
          </a:p>
          <a:p>
            <a:pPr algn="l" rtl="0">
              <a:defRPr/>
            </a:pPr>
            <a:r>
              <a:rPr lang="en-US" sz="2000"/>
              <a:t>Point out the similarities of the base class-subclass relationship in OOP programming and the relationship in a family </a:t>
            </a:r>
          </a:p>
          <a:p>
            <a:pPr marL="0" indent="0" algn="l" rtl="0">
              <a:buFont typeface="Wingdings" panose="05000000000000000000" pitchFamily="2" charset="2"/>
              <a:buNone/>
              <a:defRPr/>
            </a:pPr>
            <a:endParaRPr lang="en-US"/>
          </a:p>
          <a:p>
            <a:pPr algn="l" rtl="0">
              <a:defRPr/>
            </a:pPr>
            <a:endParaRPr 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4745F217-A28C-433D-93E6-FDDF0775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D39391A-9D3C-4F02-858D-D56BB305D3DE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0608984-C141-4DA6-B64F-F51C0DA36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/>
              <a:t>Constructive Questions.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3149B-892A-4FAE-9B1B-73FA14B41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defRPr/>
            </a:pPr>
            <a:r>
              <a:rPr lang="en-US" sz="2000"/>
              <a:t>Design the </a:t>
            </a:r>
            <a:r>
              <a:rPr lang="en-US" sz="2000" smtClean="0"/>
              <a:t>classes </a:t>
            </a:r>
            <a:r>
              <a:rPr lang="en-US" sz="2000"/>
              <a:t>of a hospital's cost management </a:t>
            </a:r>
            <a:r>
              <a:rPr lang="en-US" sz="2000" smtClean="0"/>
              <a:t>system </a:t>
            </a:r>
            <a:r>
              <a:rPr lang="en-US" sz="2000"/>
              <a:t>according to your understanding and reasonable assumptions.</a:t>
            </a:r>
          </a:p>
          <a:p>
            <a:pPr algn="l" rtl="0">
              <a:defRPr/>
            </a:pPr>
            <a:r>
              <a:rPr lang="en-US" sz="2000"/>
              <a:t>Find practical examples that illustrate the need to use protected keyword when declaring class members.</a:t>
            </a:r>
          </a:p>
          <a:p>
            <a:pPr algn="l" rtl="0">
              <a:defRPr/>
            </a:pPr>
            <a:r>
              <a:rPr lang="en-US" sz="2000"/>
              <a:t>What if a class declares all its members private?</a:t>
            </a:r>
          </a:p>
          <a:p>
            <a:pPr algn="l" rtl="0">
              <a:defRPr/>
            </a:pPr>
            <a:r>
              <a:rPr lang="en-US" sz="2000"/>
              <a:t>Compare override and overload characteristics of polymorphism</a:t>
            </a:r>
          </a:p>
          <a:p>
            <a:pPr algn="l" rtl="0">
              <a:defRPr/>
            </a:pPr>
            <a:r>
              <a:rPr lang="en-US" sz="2000"/>
              <a:t>Design the Medicine class - representing the drugs in the management </a:t>
            </a:r>
            <a:r>
              <a:rPr lang="en-US" sz="2000" smtClean="0"/>
              <a:t>system </a:t>
            </a:r>
            <a:r>
              <a:rPr lang="en-US" sz="2000"/>
              <a:t>of a pharmaceutical company - according to your knowledge.</a:t>
            </a:r>
          </a:p>
          <a:p>
            <a:pPr algn="l" rtl="0">
              <a:defRPr/>
            </a:pPr>
            <a:r>
              <a:rPr lang="en-US" sz="2000"/>
              <a:t>Designing classes of online sales problems, applying modularity and hierachy ideas. </a:t>
            </a:r>
          </a:p>
          <a:p>
            <a:pPr marL="0" indent="0" algn="l" rtl="0">
              <a:buFont typeface="Wingdings" panose="05000000000000000000" pitchFamily="2" charset="2"/>
              <a:buNone/>
              <a:defRPr/>
            </a:pPr>
            <a:endParaRPr lang="en-US"/>
          </a:p>
          <a:p>
            <a:pPr algn="l" rtl="0">
              <a:defRPr/>
            </a:pPr>
            <a:endParaRPr 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D6B0DDF8-0502-4116-9FE7-5937616D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0608AC7-8962-4098-9C82-2E28B1693507}" type="slidenum">
              <a:rPr lang="en-US" altLang="en-US" sz="1400">
                <a:latin typeface="Arial Unicode MS" pitchFamily="34" charset="-128"/>
              </a:rPr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>
              <a:latin typeface="Arial Unicode MS" pitchFamily="34" charset="-128"/>
            </a:endParaRP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aiGiangCDCN">
  <a:themeElements>
    <a:clrScheme name="BaiGiangCDCN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aiGiangCDC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aiGiangCDC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Chuong7 JDBC</Template>
  <TotalTime>2950</TotalTime>
  <Words>2087</Words>
  <Application>Microsoft Office PowerPoint</Application>
  <PresentationFormat>On-screen Show (4:3)</PresentationFormat>
  <Paragraphs>349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 Unicode MS</vt:lpstr>
      <vt:lpstr>Arial</vt:lpstr>
      <vt:lpstr>Wingdings</vt:lpstr>
      <vt:lpstr>BaiGiangCDCN</vt:lpstr>
      <vt:lpstr>Object Oriented Programming</vt:lpstr>
      <vt:lpstr>Objectives - Content</vt:lpstr>
      <vt:lpstr>OOP concept</vt:lpstr>
      <vt:lpstr>OOP concept..</vt:lpstr>
      <vt:lpstr>Advantages of OOP</vt:lpstr>
      <vt:lpstr>Object - Class</vt:lpstr>
      <vt:lpstr>Class</vt:lpstr>
      <vt:lpstr>Relationship between class and object</vt:lpstr>
      <vt:lpstr>Object attributes</vt:lpstr>
      <vt:lpstr>Object behaviors</vt:lpstr>
      <vt:lpstr>Data abstraction</vt:lpstr>
      <vt:lpstr>Data abstraction..</vt:lpstr>
      <vt:lpstr>Class diagram</vt:lpstr>
      <vt:lpstr>Class definition - syntax</vt:lpstr>
      <vt:lpstr>Class definition</vt:lpstr>
      <vt:lpstr>Constructor</vt:lpstr>
      <vt:lpstr>Method - function</vt:lpstr>
      <vt:lpstr>Access class members</vt:lpstr>
      <vt:lpstr>Three characteristics of OOP</vt:lpstr>
      <vt:lpstr>Encapsulation – data hiding</vt:lpstr>
      <vt:lpstr>Encapsulation.. Keywords specifying access</vt:lpstr>
      <vt:lpstr>Inheritance</vt:lpstr>
      <vt:lpstr>Inheritance.. Subclass</vt:lpstr>
      <vt:lpstr>Inheritance.. subclass constructor</vt:lpstr>
      <vt:lpstr>Polymorphism</vt:lpstr>
      <vt:lpstr>Polymorphism.. overloading</vt:lpstr>
      <vt:lpstr>Polymorphism.. overriding</vt:lpstr>
      <vt:lpstr>Compare overloading &amp; overriding </vt:lpstr>
      <vt:lpstr>Dynamic binding</vt:lpstr>
      <vt:lpstr>OOP Design</vt:lpstr>
      <vt:lpstr>Practice Lab: Chapter 3</vt:lpstr>
      <vt:lpstr>Constructive Questions.</vt:lpstr>
      <vt:lpstr>Constructive Questions.</vt:lpstr>
    </vt:vector>
  </TitlesOfParts>
  <Company>Aptech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Genesis of Java</dc:title>
  <dc:creator>Shridevi Sethuraman</dc:creator>
  <cp:lastModifiedBy>Windows User</cp:lastModifiedBy>
  <cp:revision>136</cp:revision>
  <cp:lastPrinted>1999-02-08T10:27:34Z</cp:lastPrinted>
  <dcterms:created xsi:type="dcterms:W3CDTF">1999-02-08T10:06:25Z</dcterms:created>
  <dcterms:modified xsi:type="dcterms:W3CDTF">2021-08-04T06:59:08Z</dcterms:modified>
</cp:coreProperties>
</file>