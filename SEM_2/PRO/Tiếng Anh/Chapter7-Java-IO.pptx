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27"/>
  </p:notesMasterIdLst>
  <p:sldIdLst>
    <p:sldId id="278" r:id="rId2"/>
    <p:sldId id="256" r:id="rId3"/>
    <p:sldId id="300" r:id="rId4"/>
    <p:sldId id="301" r:id="rId5"/>
    <p:sldId id="280" r:id="rId6"/>
    <p:sldId id="302" r:id="rId7"/>
    <p:sldId id="303" r:id="rId8"/>
    <p:sldId id="283" r:id="rId9"/>
    <p:sldId id="285" r:id="rId10"/>
    <p:sldId id="304" r:id="rId11"/>
    <p:sldId id="305" r:id="rId12"/>
    <p:sldId id="287" r:id="rId13"/>
    <p:sldId id="306" r:id="rId14"/>
    <p:sldId id="270" r:id="rId15"/>
    <p:sldId id="290" r:id="rId16"/>
    <p:sldId id="292" r:id="rId17"/>
    <p:sldId id="293" r:id="rId18"/>
    <p:sldId id="295" r:id="rId19"/>
    <p:sldId id="296" r:id="rId20"/>
    <p:sldId id="297" r:id="rId21"/>
    <p:sldId id="298" r:id="rId22"/>
    <p:sldId id="299" r:id="rId23"/>
    <p:sldId id="307" r:id="rId24"/>
    <p:sldId id="308" r:id="rId25"/>
    <p:sldId id="309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Unicode MS" pitchFamily="34" charset="-128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1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1CFC1-C990-4223-8325-5827AF1777CE}" type="datetimeFigureOut">
              <a:rPr lang="en-US" smtClean="0"/>
              <a:t>04/08/2021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5768E-4007-409E-AF15-2419EA5B7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7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4FCDD4A-C297-4277-8AE4-1D06D6F2812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D025F511-3864-4DF6-B862-AB43713D75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69F711D8-3324-4FDB-8F7D-5CAA40D1E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7A9C4754-49BA-4EBF-9E07-759B13F3D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589087A-B6ED-4A51-BD51-79EB0E396E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9625C99F-5F6F-4A86-BD34-30AE5FA19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CA1ECE67-F79C-4E50-BB50-03DCE88C20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AC74E4DA-1436-4321-97DC-CB11E1E53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832A30B9-9397-4E1D-A6B5-45CC1FD82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980D84A3-2456-4049-9FA1-4D7625A5202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4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4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51A84D7B-D1E5-4B06-855F-C6B4E98132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7C6B6D91-FC69-40CF-8015-B04B51DCF033}" type="datetime1">
              <a:rPr lang="en-US" smtClean="0"/>
              <a:t>04/08/2021</a:t>
            </a:fld>
            <a:endParaRPr 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D0C9B732-2337-4C9B-A972-6E7801057B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en-US" smtClean="0"/>
              <a:t> Programming Java 2 / Sessions / 1 of 23</a:t>
            </a:r>
            <a:endParaRPr lang="en-US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C014FA3B-CDE9-49A7-A7D4-F51813D3BD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76A422F-02E4-4766-AB99-F12CFA2975C5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8" name="Picture 17" descr="logo.png">
            <a:extLst>
              <a:ext uri="{FF2B5EF4-FFF2-40B4-BE49-F238E27FC236}">
                <a16:creationId xmlns:a16="http://schemas.microsoft.com/office/drawing/2014/main" id="{96DB7A77-F6F6-43E1-AF5E-6D9EF7D9A7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934501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4B24C63-8246-437A-A233-6436EBF271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0B7E01-2DA7-49CF-B9DC-B3BA77D6D4E7}" type="datetime1">
              <a:rPr lang="en-US" smtClean="0"/>
              <a:t>04/08/2021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77E2CF0-5D4D-4AA1-802A-8F9E735647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 Programming Java 2 / Sessions / 1 of 23</a:t>
            </a:r>
            <a:endParaRPr lang="en-US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BC282FB-6DE8-4C9B-8148-4598B95133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19FD99-08DD-48C0-A6FF-09297A55D3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1938407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B5C07ED6-5CBA-4EA7-B7D7-B50BEED54A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18650-C605-46C9-AE95-CA0C3AAFB314}" type="datetime1">
              <a:rPr lang="en-US" smtClean="0"/>
              <a:t>04/08/2021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9EA81E7-4C74-4E29-B833-E71197FE32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 Programming Java 2 / Sessions / 1 of 23</a:t>
            </a:r>
            <a:endParaRPr lang="en-US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2D00669-FAD3-4B53-9546-9E0616A98E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63212E-E6F9-4D5F-99CB-B40E6FF949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2016904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3981450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2050" y="1524000"/>
            <a:ext cx="3983038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25A5BA62-2A43-4F4A-B38D-1A42660B13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88EFB-F20E-4DEE-98DA-A998FB693DBE}" type="datetime1">
              <a:rPr lang="en-US" smtClean="0"/>
              <a:t>04/08/2021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14881B9D-FFBA-40B5-83C4-81B6F2D655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 Programming Java 2 / Sessions / 1 of 23</a:t>
            </a:r>
            <a:endParaRPr lang="en-US" alt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90419CC4-A731-4393-AC53-C994C9ADC9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A8206F-EC4F-4758-BC6A-8BEA9D09AA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26834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8619046-384B-49C9-BAA0-64BC25BC8F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FEEBE-00A3-4A09-81CF-E143406EB16D}" type="datetime1">
              <a:rPr lang="en-US" smtClean="0"/>
              <a:t>04/08/2021</a:t>
            </a:fld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3F7085A-16E7-4C31-84DB-D86AFD7AE2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 Programming Java 2 / Sessions / 1 of 23</a:t>
            </a:r>
            <a:endParaRPr lang="en-US" alt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9D07C3B-C34B-4C55-A2C7-F549144102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AC8F66-6104-43E6-A6AA-00691B38C7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377405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AC73B7A6-43B8-4C2F-9999-7E51D2FF18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DC96B-93EF-43AF-A326-C953B0A1BBA4}" type="datetime1">
              <a:rPr lang="en-US" smtClean="0"/>
              <a:t>04/08/2021</a:t>
            </a:fld>
            <a:endParaRPr 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5CBA437-BAC2-42D4-B025-B8C12C324E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 Programming Java 2 / Sessions / 1 of 23</a:t>
            </a:r>
            <a:endParaRPr lang="en-US" alt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C973F16-449A-45C4-A901-463E625863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8031F7-5B28-471A-881C-9C3460EA42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88041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295BA0A6-1968-4E11-8A89-253E9780B6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8A3E7-CDDB-4D9F-985C-9EE6916019F7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ED9ADFA8-CEEB-458C-87C3-0E966BBDB2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 Programming Java 2 / Sessions / 1 of 23</a:t>
            </a:r>
            <a:endParaRPr lang="en-US" alt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7EC8818-828C-45D5-980C-C2A64F3310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75E7F5-601F-4095-AC63-AC3011298A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533730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48A08A4D-6D6B-4C88-A505-E11FEBB06F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0E0D6-5157-48F8-811E-4DC5EEF0D484}" type="datetime1">
              <a:rPr lang="en-US" smtClean="0"/>
              <a:t>04/08/2021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D2976B7B-14AB-47CB-B8A5-2197A914CF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 Programming Java 2 / Sessions / 1 of 23</a:t>
            </a:r>
            <a:endParaRPr lang="en-US" alt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CC6A1959-59AE-47FA-85E1-34AC742985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13DD92-A1A3-4CE3-B7F9-1E8E4588DC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2084281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8AB952F6-718E-4D63-9B08-2ED2CD5C82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46D334-D908-4AB4-B71E-8254274CE0E9}" type="datetime1">
              <a:rPr lang="en-US" smtClean="0"/>
              <a:t>04/08/2021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4622395-FDE0-4468-8078-FA49EED059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 Programming Java 2 / Sessions / 1 of 23</a:t>
            </a:r>
            <a:endParaRPr lang="en-US" alt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5FBB527D-1D89-418F-B430-97580CCBA7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F11F76-B99D-43EA-B0A0-F7BDE7B254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2168817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77EFE6A3-C58B-4888-AE03-AA75C21F2D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1BE479-000E-47EE-A26D-372666E87318}" type="datetime1">
              <a:rPr lang="en-US" smtClean="0"/>
              <a:t>04/08/2021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D1E3501-A195-4F6F-8636-609B550B9F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 Programming Java 2 / Sessions / 1 of 23</a:t>
            </a:r>
            <a:endParaRPr lang="en-US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6955FE6-B9C2-4D26-ADE3-1072C9D4F4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74567B-B936-435B-A7D7-B40EB3C5AC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5071563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26263" y="187325"/>
            <a:ext cx="2028825" cy="5945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7325"/>
            <a:ext cx="5935663" cy="594518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C8BD5EC-5EE7-4994-A9B1-80AD696AAA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B4B548-A425-40BF-9F0C-2495238E79EF}" type="datetime1">
              <a:rPr lang="en-US" smtClean="0"/>
              <a:t>04/08/2021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CF59808-AAAC-42CC-B8CA-549DF92790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 Programming Java 2 / Sessions / 1 of 23</a:t>
            </a:r>
            <a:endParaRPr lang="en-US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BDF1009-EA42-44F6-9302-24B09D786B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C346CB-D1AB-4BA8-BCB2-49A19BC8C5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8266981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1AD80FA-7DC7-4B75-B3E8-3E3424D227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6715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03ADC1D-F46A-4B5E-8366-53A5658C508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B505275-878D-49EC-AB78-FF1F77CEA3E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20173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48D9989-8F52-4BBB-9B42-8D8322FACA3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20173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81B7E53-2BC4-4BB5-871F-9A95D86F239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81B6B0F-EC3A-47BD-A84D-81D94656545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327150"/>
            <a:ext cx="8226425" cy="7461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D4A1FA1-4D4A-40F7-9756-628949A048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187325"/>
            <a:ext cx="779303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33129" name="Rectangle 9">
            <a:extLst>
              <a:ext uri="{FF2B5EF4-FFF2-40B4-BE49-F238E27FC236}">
                <a16:creationId xmlns:a16="http://schemas.microsoft.com/office/drawing/2014/main" id="{60104123-9D30-4843-9935-5CEB90B8A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524000"/>
            <a:ext cx="8116888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30" name="Rectangle 10">
            <a:extLst>
              <a:ext uri="{FF2B5EF4-FFF2-40B4-BE49-F238E27FC236}">
                <a16:creationId xmlns:a16="http://schemas.microsoft.com/office/drawing/2014/main" id="{6285E0DF-92FC-49DB-82E0-67989DE1C91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3638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ABD75CE1-5AB9-4AE8-BCCD-2FD851F8E601}" type="datetime1">
              <a:rPr lang="en-US" smtClean="0"/>
              <a:t>04/08/2021</a:t>
            </a:fld>
            <a:endParaRPr lang="en-US"/>
          </a:p>
        </p:txBody>
      </p:sp>
      <p:sp>
        <p:nvSpPr>
          <p:cNvPr id="133131" name="Rectangle 11">
            <a:extLst>
              <a:ext uri="{FF2B5EF4-FFF2-40B4-BE49-F238E27FC236}">
                <a16:creationId xmlns:a16="http://schemas.microsoft.com/office/drawing/2014/main" id="{F4923F6F-8428-4626-96C2-7C80D76287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133600" y="6243638"/>
            <a:ext cx="579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panose="020B0604020202020204" pitchFamily="34" charset="0"/>
              </a:defRPr>
            </a:lvl1pPr>
          </a:lstStyle>
          <a:p>
            <a:r>
              <a:rPr lang="en-US" altLang="en-US" smtClean="0"/>
              <a:t> Programming Java 2 / Sessions / 1 of 23</a:t>
            </a:r>
            <a:endParaRPr lang="en-US" altLang="en-US"/>
          </a:p>
        </p:txBody>
      </p:sp>
      <p:sp>
        <p:nvSpPr>
          <p:cNvPr id="133132" name="Rectangle 12">
            <a:extLst>
              <a:ext uri="{FF2B5EF4-FFF2-40B4-BE49-F238E27FC236}">
                <a16:creationId xmlns:a16="http://schemas.microsoft.com/office/drawing/2014/main" id="{308562EA-8276-44E0-BA96-78D714596E1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243638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3AFE2598-E4EE-425E-A07E-1DA278661F8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7" name="Line 13">
            <a:extLst>
              <a:ext uri="{FF2B5EF4-FFF2-40B4-BE49-F238E27FC236}">
                <a16:creationId xmlns:a16="http://schemas.microsoft.com/office/drawing/2014/main" id="{B50E840C-41F2-44BC-9AAE-679AF762F1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64008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38" name="Rectangle 14">
            <a:extLst>
              <a:ext uri="{FF2B5EF4-FFF2-40B4-BE49-F238E27FC236}">
                <a16:creationId xmlns:a16="http://schemas.microsoft.com/office/drawing/2014/main" id="{5ABBAD43-596C-4488-B329-71FBB78E209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0207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pic>
        <p:nvPicPr>
          <p:cNvPr id="15" name="Picture 14" descr="logo.png">
            <a:extLst>
              <a:ext uri="{FF2B5EF4-FFF2-40B4-BE49-F238E27FC236}">
                <a16:creationId xmlns:a16="http://schemas.microsoft.com/office/drawing/2014/main" id="{96DB7A77-F6F6-43E1-AF5E-6D9EF7D9A77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13CF6C9-47E9-4350-B70E-E109B4F355D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Java Input-Output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D086D6-BD41-4332-B8FE-58ABA8BE57F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38200" y="3886200"/>
            <a:ext cx="7543800" cy="1752600"/>
          </a:xfrm>
        </p:spPr>
        <p:txBody>
          <a:bodyPr/>
          <a:lstStyle/>
          <a:p>
            <a:pPr rtl="0" eaLnBrk="1" hangingPunct="1"/>
            <a:r>
              <a:rPr lang="en-US" altLang="en-US"/>
              <a:t>Object Oriented Programming with </a:t>
            </a:r>
            <a:r>
              <a:rPr lang="en-US" altLang="en-US" smtClean="0"/>
              <a:t>Java</a:t>
            </a:r>
          </a:p>
          <a:p>
            <a:pPr rtl="0" eaLnBrk="1" hangingPunct="1"/>
            <a:r>
              <a:rPr lang="en-US" altLang="en-US" smtClean="0"/>
              <a:t>Chapter </a:t>
            </a:r>
            <a:r>
              <a:rPr lang="en-US" altLang="en-US" smtClean="0"/>
              <a:t>7</a:t>
            </a:r>
          </a:p>
          <a:p>
            <a:pPr rtl="0" eaLnBrk="1" hangingPunct="1"/>
            <a:r>
              <a:rPr lang="en-US" altLang="en-US" smtClean="0"/>
              <a:t>FPTU Da Nang – IT Department</a:t>
            </a:r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197F684-7135-4FC8-869D-18126AB995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57200"/>
            <a:ext cx="7772400" cy="533400"/>
          </a:xfrm>
        </p:spPr>
        <p:txBody>
          <a:bodyPr/>
          <a:lstStyle/>
          <a:p>
            <a:pPr algn="l" rtl="0" eaLnBrk="1" hangingPunct="1"/>
            <a:r>
              <a:rPr lang="en-US" altLang="en-US" sz="3600" smtClean="0">
                <a:latin typeface="Tahoma" panose="020B0604030504040204" pitchFamily="34" charset="0"/>
                <a:ea typeface="Arial Unicode MS" pitchFamily="34" charset="-128"/>
              </a:rPr>
              <a:t>Objectives - Contents</a:t>
            </a:r>
            <a:r>
              <a:rPr lang="en-US" altLang="en-US" smtClean="0"/>
              <a:t> </a:t>
            </a: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11B91A6-BC75-48D4-BFA7-D8E17D5B6F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47800"/>
            <a:ext cx="7772400" cy="5181600"/>
          </a:xfrm>
        </p:spPr>
        <p:txBody>
          <a:bodyPr/>
          <a:lstStyle/>
          <a:p>
            <a:pPr algn="l" rtl="0" eaLnBrk="1" hangingPunct="1"/>
            <a:r>
              <a:rPr lang="en-US" altLang="en-US" b="1">
                <a:latin typeface="Mono3Frame-Regular" charset="0"/>
                <a:ea typeface="Arial Unicode MS" pitchFamily="34" charset="-128"/>
              </a:rPr>
              <a:t>File </a:t>
            </a:r>
          </a:p>
          <a:p>
            <a:pPr algn="l" rtl="0" eaLnBrk="1" hangingPunct="1"/>
            <a:r>
              <a:rPr lang="en-US" altLang="en-US" b="1">
                <a:latin typeface="Mono3Frame-Regular" charset="0"/>
                <a:ea typeface="Arial Unicode MS" pitchFamily="34" charset="-128"/>
              </a:rPr>
              <a:t>RandomAccessFile </a:t>
            </a:r>
          </a:p>
          <a:p>
            <a:pPr algn="l" rtl="0" eaLnBrk="1" hangingPunct="1"/>
            <a:r>
              <a:rPr lang="en-US" altLang="en-US" b="1" smtClean="0">
                <a:latin typeface="Sabon-Roman" charset="0"/>
                <a:ea typeface="Arial Unicode MS" pitchFamily="34" charset="-128"/>
              </a:rPr>
              <a:t>Streams</a:t>
            </a:r>
            <a:endParaRPr lang="en-US" altLang="en-US">
              <a:latin typeface="Sabon-Roman" charset="0"/>
              <a:ea typeface="Arial Unicode MS" pitchFamily="34" charset="-128"/>
            </a:endParaRPr>
          </a:p>
          <a:p>
            <a:pPr lvl="1" eaLnBrk="1" hangingPunct="1"/>
            <a:r>
              <a:rPr lang="en-US" altLang="en-US" smtClean="0">
                <a:latin typeface="Univers-Bold" charset="0"/>
                <a:ea typeface="Arial Unicode MS" pitchFamily="34" charset="-128"/>
              </a:rPr>
              <a:t>Low-Level Streams</a:t>
            </a:r>
          </a:p>
          <a:p>
            <a:pPr lvl="1" eaLnBrk="1" hangingPunct="1"/>
            <a:r>
              <a:rPr lang="en-US" altLang="en-US" smtClean="0">
                <a:latin typeface="Univers-Bold" charset="0"/>
                <a:ea typeface="Arial Unicode MS" pitchFamily="34" charset="-128"/>
              </a:rPr>
              <a:t>High-Level </a:t>
            </a:r>
            <a:r>
              <a:rPr lang="en-US" altLang="en-US">
                <a:latin typeface="Univers-Bold" charset="0"/>
                <a:ea typeface="Arial Unicode MS" pitchFamily="34" charset="-128"/>
              </a:rPr>
              <a:t>Filter Streams</a:t>
            </a:r>
            <a:r>
              <a:rPr lang="en-US" altLang="en-US">
                <a:latin typeface="Sabon-Roman" charset="0"/>
                <a:ea typeface="Arial Unicode MS" pitchFamily="34" charset="-128"/>
              </a:rPr>
              <a:t> </a:t>
            </a:r>
          </a:p>
          <a:p>
            <a:pPr algn="l" rtl="0" eaLnBrk="1" hangingPunct="1"/>
            <a:r>
              <a:rPr lang="en-US" altLang="en-US" b="1">
                <a:latin typeface="Sabon-Roman" charset="0"/>
                <a:ea typeface="Arial Unicode MS" pitchFamily="34" charset="-128"/>
              </a:rPr>
              <a:t> Readers, and Writers</a:t>
            </a:r>
            <a:r>
              <a:rPr lang="en-US" altLang="en-US" b="1">
                <a:latin typeface="Mono3Frame-Regular" charset="0"/>
                <a:ea typeface="Arial Unicode MS" pitchFamily="34" charset="-128"/>
              </a:rPr>
              <a:t> </a:t>
            </a:r>
            <a:endParaRPr lang="en-US" altLang="en-US">
              <a:latin typeface="Mono3Frame-Regular" charset="0"/>
              <a:ea typeface="Arial Unicode MS" pitchFamily="34" charset="-128"/>
            </a:endParaRPr>
          </a:p>
          <a:p>
            <a:pPr lvl="1" eaLnBrk="1" hangingPunct="1"/>
            <a:r>
              <a:rPr lang="en-US" altLang="en-US" smtClean="0">
                <a:latin typeface="Mono3Frame-Regular" charset="0"/>
                <a:ea typeface="Arial Unicode MS" pitchFamily="34" charset="-128"/>
              </a:rPr>
              <a:t>L</a:t>
            </a:r>
            <a:r>
              <a:rPr lang="en-US" altLang="en-US" smtClean="0">
                <a:latin typeface="Sabon-Roman" charset="0"/>
                <a:ea typeface="Arial Unicode MS" pitchFamily="34" charset="-128"/>
              </a:rPr>
              <a:t>ow-level </a:t>
            </a:r>
            <a:r>
              <a:rPr lang="en-US" altLang="en-US">
                <a:latin typeface="Sabon-Roman" charset="0"/>
                <a:ea typeface="Arial Unicode MS" pitchFamily="34" charset="-128"/>
              </a:rPr>
              <a:t>reader and </a:t>
            </a:r>
            <a:r>
              <a:rPr lang="en-US" altLang="en-US" smtClean="0">
                <a:latin typeface="Sabon-Roman" charset="0"/>
                <a:ea typeface="Arial Unicode MS" pitchFamily="34" charset="-128"/>
              </a:rPr>
              <a:t>writer</a:t>
            </a:r>
          </a:p>
          <a:p>
            <a:pPr lvl="1" eaLnBrk="1" hangingPunct="1"/>
            <a:r>
              <a:rPr lang="en-US" altLang="en-US" smtClean="0">
                <a:latin typeface="Sabon-Roman" charset="0"/>
                <a:ea typeface="Arial Unicode MS" pitchFamily="34" charset="-128"/>
              </a:rPr>
              <a:t>High-level </a:t>
            </a:r>
            <a:r>
              <a:rPr lang="en-US" altLang="en-US">
                <a:latin typeface="Sabon-Roman" charset="0"/>
                <a:ea typeface="Arial Unicode MS" pitchFamily="34" charset="-128"/>
              </a:rPr>
              <a:t>reader or writer </a:t>
            </a:r>
          </a:p>
          <a:p>
            <a:pPr algn="l" rtl="0" eaLnBrk="1" hangingPunct="1"/>
            <a:r>
              <a:rPr lang="en-US" altLang="en-US" b="1">
                <a:latin typeface="Univers-Bold" charset="0"/>
                <a:ea typeface="Arial Unicode MS" pitchFamily="34" charset="-128"/>
              </a:rPr>
              <a:t>Object Streams and Serialization</a:t>
            </a:r>
            <a:r>
              <a:rPr lang="en-US" altLang="en-US">
                <a:latin typeface="Sabon-Roman" charset="0"/>
                <a:ea typeface="Arial Unicode MS" pitchFamily="34" charset="-128"/>
              </a:rPr>
              <a:t> </a:t>
            </a:r>
            <a:endParaRPr lang="en-US" altLang="en-US">
              <a:latin typeface="Mono3Frame-Regular" charset="0"/>
              <a:ea typeface="Arial Unicode MS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C029A7-781C-493E-89F6-D7D78E1EEC33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>
            <a:extLst>
              <a:ext uri="{FF2B5EF4-FFF2-40B4-BE49-F238E27FC236}">
                <a16:creationId xmlns:a16="http://schemas.microsoft.com/office/drawing/2014/main" id="{58CBEC80-8FA7-429F-9D64-62B4B937D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General introduction</a:t>
            </a:r>
          </a:p>
        </p:txBody>
      </p:sp>
      <p:sp>
        <p:nvSpPr>
          <p:cNvPr id="5123" name="Rectangle 1027">
            <a:extLst>
              <a:ext uri="{FF2B5EF4-FFF2-40B4-BE49-F238E27FC236}">
                <a16:creationId xmlns:a16="http://schemas.microsoft.com/office/drawing/2014/main" id="{940E92C7-8AF0-4FF5-8CEB-3EA755A4EC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400"/>
              <a:t>Java </a:t>
            </a:r>
            <a:r>
              <a:rPr lang="en-US" altLang="en-US" sz="2400" smtClean="0"/>
              <a:t>Input </a:t>
            </a:r>
            <a:r>
              <a:rPr lang="en-US" altLang="en-US" sz="2400"/>
              <a:t>and </a:t>
            </a:r>
            <a:r>
              <a:rPr lang="en-US" altLang="en-US" sz="2400" smtClean="0"/>
              <a:t>output classified</a:t>
            </a:r>
            <a:endParaRPr lang="en-US" altLang="en-US" sz="24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 smtClean="0"/>
              <a:t>Access mechanism</a:t>
            </a:r>
            <a:endParaRPr lang="en-US" altLang="en-US" sz="2000"/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/>
              <a:t>Random Access – RandomAccessFile</a:t>
            </a:r>
          </a:p>
          <a:p>
            <a:pPr lvl="3" algn="l" rtl="0" eaLnBrk="1" hangingPunct="1">
              <a:lnSpc>
                <a:spcPct val="90000"/>
              </a:lnSpc>
            </a:pPr>
            <a:r>
              <a:rPr lang="en-US" altLang="en-US"/>
              <a:t>allow simultaneous read and write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/>
              <a:t>Sequential access - </a:t>
            </a:r>
            <a:r>
              <a:rPr lang="en-US" altLang="en-US" smtClean="0"/>
              <a:t>using </a:t>
            </a:r>
            <a:r>
              <a:rPr lang="en-US" altLang="en-US"/>
              <a:t>stream</a:t>
            </a:r>
          </a:p>
          <a:p>
            <a:pPr lvl="3" algn="l" rtl="0" eaLnBrk="1" hangingPunct="1">
              <a:lnSpc>
                <a:spcPct val="90000"/>
              </a:lnSpc>
            </a:pPr>
            <a:r>
              <a:rPr lang="en-US" altLang="en-US" smtClean="0"/>
              <a:t>Separate class for read and write operation </a:t>
            </a:r>
            <a:endParaRPr lang="en-US" altLang="en-US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 smtClean="0"/>
              <a:t>Data format</a:t>
            </a:r>
            <a:endParaRPr lang="en-US" altLang="en-US" sz="2000"/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 smtClean="0"/>
              <a:t>Text : </a:t>
            </a:r>
            <a:endParaRPr lang="en-US" altLang="en-US"/>
          </a:p>
          <a:p>
            <a:pPr lvl="3" algn="l" rtl="0" eaLnBrk="1" hangingPunct="1">
              <a:lnSpc>
                <a:spcPct val="90000"/>
              </a:lnSpc>
            </a:pPr>
            <a:r>
              <a:rPr lang="en-US" altLang="en-US"/>
              <a:t>Reader : </a:t>
            </a:r>
            <a:r>
              <a:rPr lang="en-US" altLang="en-US" smtClean="0"/>
              <a:t>for reading </a:t>
            </a:r>
            <a:r>
              <a:rPr lang="en-US" altLang="en-US"/>
              <a:t>text </a:t>
            </a:r>
            <a:r>
              <a:rPr lang="en-US" altLang="en-US" smtClean="0"/>
              <a:t>data</a:t>
            </a:r>
            <a:endParaRPr lang="en-US" altLang="en-US"/>
          </a:p>
          <a:p>
            <a:pPr lvl="3" algn="l" rtl="0" eaLnBrk="1" hangingPunct="1">
              <a:lnSpc>
                <a:spcPct val="90000"/>
              </a:lnSpc>
            </a:pPr>
            <a:r>
              <a:rPr lang="en-US" altLang="en-US"/>
              <a:t>Writer: </a:t>
            </a:r>
            <a:r>
              <a:rPr lang="en-US" altLang="en-US" smtClean="0"/>
              <a:t>for writing text data</a:t>
            </a:r>
            <a:endParaRPr lang="en-US" altLang="en-US"/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 smtClean="0"/>
              <a:t>Binary</a:t>
            </a:r>
            <a:endParaRPr lang="en-US" altLang="en-US"/>
          </a:p>
          <a:p>
            <a:pPr lvl="3" algn="l" rtl="0" eaLnBrk="1" hangingPunct="1">
              <a:lnSpc>
                <a:spcPct val="90000"/>
              </a:lnSpc>
            </a:pPr>
            <a:r>
              <a:rPr lang="en-US" altLang="en-US"/>
              <a:t>InputStream: stream of binary data to read</a:t>
            </a:r>
          </a:p>
          <a:p>
            <a:pPr lvl="3" algn="l" rtl="0" eaLnBrk="1" hangingPunct="1">
              <a:lnSpc>
                <a:spcPct val="90000"/>
              </a:lnSpc>
            </a:pPr>
            <a:r>
              <a:rPr lang="en-US" altLang="en-US"/>
              <a:t>OutputStream: stream of binary data to write</a:t>
            </a:r>
          </a:p>
          <a:p>
            <a:pPr lvl="3" algn="l" rtl="0" eaLnBrk="1" hangingPunct="1">
              <a:lnSpc>
                <a:spcPct val="90000"/>
              </a:lnSpc>
            </a:pPr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302257-C0A7-4BFC-9C7A-C9BAD9422D0B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6D9086F-0501-4C9A-B2F8-5CD64D89E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General introduction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3319F1A-6C0D-4567-BACB-2306A6D1FF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63687"/>
            <a:ext cx="8116888" cy="4608513"/>
          </a:xfrm>
        </p:spPr>
        <p:txBody>
          <a:bodyPr/>
          <a:lstStyle/>
          <a:p>
            <a:pPr lvl="1" algn="l" rtl="0" eaLnBrk="1" hangingPunct="1">
              <a:lnSpc>
                <a:spcPct val="90000"/>
              </a:lnSpc>
            </a:pPr>
            <a:r>
              <a:rPr lang="en-US" altLang="en-US" sz="2400" smtClean="0"/>
              <a:t>Access level</a:t>
            </a:r>
            <a:endParaRPr lang="en-US" altLang="en-US" sz="2400"/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 sz="2000" smtClean="0"/>
              <a:t>Low </a:t>
            </a:r>
            <a:r>
              <a:rPr lang="en-US" altLang="en-US" sz="2000"/>
              <a:t>level </a:t>
            </a:r>
          </a:p>
          <a:p>
            <a:pPr lvl="3" algn="l" rtl="0" eaLnBrk="1" hangingPunct="1">
              <a:lnSpc>
                <a:spcPct val="90000"/>
              </a:lnSpc>
            </a:pPr>
            <a:r>
              <a:rPr lang="en-US" altLang="en-US"/>
              <a:t>read and write directly on the input/output device </a:t>
            </a:r>
          </a:p>
          <a:p>
            <a:pPr lvl="3" algn="l" rtl="0" eaLnBrk="1" hangingPunct="1">
              <a:lnSpc>
                <a:spcPct val="90000"/>
              </a:lnSpc>
            </a:pPr>
            <a:r>
              <a:rPr lang="en-US" altLang="en-US"/>
              <a:t>read or write </a:t>
            </a:r>
            <a:r>
              <a:rPr lang="en-US" altLang="en-US" smtClean="0"/>
              <a:t>1 unit of data (1 byte – 1 character)</a:t>
            </a:r>
            <a:endParaRPr lang="en-US" altLang="en-US"/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 sz="2000" smtClean="0"/>
              <a:t>High </a:t>
            </a:r>
            <a:r>
              <a:rPr lang="en-US" altLang="en-US" sz="2000"/>
              <a:t>level </a:t>
            </a:r>
          </a:p>
          <a:p>
            <a:pPr lvl="3" algn="l" rtl="0" eaLnBrk="1" hangingPunct="1">
              <a:lnSpc>
                <a:spcPct val="90000"/>
              </a:lnSpc>
            </a:pPr>
            <a:r>
              <a:rPr lang="en-US" altLang="en-US" smtClean="0"/>
              <a:t>Using cache for reading </a:t>
            </a:r>
            <a:r>
              <a:rPr lang="en-US" altLang="en-US"/>
              <a:t>and writing </a:t>
            </a:r>
            <a:r>
              <a:rPr lang="en-US" altLang="en-US" smtClean="0"/>
              <a:t>block </a:t>
            </a:r>
            <a:r>
              <a:rPr lang="en-US" altLang="en-US"/>
              <a:t>of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Utility I/O class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 sz="1800"/>
              <a:t>InputStreamReader, </a:t>
            </a:r>
            <a:r>
              <a:rPr lang="en-US" altLang="en-US" sz="1800" smtClean="0"/>
              <a:t>OutputStreamWriter : convert binary to text</a:t>
            </a:r>
            <a:endParaRPr lang="en-US" altLang="en-US" sz="1800"/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 sz="1800" smtClean="0"/>
              <a:t>Scanner : helpful class for input from console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/>
              <a:t>Ex: </a:t>
            </a:r>
            <a:r>
              <a:rPr lang="en-US" altLang="en-US" sz="2000"/>
              <a:t>FileInputStream, </a:t>
            </a:r>
            <a:r>
              <a:rPr lang="en-US" altLang="en-US" sz="2000" smtClean="0"/>
              <a:t>FileOutputStream</a:t>
            </a:r>
            <a:br>
              <a:rPr lang="en-US" altLang="en-US" sz="2000" smtClean="0"/>
            </a:br>
            <a:r>
              <a:rPr lang="en-US" altLang="en-US" sz="2000" smtClean="0"/>
              <a:t>BufferedReader</a:t>
            </a:r>
            <a:r>
              <a:rPr lang="en-US" altLang="en-US" sz="2000"/>
              <a:t>, BufferedWriter, FileReader..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Class for interact with OS File System 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/>
              <a:t>File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83D29B-3784-4155-B8E0-DB515CB3C081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E89B3131-1382-4C14-A022-1F1A7E05BB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rtl="0" eaLnBrk="1" hangingPunct="1"/>
            <a:r>
              <a:rPr lang="en-US" altLang="en-US"/>
              <a:t>File – access </a:t>
            </a:r>
            <a:r>
              <a:rPr lang="en-US" altLang="en-US" smtClean="0"/>
              <a:t>OS file system</a:t>
            </a:r>
            <a:endParaRPr lang="en-US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7F0FB9B-95EF-4591-9EF9-966FCB28E9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400">
                <a:ea typeface="Arial Unicode MS" pitchFamily="34" charset="-128"/>
              </a:rPr>
              <a:t> </a:t>
            </a:r>
            <a:r>
              <a:rPr lang="en-US" altLang="en-US" sz="2400" b="1">
                <a:ea typeface="Arial Unicode MS" pitchFamily="34" charset="-128"/>
              </a:rPr>
              <a:t>java.io.File</a:t>
            </a:r>
            <a:r>
              <a:rPr lang="en-US" altLang="en-US" sz="2400">
                <a:ea typeface="Arial Unicode MS" pitchFamily="34" charset="-128"/>
              </a:rPr>
              <a:t> </a:t>
            </a:r>
          </a:p>
          <a:p>
            <a:pPr lvl="1" algn="l" rtl="0" eaLnBrk="1" hangingPunct="1"/>
            <a:r>
              <a:rPr lang="en-US" altLang="en-US" sz="2000">
                <a:ea typeface="Arial Unicode MS" pitchFamily="34" charset="-128"/>
              </a:rPr>
              <a:t>Used to represent file or directory names on the OS's file system</a:t>
            </a:r>
          </a:p>
          <a:p>
            <a:pPr lvl="1" algn="l" rtl="0" eaLnBrk="1" hangingPunct="1"/>
            <a:r>
              <a:rPr lang="en-US" altLang="en-US" sz="2000">
                <a:ea typeface="Arial Unicode MS" pitchFamily="34" charset="-128"/>
              </a:rPr>
              <a:t>Not for reading and writing data</a:t>
            </a:r>
          </a:p>
          <a:p>
            <a:pPr algn="l" rtl="0" eaLnBrk="1" hangingPunct="1"/>
            <a:r>
              <a:rPr lang="en-US" altLang="en-US" sz="2400" smtClean="0">
                <a:ea typeface="Arial Unicode MS" pitchFamily="34" charset="-128"/>
              </a:rPr>
              <a:t>Constructor</a:t>
            </a:r>
            <a:endParaRPr lang="en-US" altLang="en-US" sz="2400">
              <a:ea typeface="Arial Unicode MS" pitchFamily="34" charset="-128"/>
            </a:endParaRPr>
          </a:p>
          <a:p>
            <a:pPr lvl="1" algn="l" rtl="0" eaLnBrk="1" hangingPunct="1"/>
            <a:r>
              <a:rPr lang="en-US" altLang="en-US" sz="2000">
                <a:ea typeface="Arial Unicode MS" pitchFamily="34" charset="-128"/>
              </a:rPr>
              <a:t>File(String pathname);</a:t>
            </a:r>
          </a:p>
          <a:p>
            <a:pPr lvl="1" algn="l" rtl="0" eaLnBrk="1" hangingPunct="1"/>
            <a:r>
              <a:rPr lang="en-US" altLang="en-US" sz="2000">
                <a:ea typeface="Arial Unicode MS" pitchFamily="34" charset="-128"/>
              </a:rPr>
              <a:t>File(String dir, String subpath);</a:t>
            </a:r>
          </a:p>
          <a:p>
            <a:pPr lvl="1" algn="l" rtl="0" eaLnBrk="1" hangingPunct="1"/>
            <a:r>
              <a:rPr lang="en-US" altLang="en-US" sz="2000">
                <a:ea typeface="Arial Unicode MS" pitchFamily="34" charset="-128"/>
              </a:rPr>
              <a:t>File(File dir, String subpath);</a:t>
            </a:r>
          </a:p>
          <a:p>
            <a:pPr lvl="2" algn="l" rtl="0" eaLnBrk="1" hangingPunct="1"/>
            <a:r>
              <a:rPr lang="en-US" altLang="en-US">
                <a:ea typeface="Arial Unicode MS" pitchFamily="34" charset="-128"/>
              </a:rPr>
              <a:t>File f1 = new File(“C:\\a”); </a:t>
            </a:r>
          </a:p>
          <a:p>
            <a:pPr lvl="2" algn="l" rtl="0" eaLnBrk="1" hangingPunct="1"/>
            <a:r>
              <a:rPr lang="en-US" altLang="en-US">
                <a:ea typeface="Arial Unicode MS" pitchFamily="34" charset="-128"/>
              </a:rPr>
              <a:t>File f2 = new File(f1, “Xyz.java”);</a:t>
            </a:r>
          </a:p>
          <a:p>
            <a:pPr marL="914400" lvl="2" indent="0" eaLnBrk="1" hangingPunct="1">
              <a:buNone/>
            </a:pPr>
            <a:r>
              <a:rPr lang="en-US" altLang="en-US" smtClean="0">
                <a:ea typeface="Arial Unicode MS" pitchFamily="34" charset="-128"/>
              </a:rPr>
              <a:t>Note: new File(): No </a:t>
            </a:r>
            <a:r>
              <a:rPr lang="en-US" altLang="en-US">
                <a:ea typeface="Arial Unicode MS" pitchFamily="34" charset="-128"/>
              </a:rPr>
              <a:t>files are created on disk.</a:t>
            </a:r>
            <a:endParaRPr lang="en-US" altLang="en-US" sz="3200">
              <a:ea typeface="Arial Unicode MS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19A508-D217-446E-BEBB-7D7C5FA02B5F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1947695D-C964-4199-9290-36D9CC8C3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rtl="0" eaLnBrk="1" hangingPunct="1"/>
            <a:r>
              <a:rPr lang="en-US" altLang="en-US"/>
              <a:t>File – </a:t>
            </a:r>
            <a:r>
              <a:rPr lang="en-US" altLang="en-US" smtClean="0"/>
              <a:t>methods</a:t>
            </a:r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8F1439BC-D873-468D-ADEE-F34AC6099A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>
                <a:ea typeface="Arial Unicode MS" pitchFamily="34" charset="-128"/>
              </a:rPr>
              <a:t> </a:t>
            </a:r>
            <a:r>
              <a:rPr lang="en-US" altLang="en-US" sz="2800" b="1">
                <a:ea typeface="Arial Unicode MS" pitchFamily="34" charset="-128"/>
              </a:rPr>
              <a:t>boolean exists()</a:t>
            </a:r>
            <a:r>
              <a:rPr lang="en-US" altLang="en-US" sz="2800">
                <a:latin typeface="Sabon-Roman" charset="0"/>
                <a:ea typeface="Arial Unicode MS" pitchFamily="34" charset="-128"/>
              </a:rPr>
              <a:t>: </a:t>
            </a:r>
            <a:r>
              <a:rPr lang="en-US" altLang="en-US" sz="2000">
                <a:ea typeface="Arial Unicode MS" pitchFamily="34" charset="-128"/>
              </a:rPr>
              <a:t>check whether file name or directory exists?</a:t>
            </a:r>
          </a:p>
          <a:p>
            <a:pPr algn="l" rtl="0" eaLnBrk="1" hangingPunct="1"/>
            <a:r>
              <a:rPr lang="en-US" altLang="en-US" sz="2800" b="1">
                <a:ea typeface="Arial Unicode MS" pitchFamily="34" charset="-128"/>
              </a:rPr>
              <a:t>String getAbsolutePath()</a:t>
            </a:r>
            <a:r>
              <a:rPr lang="en-US" altLang="en-US" sz="2800">
                <a:latin typeface="Sabon-Roman" charset="0"/>
                <a:ea typeface="Arial Unicode MS" pitchFamily="34" charset="-128"/>
              </a:rPr>
              <a:t>: </a:t>
            </a:r>
            <a:r>
              <a:rPr lang="en-US" altLang="en-US" sz="2000">
                <a:ea typeface="Arial Unicode MS" pitchFamily="34" charset="-128"/>
              </a:rPr>
              <a:t>absolute path.</a:t>
            </a:r>
          </a:p>
          <a:p>
            <a:pPr algn="l" rtl="0" eaLnBrk="1" hangingPunct="1"/>
            <a:r>
              <a:rPr lang="en-US" altLang="en-US" sz="2800" b="1">
                <a:ea typeface="Arial Unicode MS" pitchFamily="34" charset="-128"/>
              </a:rPr>
              <a:t>String getName()</a:t>
            </a:r>
            <a:r>
              <a:rPr lang="en-US" altLang="en-US" sz="2800">
                <a:latin typeface="Sabon-Roman" charset="0"/>
                <a:ea typeface="Arial Unicode MS" pitchFamily="34" charset="-128"/>
              </a:rPr>
              <a:t>: </a:t>
            </a:r>
            <a:r>
              <a:rPr lang="en-US" altLang="en-US" sz="2000">
                <a:ea typeface="Arial Unicode MS" pitchFamily="34" charset="-128"/>
              </a:rPr>
              <a:t>returns the file or directory name.</a:t>
            </a:r>
          </a:p>
          <a:p>
            <a:pPr algn="l" rtl="0" eaLnBrk="1" hangingPunct="1"/>
            <a:r>
              <a:rPr lang="en-US" altLang="en-US" sz="2800" b="1">
                <a:ea typeface="Arial Unicode MS" pitchFamily="34" charset="-128"/>
              </a:rPr>
              <a:t>String getParent()</a:t>
            </a:r>
            <a:r>
              <a:rPr lang="en-US" altLang="en-US" sz="2800">
                <a:latin typeface="Sabon-Roman" charset="0"/>
                <a:ea typeface="Arial Unicode MS" pitchFamily="34" charset="-128"/>
              </a:rPr>
              <a:t>: </a:t>
            </a:r>
            <a:r>
              <a:rPr lang="en-US" altLang="en-US" sz="2000">
                <a:ea typeface="Arial Unicode MS" pitchFamily="34" charset="-128"/>
              </a:rPr>
              <a:t>parent folder name</a:t>
            </a:r>
          </a:p>
          <a:p>
            <a:pPr algn="l" rtl="0" eaLnBrk="1" hangingPunct="1"/>
            <a:r>
              <a:rPr lang="en-US" altLang="en-US" sz="2800" b="1">
                <a:ea typeface="Arial Unicode MS" pitchFamily="34" charset="-128"/>
              </a:rPr>
              <a:t>boolean isDirectory()</a:t>
            </a:r>
            <a:r>
              <a:rPr lang="en-US" altLang="en-US" sz="2800">
                <a:latin typeface="Sabon-Roman" charset="0"/>
                <a:ea typeface="Arial Unicode MS" pitchFamily="34" charset="-128"/>
              </a:rPr>
              <a:t>: is the directory?</a:t>
            </a:r>
            <a:endParaRPr lang="en-US" altLang="en-US" sz="2800" b="1">
              <a:ea typeface="Arial Unicode MS" pitchFamily="34" charset="-128"/>
            </a:endParaRPr>
          </a:p>
          <a:p>
            <a:pPr algn="l" rtl="0" eaLnBrk="1" hangingPunct="1"/>
            <a:r>
              <a:rPr lang="en-US" altLang="en-US" sz="2800" b="1">
                <a:ea typeface="Arial Unicode MS" pitchFamily="34" charset="-128"/>
              </a:rPr>
              <a:t>boolean isFile()</a:t>
            </a:r>
            <a:r>
              <a:rPr lang="en-US" altLang="en-US" sz="2800">
                <a:latin typeface="Sabon-Roman" charset="0"/>
                <a:ea typeface="Arial Unicode MS" pitchFamily="34" charset="-128"/>
              </a:rPr>
              <a:t>: is the file?</a:t>
            </a:r>
          </a:p>
          <a:p>
            <a:pPr algn="l" rtl="0" eaLnBrk="1" hangingPunct="1"/>
            <a:r>
              <a:rPr lang="en-US" altLang="en-US" sz="2800" b="1">
                <a:ea typeface="Arial Unicode MS" pitchFamily="34" charset="-128"/>
              </a:rPr>
              <a:t>String[] list()</a:t>
            </a:r>
            <a:r>
              <a:rPr lang="en-US" altLang="en-US" sz="2800">
                <a:latin typeface="Sabon-Roman" charset="0"/>
                <a:ea typeface="Arial Unicode MS" pitchFamily="34" charset="-128"/>
              </a:rPr>
              <a:t>: list names</a:t>
            </a:r>
            <a:r>
              <a:rPr lang="en-US" altLang="en-US" sz="2800">
                <a:ea typeface="Arial Unicode MS" pitchFamily="34" charset="-128"/>
              </a:rPr>
              <a:t>Asian</a:t>
            </a:r>
            <a:r>
              <a:rPr lang="en-US" altLang="en-US" sz="2800">
                <a:latin typeface="Sabon-Roman" charset="0"/>
                <a:ea typeface="Arial Unicode MS" pitchFamily="34" charset="-128"/>
              </a:rPr>
              <a:t>c files &amp; subdirectories of the directory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6596C7-2FF7-4D8C-87FB-37B1F4B572BE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F0B8A8F0-EBA2-4ACB-A7AA-230B6A088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rtl="0" eaLnBrk="1" hangingPunct="1"/>
            <a:r>
              <a:rPr lang="en-US" altLang="en-US"/>
              <a:t>File – </a:t>
            </a:r>
            <a:r>
              <a:rPr lang="en-US" altLang="en-US" smtClean="0"/>
              <a:t>methods</a:t>
            </a:r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54CAEA59-AD46-4B2A-B14A-6AB8B4BC22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b="1">
                <a:ea typeface="Arial Unicode MS" pitchFamily="34" charset="-128"/>
              </a:rPr>
              <a:t>boolean canRead() </a:t>
            </a:r>
            <a:endParaRPr lang="en-US" altLang="en-US">
              <a:ea typeface="Arial Unicode MS" pitchFamily="34" charset="-128"/>
            </a:endParaRPr>
          </a:p>
          <a:p>
            <a:pPr algn="l" rtl="0" eaLnBrk="1" hangingPunct="1"/>
            <a:r>
              <a:rPr lang="en-US" altLang="en-US" b="1">
                <a:ea typeface="Arial Unicode MS" pitchFamily="34" charset="-128"/>
              </a:rPr>
              <a:t>boolean canWrite()</a:t>
            </a:r>
            <a:r>
              <a:rPr lang="en-US" altLang="en-US">
                <a:ea typeface="Arial Unicode MS" pitchFamily="34" charset="-128"/>
              </a:rPr>
              <a:t> </a:t>
            </a:r>
          </a:p>
          <a:p>
            <a:pPr algn="l" rtl="0" eaLnBrk="1" hangingPunct="1"/>
            <a:r>
              <a:rPr lang="en-US" altLang="en-US" b="1">
                <a:ea typeface="Arial Unicode MS" pitchFamily="34" charset="-128"/>
              </a:rPr>
              <a:t>boolean delete()</a:t>
            </a:r>
            <a:r>
              <a:rPr lang="en-US" altLang="en-US">
                <a:ea typeface="Arial Unicode MS" pitchFamily="34" charset="-128"/>
              </a:rPr>
              <a:t> delete files and folders</a:t>
            </a:r>
          </a:p>
          <a:p>
            <a:pPr algn="l" rtl="0" eaLnBrk="1" hangingPunct="1"/>
            <a:r>
              <a:rPr lang="en-US" altLang="en-US" b="1">
                <a:ea typeface="Arial Unicode MS" pitchFamily="34" charset="-128"/>
              </a:rPr>
              <a:t>long length()</a:t>
            </a:r>
            <a:endParaRPr lang="en-US" altLang="en-US">
              <a:ea typeface="Arial Unicode MS" pitchFamily="34" charset="-128"/>
            </a:endParaRPr>
          </a:p>
          <a:p>
            <a:pPr algn="l" rtl="0" eaLnBrk="1" hangingPunct="1"/>
            <a:r>
              <a:rPr lang="en-US" altLang="en-US" b="1">
                <a:ea typeface="Arial Unicode MS" pitchFamily="34" charset="-128"/>
              </a:rPr>
              <a:t>boolean mkdir() </a:t>
            </a:r>
            <a:r>
              <a:rPr lang="en-US" altLang="en-US">
                <a:ea typeface="Arial Unicode MS" pitchFamily="34" charset="-128"/>
              </a:rPr>
              <a:t>create folder</a:t>
            </a:r>
          </a:p>
          <a:p>
            <a:pPr algn="l" rtl="0" eaLnBrk="1" hangingPunct="1"/>
            <a:r>
              <a:rPr lang="en-US" altLang="en-US" b="1">
                <a:ea typeface="Arial Unicode MS" pitchFamily="34" charset="-128"/>
              </a:rPr>
              <a:t>boolean renameTo(File newname) </a:t>
            </a:r>
            <a:r>
              <a:rPr lang="en-US" altLang="en-US">
                <a:ea typeface="Arial Unicode MS" pitchFamily="34" charset="-128"/>
              </a:rPr>
              <a:t>rename file or folder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5A7EBB-EC54-4BC1-B027-7DBBBEA2AFC7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60FD3D3-5CAA-41AA-B02F-2B73C6E437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>
                <a:latin typeface="Univers-Bold" charset="0"/>
                <a:ea typeface="Arial Unicode MS" pitchFamily="34" charset="-128"/>
              </a:rPr>
              <a:t> </a:t>
            </a:r>
            <a:r>
              <a:rPr lang="en-US" altLang="en-US" i="1">
                <a:latin typeface="Univers-BoldOblique" charset="0"/>
                <a:ea typeface="Arial Unicode MS" pitchFamily="34" charset="-128"/>
              </a:rPr>
              <a:t>RandomAccessFile</a:t>
            </a:r>
            <a:endParaRPr lang="en-US" altLang="en-US">
              <a:ea typeface="Arial Unicode MS" pitchFamily="34" charset="-128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7F5AA28-7868-4855-AABD-FF3CB61530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487487"/>
            <a:ext cx="8116888" cy="4608513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RandomAccessFile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random access, </a:t>
            </a:r>
            <a:r>
              <a:rPr lang="en-US" altLang="en-US" sz="2000" smtClean="0">
                <a:ea typeface="Arial Unicode MS" pitchFamily="34" charset="-128"/>
              </a:rPr>
              <a:t>using cursor for seeking read/write data at any position on file </a:t>
            </a:r>
            <a:endParaRPr lang="en-US" altLang="en-US" sz="2000">
              <a:ea typeface="Arial Unicode MS" pitchFamily="34" charset="-128"/>
            </a:endParaRP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 smtClean="0">
                <a:ea typeface="Arial Unicode MS" pitchFamily="34" charset="-128"/>
              </a:rPr>
              <a:t>Can read | write block </a:t>
            </a:r>
            <a:r>
              <a:rPr lang="en-US" altLang="en-US" sz="2000">
                <a:ea typeface="Arial Unicode MS" pitchFamily="34" charset="-128"/>
              </a:rPr>
              <a:t>of data.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Constructor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RandomAccessFile(String file, String mode)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RandomAccessFile(File file, String </a:t>
            </a:r>
            <a:r>
              <a:rPr lang="en-US" altLang="en-US" sz="2000" smtClean="0">
                <a:ea typeface="Arial Unicode MS" pitchFamily="34" charset="-128"/>
              </a:rPr>
              <a:t>mode)</a:t>
            </a:r>
            <a:br>
              <a:rPr lang="en-US" altLang="en-US" sz="2000" smtClean="0">
                <a:ea typeface="Arial Unicode MS" pitchFamily="34" charset="-128"/>
              </a:rPr>
            </a:br>
            <a:r>
              <a:rPr lang="en-US" altLang="en-US" sz="2000" smtClean="0">
                <a:ea typeface="Arial Unicode MS" pitchFamily="34" charset="-128"/>
              </a:rPr>
              <a:t>+ reading </a:t>
            </a:r>
            <a:r>
              <a:rPr lang="en-US" altLang="en-US" sz="2000">
                <a:ea typeface="Arial Unicode MS" pitchFamily="34" charset="-128"/>
              </a:rPr>
              <a:t>mode "r" - read write “rw.”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Support read and write data in primitive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Each read/write operation automatically moves the cursor to the new position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long length() throws </a:t>
            </a:r>
            <a:r>
              <a:rPr lang="en-US" altLang="en-US" sz="2000" smtClean="0">
                <a:ea typeface="Arial Unicode MS" pitchFamily="34" charset="-128"/>
              </a:rPr>
              <a:t>IOException</a:t>
            </a:r>
            <a:endParaRPr lang="en-US" altLang="en-US" sz="2000">
              <a:ea typeface="Arial Unicode MS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void seek(long position) throws </a:t>
            </a:r>
            <a:r>
              <a:rPr lang="en-US" altLang="en-US" sz="2000" smtClean="0">
                <a:ea typeface="Arial Unicode MS" pitchFamily="34" charset="-128"/>
              </a:rPr>
              <a:t>IOException</a:t>
            </a:r>
            <a:br>
              <a:rPr lang="en-US" altLang="en-US" sz="2000" smtClean="0">
                <a:ea typeface="Arial Unicode MS" pitchFamily="34" charset="-128"/>
              </a:rPr>
            </a:br>
            <a:r>
              <a:rPr lang="en-US" altLang="en-US" sz="2000" smtClean="0">
                <a:ea typeface="Arial Unicode MS" pitchFamily="34" charset="-128"/>
              </a:rPr>
              <a:t>move cursor to specific position</a:t>
            </a:r>
            <a:endParaRPr lang="en-US" altLang="en-US" sz="2000">
              <a:ea typeface="Arial Unicode MS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A8D448-5C23-43DD-9B28-35139889214D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EAE1BA6-3F25-4168-A4AF-74E2DB14A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i="1">
                <a:latin typeface="Univers-BoldOblique" charset="0"/>
                <a:ea typeface="Arial Unicode MS" pitchFamily="34" charset="-128"/>
              </a:rPr>
              <a:t>RandomAccessFile..</a:t>
            </a:r>
            <a:endParaRPr lang="en-US" altLang="en-US" sz="3200">
              <a:ea typeface="Arial Unicode MS" pitchFamily="34" charset="-128"/>
            </a:endParaRPr>
          </a:p>
        </p:txBody>
      </p:sp>
      <p:pic>
        <p:nvPicPr>
          <p:cNvPr id="11267" name="Picture 4">
            <a:extLst>
              <a:ext uri="{FF2B5EF4-FFF2-40B4-BE49-F238E27FC236}">
                <a16:creationId xmlns:a16="http://schemas.microsoft.com/office/drawing/2014/main" id="{8B4C0975-A5C4-482F-B8FE-CCEE65AF74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447800"/>
            <a:ext cx="8077200" cy="5029200"/>
          </a:xfr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B15A8A-AB6C-44A4-9C84-69A8910CCDF8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7BCE975-2AE3-40C7-80F9-1C15CF9B2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Unicode &amp; UTF</a:t>
            </a:r>
            <a:endParaRPr lang="en-US" altLang="en-US" sz="3600">
              <a:latin typeface="Univers-Bold" charset="0"/>
              <a:ea typeface="Arial Unicode MS" pitchFamily="34" charset="-128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FD0038F-8B7B-497B-A16D-AFBA4AA743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800">
                <a:ea typeface="Arial Unicode MS" pitchFamily="34" charset="-128"/>
              </a:rPr>
              <a:t>Java uses two representations of text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Unicode </a:t>
            </a:r>
            <a:r>
              <a:rPr lang="en-US" altLang="en-US" sz="2400" smtClean="0">
                <a:ea typeface="Arial Unicode MS" pitchFamily="34" charset="-128"/>
              </a:rPr>
              <a:t>encoding for text representation in memory</a:t>
            </a:r>
            <a:endParaRPr lang="en-US" altLang="en-US" sz="2400">
              <a:ea typeface="Arial Unicode MS" pitchFamily="34" charset="-128"/>
            </a:endParaRP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UTF for input and output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>
                <a:ea typeface="Arial Unicode MS" pitchFamily="34" charset="-128"/>
              </a:rPr>
              <a:t>Unicode uses 16 bits to represent 1 character.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>
                <a:ea typeface="Arial Unicode MS" pitchFamily="34" charset="-128"/>
              </a:rPr>
              <a:t>UTF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stands for "UCS Transformation Format,"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UCS: “Universal Character Set.”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compressed </a:t>
            </a:r>
            <a:r>
              <a:rPr lang="en-US" altLang="en-US" sz="2400" smtClean="0">
                <a:ea typeface="Arial Unicode MS" pitchFamily="34" charset="-128"/>
              </a:rPr>
              <a:t>16-bit </a:t>
            </a:r>
            <a:r>
              <a:rPr lang="en-US" altLang="en-US" sz="2400">
                <a:ea typeface="Arial Unicode MS" pitchFamily="34" charset="-128"/>
              </a:rPr>
              <a:t>Unicode </a:t>
            </a:r>
            <a:r>
              <a:rPr lang="en-US" altLang="en-US" sz="2400" smtClean="0">
                <a:ea typeface="Arial Unicode MS" pitchFamily="34" charset="-128"/>
              </a:rPr>
              <a:t>character into encoding of 7-8 bit pattern : UTF-7, UTF-8</a:t>
            </a:r>
            <a:endParaRPr lang="en-US" altLang="en-US" sz="2400">
              <a:ea typeface="Arial Unicode MS" pitchFamily="34" charset="-128"/>
            </a:endParaRP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UTF encodes characters with enough bits to represent the character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5358B6-C0F8-490C-B95C-EEC728D18274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C00F9E8-9C5B-4212-85E1-FF879A8D6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Handle Input – output data </a:t>
            </a:r>
            <a:endParaRPr lang="en-US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9B9E131-1BB6-4831-AD4E-E089842903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ea typeface="Arial Unicode MS" pitchFamily="34" charset="-128"/>
              </a:rPr>
              <a:t>Always use high-level I/O class for I/O tasks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ea typeface="Arial Unicode MS" pitchFamily="34" charset="-128"/>
              </a:rPr>
              <a:t>High-level </a:t>
            </a:r>
            <a:r>
              <a:rPr lang="en-US" altLang="en-US" sz="2800">
                <a:ea typeface="Arial Unicode MS" pitchFamily="34" charset="-128"/>
              </a:rPr>
              <a:t>I/O classes always </a:t>
            </a:r>
            <a:r>
              <a:rPr lang="en-US" altLang="en-US" sz="2800" smtClean="0">
                <a:ea typeface="Arial Unicode MS" pitchFamily="34" charset="-128"/>
              </a:rPr>
              <a:t>use low-level </a:t>
            </a:r>
            <a:r>
              <a:rPr lang="en-US" altLang="en-US" sz="2800">
                <a:ea typeface="Arial Unicode MS" pitchFamily="34" charset="-128"/>
              </a:rPr>
              <a:t>I/O </a:t>
            </a:r>
            <a:r>
              <a:rPr lang="en-US" altLang="en-US" sz="2800" smtClean="0">
                <a:ea typeface="Arial Unicode MS" pitchFamily="34" charset="-128"/>
              </a:rPr>
              <a:t>object to read- write data from IO device </a:t>
            </a:r>
            <a:endParaRPr lang="en-US" altLang="en-US" sz="2800">
              <a:ea typeface="Arial Unicode MS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>
                <a:ea typeface="Arial Unicode MS" pitchFamily="34" charset="-128"/>
              </a:rPr>
              <a:t>The </a:t>
            </a:r>
            <a:r>
              <a:rPr lang="en-US" altLang="en-US" sz="2400">
                <a:ea typeface="Arial Unicode MS" pitchFamily="34" charset="-128"/>
              </a:rPr>
              <a:t>constructor of high-level I/O classes always accepts a low-level I/O object as an </a:t>
            </a:r>
            <a:r>
              <a:rPr lang="en-US" altLang="en-US" sz="2400" smtClean="0">
                <a:ea typeface="Arial Unicode MS" pitchFamily="34" charset="-128"/>
              </a:rPr>
              <a:t>argument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ea typeface="Arial Unicode MS" pitchFamily="34" charset="-128"/>
              </a:rPr>
              <a:t>Using utility class for converter or simple.</a:t>
            </a:r>
            <a:endParaRPr lang="en-US" altLang="en-US" sz="2800">
              <a:ea typeface="Arial Unicode MS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ea typeface="Arial Unicode MS" pitchFamily="34" charset="-128"/>
              </a:rPr>
              <a:t>Ex: </a:t>
            </a:r>
            <a:br>
              <a:rPr lang="en-US" altLang="en-US" sz="2400" smtClean="0">
                <a:ea typeface="Arial Unicode MS" pitchFamily="34" charset="-128"/>
              </a:rPr>
            </a:br>
            <a:r>
              <a:rPr lang="en-US" altLang="en-US" sz="2000" smtClean="0">
                <a:ea typeface="Arial Unicode MS" pitchFamily="34" charset="-128"/>
              </a:rPr>
              <a:t>PrintWriter </a:t>
            </a:r>
            <a:r>
              <a:rPr lang="en-US" altLang="en-US" sz="2000">
                <a:ea typeface="Arial Unicode MS" pitchFamily="34" charset="-128"/>
              </a:rPr>
              <a:t>pw= new </a:t>
            </a:r>
            <a:r>
              <a:rPr lang="en-US" altLang="en-US" sz="2000" smtClean="0">
                <a:ea typeface="Arial Unicode MS" pitchFamily="34" charset="-128"/>
              </a:rPr>
              <a:t>PrintWriter(new FileWriter</a:t>
            </a:r>
            <a:r>
              <a:rPr lang="en-US" altLang="en-US" sz="2000">
                <a:ea typeface="Arial Unicode MS" pitchFamily="34" charset="-128"/>
              </a:rPr>
              <a:t>(“data.txt</a:t>
            </a:r>
            <a:r>
              <a:rPr lang="en-US" altLang="en-US" sz="2000" smtClean="0">
                <a:ea typeface="Arial Unicode MS" pitchFamily="34" charset="-128"/>
              </a:rPr>
              <a:t>”))</a:t>
            </a:r>
            <a:r>
              <a:rPr lang="en-US" altLang="en-US" sz="2400" smtClean="0">
                <a:ea typeface="Arial Unicode MS" pitchFamily="34" charset="-128"/>
              </a:rPr>
              <a:t>;</a:t>
            </a:r>
            <a:br>
              <a:rPr lang="en-US" altLang="en-US" sz="2400" smtClean="0">
                <a:ea typeface="Arial Unicode MS" pitchFamily="34" charset="-128"/>
              </a:rPr>
            </a:br>
            <a:r>
              <a:rPr lang="en-US" altLang="en-US" sz="1050" smtClean="0">
                <a:ea typeface="Arial Unicode MS" pitchFamily="34" charset="-128"/>
              </a:rPr>
              <a:t/>
            </a:r>
            <a:br>
              <a:rPr lang="en-US" altLang="en-US" sz="1050" smtClean="0">
                <a:ea typeface="Arial Unicode MS" pitchFamily="34" charset="-128"/>
              </a:rPr>
            </a:br>
            <a:r>
              <a:rPr lang="en-US" altLang="en-US" sz="2000" smtClean="0">
                <a:ea typeface="Arial Unicode MS" pitchFamily="34" charset="-128"/>
              </a:rPr>
              <a:t>DataInputStream </a:t>
            </a:r>
            <a:r>
              <a:rPr lang="en-US" altLang="en-US" sz="2000">
                <a:ea typeface="Arial Unicode MS" pitchFamily="34" charset="-128"/>
              </a:rPr>
              <a:t>ds= new </a:t>
            </a:r>
            <a:r>
              <a:rPr lang="en-US" altLang="en-US" sz="2000" smtClean="0">
                <a:ea typeface="Arial Unicode MS" pitchFamily="34" charset="-128"/>
              </a:rPr>
              <a:t>DataInputStream( new FileInputStream(“data.dat”));</a:t>
            </a:r>
            <a:br>
              <a:rPr lang="en-US" altLang="en-US" sz="2000" smtClean="0">
                <a:ea typeface="Arial Unicode MS" pitchFamily="34" charset="-128"/>
              </a:rPr>
            </a:br>
            <a:r>
              <a:rPr lang="en-US" altLang="en-US" sz="1050" smtClean="0">
                <a:ea typeface="Arial Unicode MS" pitchFamily="34" charset="-128"/>
              </a:rPr>
              <a:t/>
            </a:r>
            <a:br>
              <a:rPr lang="en-US" altLang="en-US" sz="1050" smtClean="0">
                <a:ea typeface="Arial Unicode MS" pitchFamily="34" charset="-128"/>
              </a:rPr>
            </a:br>
            <a:r>
              <a:rPr lang="en-US" altLang="en-US" sz="2000" smtClean="0">
                <a:ea typeface="Arial Unicode MS" pitchFamily="34" charset="-128"/>
              </a:rPr>
              <a:t>BufferedReader br= new BufferedReader( new InputStreamReader( new FileInputStream(“data.txt”)));</a:t>
            </a:r>
            <a:endParaRPr lang="en-US" altLang="en-US" sz="2400">
              <a:ea typeface="Arial Unicode MS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9F9B2E-C05A-4C00-85DC-E57B6F40BA02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E869545-239D-493F-B6E8-86F672078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 smtClean="0"/>
              <a:t>Text I/O – Reader and Writer</a:t>
            </a:r>
            <a:endParaRPr lang="en-US" altLang="en-US" sz="200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D0AF404-FEC3-4C04-AD42-2F8D67DB6D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i="1" smtClean="0">
                <a:ea typeface="Arial Unicode MS" pitchFamily="34" charset="-128"/>
              </a:rPr>
              <a:t>Text IO </a:t>
            </a:r>
            <a:r>
              <a:rPr lang="en-US" altLang="en-US" sz="2800" b="1" smtClean="0">
                <a:ea typeface="Arial Unicode MS" pitchFamily="34" charset="-128"/>
              </a:rPr>
              <a:t>classes </a:t>
            </a:r>
            <a:r>
              <a:rPr lang="en-US" altLang="en-US" sz="2800">
                <a:ea typeface="Arial Unicode MS" pitchFamily="34" charset="-128"/>
              </a:rPr>
              <a:t>all extend from the </a:t>
            </a:r>
            <a:r>
              <a:rPr lang="en-US" altLang="en-US" sz="2800" smtClean="0">
                <a:ea typeface="Arial Unicode MS" pitchFamily="34" charset="-128"/>
              </a:rPr>
              <a:t>abstract super class Reader and Writer  </a:t>
            </a:r>
            <a:endParaRPr lang="en-US" altLang="en-US" sz="2800" b="1">
              <a:ea typeface="Arial Unicode MS" pitchFamily="34" charset="-128"/>
            </a:endParaRP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 smtClean="0">
                <a:ea typeface="Arial Unicode MS" pitchFamily="34" charset="-128"/>
              </a:rPr>
              <a:t>FileReader(String </a:t>
            </a:r>
            <a:r>
              <a:rPr lang="en-US" altLang="en-US" sz="2400">
                <a:ea typeface="Arial Unicode MS" pitchFamily="34" charset="-128"/>
              </a:rPr>
              <a:t>pathname)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FileReader(File file)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FileWriter(String pathname)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FileWriter(File file)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 smtClean="0">
                <a:ea typeface="Arial Unicode MS" pitchFamily="34" charset="-128"/>
              </a:rPr>
              <a:t>CharArrayReader </a:t>
            </a:r>
            <a:r>
              <a:rPr lang="en-US" altLang="en-US" sz="2400">
                <a:ea typeface="Arial Unicode MS" pitchFamily="34" charset="-128"/>
              </a:rPr>
              <a:t>and CharArrayWriter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StringReader and StringWriter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PipedReader and </a:t>
            </a:r>
            <a:r>
              <a:rPr lang="en-US" altLang="en-US" sz="2400" smtClean="0">
                <a:ea typeface="Arial Unicode MS" pitchFamily="34" charset="-128"/>
              </a:rPr>
              <a:t>PipedWriter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High level text IO 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500" smtClean="0">
                <a:ea typeface="Arial Unicode MS" pitchFamily="34" charset="-128"/>
              </a:rPr>
              <a:t>BufferedReader, BufferedWriter</a:t>
            </a:r>
            <a:endParaRPr lang="en-US" altLang="en-US" sz="2500">
              <a:ea typeface="Arial Unicode MS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500">
                <a:ea typeface="Arial Unicode MS" pitchFamily="34" charset="-128"/>
              </a:rPr>
              <a:t>PrintWriter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>
              <a:ea typeface="Arial Unicode MS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DEE681-4929-4858-AB0C-FD92E40C9473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007EF13-EEA2-4763-A04B-60EDF8048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Binary stream </a:t>
            </a:r>
            <a:r>
              <a:rPr lang="en-US" altLang="en-US" smtClean="0"/>
              <a:t>IO</a:t>
            </a: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0F7A4D0-6512-4EE0-9855-1A88BD839C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800" smtClean="0"/>
              <a:t>Low-level </a:t>
            </a:r>
            <a:r>
              <a:rPr lang="en-US" altLang="en-US" sz="2800"/>
              <a:t>binary </a:t>
            </a:r>
            <a:r>
              <a:rPr lang="en-US" altLang="en-US" sz="2800" smtClean="0"/>
              <a:t>IO </a:t>
            </a:r>
            <a:r>
              <a:rPr lang="en-US" altLang="en-US" sz="2800"/>
              <a:t>streams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InputStream &amp; OutputStream </a:t>
            </a:r>
            <a:r>
              <a:rPr lang="en-US" altLang="en-US" sz="2400" smtClean="0"/>
              <a:t>are super class for all IO binary stream class</a:t>
            </a:r>
            <a:endParaRPr lang="en-US" altLang="en-US" sz="24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 smtClean="0">
                <a:ea typeface="Arial Unicode MS" pitchFamily="34" charset="-128"/>
              </a:rPr>
              <a:t>FileInputStream</a:t>
            </a:r>
            <a:r>
              <a:rPr lang="en-US" altLang="en-US" sz="2400">
                <a:ea typeface="Arial Unicode MS" pitchFamily="34" charset="-128"/>
              </a:rPr>
              <a:t>, FileOutputStream</a:t>
            </a:r>
            <a:endParaRPr lang="en-US" altLang="en-US" sz="2400"/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High-level binary </a:t>
            </a:r>
            <a:r>
              <a:rPr lang="en-US" altLang="en-US" sz="2800" smtClean="0"/>
              <a:t>IO </a:t>
            </a:r>
            <a:r>
              <a:rPr lang="en-US" altLang="en-US" sz="2800"/>
              <a:t>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DataIn</a:t>
            </a:r>
            <a:r>
              <a:rPr lang="en-US" altLang="en-US" sz="2400"/>
              <a:t>putStream </a:t>
            </a:r>
            <a:endParaRPr lang="en-US" altLang="en-US" sz="240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>
                <a:ea typeface="Arial Unicode MS" pitchFamily="34" charset="-128"/>
              </a:rPr>
              <a:t>read </a:t>
            </a:r>
            <a:r>
              <a:rPr lang="en-US" altLang="en-US" sz="2000">
                <a:ea typeface="Arial Unicode MS" pitchFamily="34" charset="-128"/>
              </a:rPr>
              <a:t>data </a:t>
            </a:r>
            <a:r>
              <a:rPr lang="en-US" altLang="en-US" sz="2000" smtClean="0">
                <a:ea typeface="Arial Unicode MS" pitchFamily="34" charset="-128"/>
              </a:rPr>
              <a:t>from</a:t>
            </a:r>
            <a:r>
              <a:rPr lang="en-US" altLang="en-US" sz="1400" smtClean="0">
                <a:ea typeface="Arial Unicode MS" pitchFamily="34" charset="-128"/>
              </a:rPr>
              <a:t> </a:t>
            </a:r>
            <a:r>
              <a:rPr lang="en-US" altLang="en-US" sz="1800"/>
              <a:t>low level inputstream,</a:t>
            </a:r>
            <a:r>
              <a:rPr lang="en-US" altLang="en-US" sz="1400">
                <a:ea typeface="Arial Unicode MS" pitchFamily="34" charset="-128"/>
              </a:rPr>
              <a:t> </a:t>
            </a:r>
            <a:r>
              <a:rPr lang="en-US" altLang="en-US" sz="2000">
                <a:ea typeface="Arial Unicode MS" pitchFamily="34" charset="-128"/>
              </a:rPr>
              <a:t>return formatted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Data</a:t>
            </a:r>
            <a:r>
              <a:rPr lang="en-US" altLang="en-US" sz="2400"/>
              <a:t>OutputStream</a:t>
            </a:r>
            <a:r>
              <a:rPr lang="en-US" altLang="en-US" sz="2000"/>
              <a:t>,</a:t>
            </a:r>
            <a:r>
              <a:rPr lang="en-US" altLang="en-US" sz="2400">
                <a:ea typeface="Arial Unicode MS" pitchFamily="34" charset="-128"/>
              </a:rPr>
              <a:t> PrintStream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>
                <a:ea typeface="Arial Unicode MS" pitchFamily="34" charset="-128"/>
              </a:rPr>
              <a:t>receives </a:t>
            </a:r>
            <a:r>
              <a:rPr lang="en-US" altLang="en-US" sz="2000">
                <a:ea typeface="Arial Unicode MS" pitchFamily="34" charset="-128"/>
              </a:rPr>
              <a:t>data in </a:t>
            </a:r>
            <a:r>
              <a:rPr lang="en-US" altLang="en-US" sz="2000" smtClean="0">
                <a:ea typeface="Arial Unicode MS" pitchFamily="34" charset="-128"/>
              </a:rPr>
              <a:t>primitive </a:t>
            </a:r>
            <a:r>
              <a:rPr lang="en-US" altLang="en-US" sz="2000">
                <a:ea typeface="Arial Unicode MS" pitchFamily="34" charset="-128"/>
              </a:rPr>
              <a:t>format, writes bytes to a low-level binary output stream</a:t>
            </a:r>
            <a:r>
              <a:rPr lang="en-US" altLang="en-US" sz="2000" b="1">
                <a:ea typeface="Arial Unicode MS" pitchFamily="34" charset="-128"/>
              </a:rPr>
              <a:t> </a:t>
            </a:r>
            <a:endParaRPr lang="en-US" altLang="en-US" sz="2000" b="1" smtClean="0">
              <a:ea typeface="Arial Unicode MS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BufferedInputStream &amp; BufferedOutputStream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F1ADC1-0D44-462A-93C3-F858A70B5BD0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1E3F5A3-2A74-478E-863C-BBD24F7C4A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848600" cy="457200"/>
          </a:xfrm>
        </p:spPr>
        <p:txBody>
          <a:bodyPr/>
          <a:lstStyle/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High-Level Filter Streams </a:t>
            </a:r>
            <a:endParaRPr lang="en-US" altLang="en-US" sz="3600">
              <a:latin typeface="Univers-Bold" charset="0"/>
              <a:ea typeface="Arial Unicode MS" pitchFamily="34" charset="-128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A82B6DB-E12C-4EFF-8E3E-92A39F9020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990600"/>
            <a:ext cx="7772400" cy="5181600"/>
          </a:xfrm>
        </p:spPr>
        <p:txBody>
          <a:bodyPr/>
          <a:lstStyle/>
          <a:p>
            <a:pPr algn="l" rtl="0" eaLnBrk="1" hangingPunct="1">
              <a:buFont typeface="Wingdings" panose="05000000000000000000" pitchFamily="2" charset="2"/>
              <a:buNone/>
            </a:pPr>
            <a:endParaRPr lang="en-US" altLang="en-US" sz="2400">
              <a:latin typeface="Mono3Frame-Regular" charset="0"/>
              <a:ea typeface="Arial Unicode MS" pitchFamily="34" charset="-128"/>
            </a:endParaRPr>
          </a:p>
          <a:p>
            <a:pPr algn="l" rtl="0" eaLnBrk="1" hangingPunct="1">
              <a:buFont typeface="Wingdings" panose="05000000000000000000" pitchFamily="2" charset="2"/>
              <a:buNone/>
            </a:pPr>
            <a:endParaRPr lang="en-US" altLang="en-US" sz="2400">
              <a:latin typeface="Mono3Frame-Regular" charset="0"/>
              <a:ea typeface="Arial Unicode MS" pitchFamily="34" charset="-128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48B5D15C-1700-401B-B157-33E100429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013" y="1300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 Unicode MS" pitchFamily="34" charset="-128"/>
            </a:endParaRPr>
          </a:p>
        </p:txBody>
      </p:sp>
      <p:sp>
        <p:nvSpPr>
          <p:cNvPr id="17414" name="Rectangle 7">
            <a:extLst>
              <a:ext uri="{FF2B5EF4-FFF2-40B4-BE49-F238E27FC236}">
                <a16:creationId xmlns:a16="http://schemas.microsoft.com/office/drawing/2014/main" id="{E847D550-C1DC-4D03-93F4-A19AA1F0A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1538" y="1036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 Unicode MS" pitchFamily="34" charset="-128"/>
            </a:endParaRPr>
          </a:p>
        </p:txBody>
      </p:sp>
      <p:pic>
        <p:nvPicPr>
          <p:cNvPr id="17415" name="Picture 6">
            <a:extLst>
              <a:ext uri="{FF2B5EF4-FFF2-40B4-BE49-F238E27FC236}">
                <a16:creationId xmlns:a16="http://schemas.microsoft.com/office/drawing/2014/main" id="{F49A8D62-4541-4968-997B-9C52C2BC3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47800"/>
            <a:ext cx="7391400" cy="479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A27E5A-F88B-44DA-96AF-C1968589DB5A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64EB3BC-82F2-4A6D-AB66-5A7DAFBEFF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High-Level Streams </a:t>
            </a:r>
            <a:r>
              <a:rPr lang="en-US" altLang="en-US" sz="3200">
                <a:ea typeface="Arial Unicode MS" pitchFamily="34" charset="-128"/>
              </a:rPr>
              <a:t>(2)</a:t>
            </a:r>
            <a:endParaRPr lang="en-US" altLang="en-US" sz="2800">
              <a:latin typeface="Univers-Bold" charset="0"/>
              <a:ea typeface="Arial Unicode MS" pitchFamily="34" charset="-128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7142F01-F1CF-42FF-BD9F-8532D793F7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4000" b="1">
                <a:latin typeface="Mono3Frame-Regular" charset="0"/>
                <a:ea typeface="Arial Unicode MS" pitchFamily="34" charset="-128"/>
              </a:rPr>
              <a:t>DataInputStream methods</a:t>
            </a:r>
          </a:p>
          <a:p>
            <a:pPr lvl="1" algn="l" rtl="0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>
                <a:ea typeface="Arial Unicode MS" pitchFamily="34" charset="-128"/>
              </a:rPr>
              <a:t>boolean readBoolean() throws IOException</a:t>
            </a:r>
          </a:p>
          <a:p>
            <a:pPr lvl="1" algn="l" rtl="0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>
                <a:ea typeface="Arial Unicode MS" pitchFamily="34" charset="-128"/>
              </a:rPr>
              <a:t>byte readByte() throws IOException</a:t>
            </a:r>
          </a:p>
          <a:p>
            <a:pPr lvl="1" algn="l" rtl="0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>
                <a:ea typeface="Arial Unicode MS" pitchFamily="34" charset="-128"/>
              </a:rPr>
              <a:t>char readChar() throws IOException</a:t>
            </a:r>
          </a:p>
          <a:p>
            <a:pPr lvl="1" algn="l" rtl="0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>
                <a:ea typeface="Arial Unicode MS" pitchFamily="34" charset="-128"/>
              </a:rPr>
              <a:t>double readDouble() throws IOException</a:t>
            </a:r>
          </a:p>
          <a:p>
            <a:pPr lvl="1" algn="l" rtl="0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>
                <a:ea typeface="Arial Unicode MS" pitchFamily="34" charset="-128"/>
              </a:rPr>
              <a:t>float readFloat() throws IOException</a:t>
            </a:r>
          </a:p>
          <a:p>
            <a:pPr lvl="1" algn="l" rtl="0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>
                <a:ea typeface="Arial Unicode MS" pitchFamily="34" charset="-128"/>
              </a:rPr>
              <a:t>int readInt() throws IOException</a:t>
            </a:r>
          </a:p>
          <a:p>
            <a:pPr lvl="1" algn="l" rtl="0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>
                <a:ea typeface="Arial Unicode MS" pitchFamily="34" charset="-128"/>
              </a:rPr>
              <a:t>long readLong() throws IOException</a:t>
            </a:r>
          </a:p>
          <a:p>
            <a:pPr lvl="1" algn="l" rtl="0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>
                <a:ea typeface="Arial Unicode MS" pitchFamily="34" charset="-128"/>
              </a:rPr>
              <a:t>short readShort() throws IOException</a:t>
            </a:r>
          </a:p>
          <a:p>
            <a:pPr lvl="1" algn="l" rtl="0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>
                <a:ea typeface="Arial Unicode MS" pitchFamily="34" charset="-128"/>
              </a:rPr>
              <a:t>String readUTF() throws IOException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D7EB33-B608-4344-88BF-FE58D7AC92DB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51F0F0A-454F-4918-AFC3-4021CD5F25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High-Level Streams </a:t>
            </a:r>
            <a:r>
              <a:rPr lang="en-US" altLang="en-US" sz="3200">
                <a:ea typeface="Arial Unicode MS" pitchFamily="34" charset="-128"/>
              </a:rPr>
              <a:t>(3)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550CDFA-023F-48D1-9D28-0B1E776214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800">
                <a:ea typeface="Arial Unicode MS" pitchFamily="34" charset="-128"/>
              </a:rPr>
              <a:t>DataOutputStream is the symmetric version of</a:t>
            </a:r>
            <a:r>
              <a:rPr lang="en-US" altLang="en-US" sz="2000">
                <a:ea typeface="Arial Unicode MS" pitchFamily="34" charset="-128"/>
              </a:rPr>
              <a:t> </a:t>
            </a:r>
            <a:r>
              <a:rPr lang="en-US" altLang="en-US" sz="2800">
                <a:ea typeface="Arial Unicode MS" pitchFamily="34" charset="-128"/>
              </a:rPr>
              <a:t>DataInputStream</a:t>
            </a:r>
            <a:r>
              <a:rPr lang="en-US" altLang="en-US" sz="2000">
                <a:ea typeface="Arial Unicode MS" pitchFamily="34" charset="-128"/>
              </a:rPr>
              <a:t>.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>
                <a:ea typeface="Arial Unicode MS" pitchFamily="34" charset="-128"/>
              </a:rPr>
              <a:t>DataOutputStream(OutputStream ostream)</a:t>
            </a:r>
          </a:p>
          <a:p>
            <a:pPr lvl="1" algn="l" rtl="0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sz="2400">
                <a:ea typeface="Arial Unicode MS" pitchFamily="34" charset="-128"/>
              </a:rPr>
              <a:t>void writeBoolean(boolean b) throws IOException</a:t>
            </a:r>
          </a:p>
          <a:p>
            <a:pPr lvl="1" algn="l" rtl="0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sz="2400">
                <a:ea typeface="Arial Unicode MS" pitchFamily="34" charset="-128"/>
              </a:rPr>
              <a:t>void writeByte(int b) throws IOException</a:t>
            </a:r>
          </a:p>
          <a:p>
            <a:pPr lvl="1" algn="l" rtl="0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sz="2400">
                <a:ea typeface="Arial Unicode MS" pitchFamily="34" charset="-128"/>
              </a:rPr>
              <a:t>void writeBytes(String s) throws IOException</a:t>
            </a:r>
          </a:p>
          <a:p>
            <a:pPr lvl="1" algn="l" rtl="0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sz="2400">
                <a:ea typeface="Arial Unicode MS" pitchFamily="34" charset="-128"/>
              </a:rPr>
              <a:t>void writeChar(int c) throws IOException</a:t>
            </a:r>
          </a:p>
          <a:p>
            <a:pPr lvl="1" algn="l" rtl="0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sz="2400">
                <a:ea typeface="Arial Unicode MS" pitchFamily="34" charset="-128"/>
              </a:rPr>
              <a:t>void writeDouble(double d) throws IOException</a:t>
            </a:r>
          </a:p>
          <a:p>
            <a:pPr lvl="1" algn="l" rtl="0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sz="2400">
                <a:ea typeface="Arial Unicode MS" pitchFamily="34" charset="-128"/>
              </a:rPr>
              <a:t>void writeFloat(float b) throws IOException</a:t>
            </a:r>
          </a:p>
          <a:p>
            <a:pPr lvl="1" algn="l" rtl="0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sz="2400">
                <a:ea typeface="Arial Unicode MS" pitchFamily="34" charset="-128"/>
              </a:rPr>
              <a:t>void writeInt(int i) throws IOException</a:t>
            </a:r>
          </a:p>
          <a:p>
            <a:pPr lvl="1" algn="l" rtl="0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sz="2400">
                <a:ea typeface="Arial Unicode MS" pitchFamily="34" charset="-128"/>
              </a:rPr>
              <a:t>void writeLong(long l) throws IOException</a:t>
            </a:r>
          </a:p>
          <a:p>
            <a:pPr lvl="1" algn="l" rtl="0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sz="2400">
                <a:ea typeface="Arial Unicode MS" pitchFamily="34" charset="-128"/>
              </a:rPr>
              <a:t>void writeShort(int s) throws IOException</a:t>
            </a:r>
          </a:p>
          <a:p>
            <a:pPr lvl="1" algn="l" rtl="0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sz="2400">
                <a:ea typeface="Arial Unicode MS" pitchFamily="34" charset="-128"/>
              </a:rPr>
              <a:t>void writeUTF(String s) throws IOException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B68339-DB06-45A3-9C5E-039F9EF3BA15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D86AC38-81B4-473F-A480-FE3064A00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High-Level Streams </a:t>
            </a:r>
            <a:r>
              <a:rPr lang="en-US" altLang="en-US" sz="3200">
                <a:ea typeface="Arial Unicode MS" pitchFamily="34" charset="-128"/>
              </a:rPr>
              <a:t>(4)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FCA30A3-DD82-427C-8002-B4B31EF927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400" b="1">
                <a:ea typeface="Arial Unicode MS" pitchFamily="34" charset="-128"/>
              </a:rPr>
              <a:t>BufferedInputStream </a:t>
            </a:r>
            <a:r>
              <a:rPr lang="en-US" altLang="en-US">
                <a:ea typeface="Arial Unicode MS" pitchFamily="34" charset="-128"/>
              </a:rPr>
              <a:t>&amp; </a:t>
            </a:r>
            <a:r>
              <a:rPr lang="en-US" altLang="en-US" sz="2400" b="1">
                <a:ea typeface="Arial Unicode MS" pitchFamily="34" charset="-128"/>
              </a:rPr>
              <a:t>BufferedOutputStream</a:t>
            </a:r>
            <a:r>
              <a:rPr lang="en-US" altLang="en-US" sz="2400">
                <a:ea typeface="Arial Unicode MS" pitchFamily="34" charset="-128"/>
              </a:rPr>
              <a:t>:</a:t>
            </a:r>
            <a:r>
              <a:rPr lang="en-US" altLang="en-US">
                <a:ea typeface="Arial Unicode MS" pitchFamily="34" charset="-128"/>
              </a:rPr>
              <a:t> </a:t>
            </a:r>
          </a:p>
          <a:p>
            <a:pPr lvl="1" algn="l" rtl="0" eaLnBrk="1" hangingPunct="1"/>
            <a:r>
              <a:rPr lang="en-US" altLang="en-US">
                <a:ea typeface="Arial Unicode MS" pitchFamily="34" charset="-128"/>
              </a:rPr>
              <a:t>use buffer memory to read and write blocks of data, increasing read and write performance</a:t>
            </a:r>
          </a:p>
          <a:p>
            <a:pPr algn="l" rtl="0" eaLnBrk="1" hangingPunct="1"/>
            <a:r>
              <a:rPr lang="en-US" altLang="en-US" b="1">
                <a:ea typeface="Arial Unicode MS" pitchFamily="34" charset="-128"/>
              </a:rPr>
              <a:t>PrintStream</a:t>
            </a:r>
            <a:r>
              <a:rPr lang="en-US" altLang="en-US">
                <a:ea typeface="Arial Unicode MS" pitchFamily="34" charset="-128"/>
              </a:rPr>
              <a:t>: </a:t>
            </a:r>
          </a:p>
          <a:p>
            <a:pPr lvl="1" algn="l" rtl="0" eaLnBrk="1" hangingPunct="1"/>
            <a:r>
              <a:rPr lang="en-US" altLang="en-US">
                <a:ea typeface="Arial Unicode MS" pitchFamily="34" charset="-128"/>
              </a:rPr>
              <a:t>Can write text or primitives.</a:t>
            </a:r>
          </a:p>
          <a:p>
            <a:pPr lvl="1" algn="l" rtl="0" eaLnBrk="1" hangingPunct="1"/>
            <a:r>
              <a:rPr lang="en-US" altLang="en-US">
                <a:ea typeface="Arial Unicode MS" pitchFamily="34" charset="-128"/>
              </a:rPr>
              <a:t>The primitive type will be converted to bytes</a:t>
            </a:r>
          </a:p>
          <a:p>
            <a:pPr lvl="1" algn="l" rtl="0" eaLnBrk="1" hangingPunct="1"/>
            <a:r>
              <a:rPr lang="en-US" altLang="en-US">
                <a:ea typeface="Arial Unicode MS" pitchFamily="34" charset="-128"/>
              </a:rPr>
              <a:t>System.out &amp; System.err are instance variables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4B2523-E88C-44A1-AF31-51A3139F0407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68653A5-DEAE-4F1B-A13F-E24DFA7BC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>
                <a:ea typeface="Arial Unicode MS" pitchFamily="34" charset="-128"/>
              </a:rPr>
              <a:t>Object Streams and Serialization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9BCF61A-C6AF-4488-AE63-B0B3902425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>
                <a:ea typeface="Arial Unicode MS" pitchFamily="34" charset="-128"/>
              </a:rPr>
              <a:t>Object Streams are used for reading and writing objects</a:t>
            </a:r>
          </a:p>
          <a:p>
            <a:pPr algn="l" rtl="0" eaLnBrk="1" hangingPunct="1"/>
            <a:r>
              <a:rPr lang="en-US" altLang="en-US" sz="2800" i="1">
                <a:ea typeface="Arial Unicode MS" pitchFamily="34" charset="-128"/>
              </a:rPr>
              <a:t>Serialization </a:t>
            </a:r>
            <a:r>
              <a:rPr lang="en-US" altLang="en-US" sz="2800">
                <a:ea typeface="Arial Unicode MS" pitchFamily="34" charset="-128"/>
              </a:rPr>
              <a:t>is the </a:t>
            </a:r>
            <a:r>
              <a:rPr lang="en-US" altLang="en-US" sz="2800" smtClean="0">
                <a:ea typeface="Arial Unicode MS" pitchFamily="34" charset="-128"/>
              </a:rPr>
              <a:t>process of </a:t>
            </a:r>
            <a:r>
              <a:rPr lang="en-US" altLang="en-US" sz="2800">
                <a:ea typeface="Arial Unicode MS" pitchFamily="34" charset="-128"/>
              </a:rPr>
              <a:t>decomposing an object and converting it to a contiguous sequence of bytes - for data transmission </a:t>
            </a:r>
            <a:r>
              <a:rPr lang="en-US" altLang="en-US" sz="2800" smtClean="0">
                <a:ea typeface="Arial Unicode MS" pitchFamily="34" charset="-128"/>
              </a:rPr>
              <a:t>in </a:t>
            </a:r>
            <a:r>
              <a:rPr lang="en-US" altLang="en-US" sz="2800">
                <a:ea typeface="Arial Unicode MS" pitchFamily="34" charset="-128"/>
              </a:rPr>
              <a:t>the </a:t>
            </a:r>
            <a:r>
              <a:rPr lang="en-US" altLang="en-US" sz="2800" smtClean="0">
                <a:ea typeface="Arial Unicode MS" pitchFamily="34" charset="-128"/>
              </a:rPr>
              <a:t>distributed network enviroment.</a:t>
            </a:r>
            <a:endParaRPr lang="en-US" altLang="en-US" sz="2800">
              <a:ea typeface="Arial Unicode MS" pitchFamily="34" charset="-128"/>
            </a:endParaRP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Serialized data only – not class definitions</a:t>
            </a: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Snapshot of the object in memory. </a:t>
            </a:r>
          </a:p>
          <a:p>
            <a:pPr lvl="1" algn="l" rtl="0" eaLnBrk="1" hangingPunct="1"/>
            <a:r>
              <a:rPr lang="en-US" altLang="en-US" sz="2400" smtClean="0">
                <a:ea typeface="Arial Unicode MS" pitchFamily="34" charset="-128"/>
              </a:rPr>
              <a:t>Static data</a:t>
            </a:r>
            <a:r>
              <a:rPr lang="en-US" altLang="en-US" sz="2400" b="1" smtClean="0">
                <a:ea typeface="Arial Unicode MS" pitchFamily="34" charset="-128"/>
              </a:rPr>
              <a:t> </a:t>
            </a:r>
            <a:r>
              <a:rPr lang="en-US" altLang="en-US" sz="2400" smtClean="0">
                <a:ea typeface="Arial Unicode MS" pitchFamily="34" charset="-128"/>
              </a:rPr>
              <a:t>does not</a:t>
            </a:r>
            <a:r>
              <a:rPr lang="en-US" altLang="en-US" sz="2400" b="1" smtClean="0">
                <a:ea typeface="Arial Unicode MS" pitchFamily="34" charset="-128"/>
              </a:rPr>
              <a:t> </a:t>
            </a:r>
            <a:r>
              <a:rPr lang="en-US" altLang="en-US" sz="2400" smtClean="0">
                <a:ea typeface="Arial Unicode MS" pitchFamily="34" charset="-128"/>
              </a:rPr>
              <a:t>serialize.</a:t>
            </a:r>
            <a:endParaRPr lang="en-US" altLang="en-US" sz="2400">
              <a:ea typeface="Arial Unicode MS" pitchFamily="34" charset="-128"/>
            </a:endParaRPr>
          </a:p>
          <a:p>
            <a:pPr lvl="1" algn="l" rtl="0" eaLnBrk="1" hangingPunct="1"/>
            <a:r>
              <a:rPr lang="en-US" altLang="en-US" sz="2400">
                <a:ea typeface="Arial Unicode MS" pitchFamily="34" charset="-128"/>
              </a:rPr>
              <a:t>Declare </a:t>
            </a:r>
            <a:r>
              <a:rPr lang="en-US" altLang="en-US" sz="2400" b="1" smtClean="0">
                <a:ea typeface="Arial Unicode MS" pitchFamily="34" charset="-128"/>
              </a:rPr>
              <a:t>transient</a:t>
            </a:r>
            <a:r>
              <a:rPr lang="en-US" altLang="en-US" sz="2400" smtClean="0">
                <a:ea typeface="Arial Unicode MS" pitchFamily="34" charset="-128"/>
              </a:rPr>
              <a:t> </a:t>
            </a:r>
            <a:r>
              <a:rPr lang="en-US" altLang="en-US" sz="2400">
                <a:ea typeface="Arial Unicode MS" pitchFamily="34" charset="-128"/>
              </a:rPr>
              <a:t>for non-serializable variables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EB698D-7E12-4F45-90A0-878C5CDB3606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5D585520-1BB7-43AA-ACCF-103F191E8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>
                <a:ea typeface="Arial Unicode MS" pitchFamily="34" charset="-128"/>
              </a:rPr>
              <a:t>Object Streams &amp; Serialization</a:t>
            </a:r>
            <a:endParaRPr lang="en-US" altLang="en-US" sz="2800">
              <a:solidFill>
                <a:schemeClr val="tx1"/>
              </a:solidFill>
              <a:latin typeface="Univers-Bold" charset="0"/>
              <a:ea typeface="Arial Unicode MS" pitchFamily="34" charset="-128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9E8321E-9E5E-4D11-9CE2-883029ECF4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>
                <a:solidFill>
                  <a:srgbClr val="000000"/>
                </a:solidFill>
                <a:ea typeface="Arial Unicode MS" pitchFamily="34" charset="-128"/>
              </a:rPr>
              <a:t>Example:</a:t>
            </a:r>
            <a:br>
              <a:rPr lang="en-US" altLang="en-US">
                <a:solidFill>
                  <a:srgbClr val="000000"/>
                </a:solidFill>
                <a:ea typeface="Arial Unicode MS" pitchFamily="34" charset="-128"/>
              </a:rPr>
            </a:br>
            <a:r>
              <a:rPr lang="en-US" altLang="en-US">
                <a:solidFill>
                  <a:srgbClr val="000000"/>
                </a:solidFill>
                <a:ea typeface="Arial Unicode MS" pitchFamily="34" charset="-128"/>
              </a:rPr>
              <a:t>try {</a:t>
            </a:r>
            <a:endParaRPr lang="en-US" altLang="en-US">
              <a:ea typeface="Arial Unicode MS" pitchFamily="34" charset="-128"/>
            </a:endParaRPr>
          </a:p>
          <a:p>
            <a:pPr algn="l" rtl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00"/>
                </a:solidFill>
                <a:ea typeface="Arial Unicode MS" pitchFamily="34" charset="-128"/>
              </a:rPr>
              <a:t> </a:t>
            </a:r>
            <a:r>
              <a:rPr lang="en-US" altLang="en-US" sz="2400">
                <a:solidFill>
                  <a:srgbClr val="000000"/>
                </a:solidFill>
                <a:ea typeface="Arial Unicode MS" pitchFamily="34" charset="-128"/>
              </a:rPr>
              <a:t>FileOutputStream fos =new FileOutputStream(“xx.ser”);</a:t>
            </a:r>
          </a:p>
          <a:p>
            <a:pPr algn="l" rtl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00"/>
                </a:solidFill>
                <a:ea typeface="Arial Unicode MS" pitchFamily="34" charset="-128"/>
              </a:rPr>
              <a:t> ObjectOutputStream oos = new ObjectOutputStream(fos);</a:t>
            </a:r>
          </a:p>
          <a:p>
            <a:pPr algn="l" rtl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00"/>
                </a:solidFill>
                <a:ea typeface="Arial Unicode MS" pitchFamily="34" charset="-128"/>
              </a:rPr>
              <a:t> oos.writeObject(myVector);</a:t>
            </a:r>
            <a:endParaRPr lang="en-US" altLang="en-US">
              <a:ea typeface="Arial Unicode MS" pitchFamily="34" charset="-128"/>
            </a:endParaRPr>
          </a:p>
          <a:p>
            <a:pPr algn="l" rtl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00"/>
                </a:solidFill>
                <a:ea typeface="Arial Unicode MS" pitchFamily="34" charset="-128"/>
              </a:rPr>
              <a:t> oos.close();</a:t>
            </a:r>
            <a:endParaRPr lang="en-US" altLang="en-US">
              <a:ea typeface="Arial Unicode MS" pitchFamily="34" charset="-128"/>
            </a:endParaRPr>
          </a:p>
          <a:p>
            <a:pPr algn="l" rtl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00"/>
                </a:solidFill>
                <a:ea typeface="Arial Unicode MS" pitchFamily="34" charset="-128"/>
              </a:rPr>
              <a:t> fos.close();</a:t>
            </a:r>
            <a:endParaRPr lang="en-US" altLang="en-US">
              <a:ea typeface="Arial Unicode MS" pitchFamily="34" charset="-128"/>
            </a:endParaRPr>
          </a:p>
          <a:p>
            <a:pPr algn="l" rtl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00"/>
                </a:solidFill>
                <a:ea typeface="Arial Unicode MS" pitchFamily="34" charset="-128"/>
              </a:rPr>
              <a:t> }</a:t>
            </a:r>
            <a:br>
              <a:rPr lang="en-US" altLang="en-US">
                <a:solidFill>
                  <a:srgbClr val="000000"/>
                </a:solidFill>
                <a:ea typeface="Arial Unicode MS" pitchFamily="34" charset="-128"/>
              </a:rPr>
            </a:br>
            <a:r>
              <a:rPr lang="en-US" altLang="en-US" sz="2400">
                <a:solidFill>
                  <a:srgbClr val="000000"/>
                </a:solidFill>
                <a:ea typeface="Arial Unicode MS" pitchFamily="34" charset="-128"/>
              </a:rPr>
              <a:t> </a:t>
            </a:r>
            <a:r>
              <a:rPr lang="en-US" altLang="en-US">
                <a:solidFill>
                  <a:srgbClr val="000000"/>
                </a:solidFill>
                <a:ea typeface="Arial Unicode MS" pitchFamily="34" charset="-128"/>
              </a:rPr>
              <a:t>catch (IOException e) { }</a:t>
            </a:r>
            <a:r>
              <a:rPr lang="en-US" altLang="en-US">
                <a:ea typeface="Arial Unicode MS" pitchFamily="34" charset="-128"/>
              </a:rPr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469DEB-8486-47EB-84C4-B2981B9C2B7C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73E0ACB-CF73-43F2-9DD4-4012AA442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>
                <a:ea typeface="Arial Unicode MS" pitchFamily="34" charset="-128"/>
              </a:rPr>
              <a:t>Object Streams and Serialization</a:t>
            </a:r>
            <a:endParaRPr lang="en-US" altLang="en-US" sz="2800">
              <a:solidFill>
                <a:schemeClr val="tx1"/>
              </a:solidFill>
              <a:latin typeface="Univers-Bold" charset="0"/>
              <a:ea typeface="Arial Unicode MS" pitchFamily="34" charset="-128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149BEF1-A346-432C-B4BB-F0FA3B60DF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Cont..</a:t>
            </a:r>
          </a:p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ea typeface="Arial Unicode MS" pitchFamily="34" charset="-128"/>
              </a:rPr>
              <a:t>try {</a:t>
            </a:r>
            <a:endParaRPr lang="en-US" altLang="en-US" sz="2400">
              <a:cs typeface="Arial" panose="020B0604020202020204" pitchFamily="34" charset="0"/>
            </a:endParaRPr>
          </a:p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ea typeface="Arial Unicode MS" pitchFamily="34" charset="-128"/>
              </a:rPr>
              <a:t> FileInputStream fis =new FileInputStream (“xx.ser”);</a:t>
            </a:r>
            <a:endParaRPr lang="en-US" altLang="en-US" sz="2400">
              <a:cs typeface="Arial" panose="020B0604020202020204" pitchFamily="34" charset="0"/>
            </a:endParaRPr>
          </a:p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ea typeface="Arial Unicode MS" pitchFamily="34" charset="-128"/>
              </a:rPr>
              <a:t> ObjectInputStream ois = new ObjectInputStream(fis);</a:t>
            </a:r>
            <a:endParaRPr lang="en-US" altLang="en-US" sz="2400">
              <a:cs typeface="Arial" panose="020B0604020202020204" pitchFamily="34" charset="0"/>
            </a:endParaRPr>
          </a:p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ea typeface="Arial Unicode MS" pitchFamily="34" charset="-128"/>
              </a:rPr>
              <a:t> Vector vector = (Vector)(ois.readObject());</a:t>
            </a:r>
            <a:endParaRPr lang="en-US" altLang="en-US" sz="2400">
              <a:cs typeface="Arial" panose="020B0604020202020204" pitchFamily="34" charset="0"/>
            </a:endParaRPr>
          </a:p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ea typeface="Arial Unicode MS" pitchFamily="34" charset="-128"/>
              </a:rPr>
              <a:t> int b = ((Color)(vec.elementAt(2))).getBlue();</a:t>
            </a:r>
            <a:endParaRPr lang="en-US" altLang="en-US" sz="2400">
              <a:cs typeface="Arial" panose="020B0604020202020204" pitchFamily="34" charset="0"/>
            </a:endParaRPr>
          </a:p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ea typeface="Arial Unicode MS" pitchFamily="34" charset="-128"/>
              </a:rPr>
              <a:t> ois.close();</a:t>
            </a:r>
            <a:endParaRPr lang="en-US" altLang="en-US" sz="2400">
              <a:cs typeface="Arial" panose="020B0604020202020204" pitchFamily="34" charset="0"/>
            </a:endParaRPr>
          </a:p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ea typeface="Arial Unicode MS" pitchFamily="34" charset="-128"/>
              </a:rPr>
              <a:t> fis.close();</a:t>
            </a:r>
            <a:endParaRPr lang="en-US" altLang="en-US" sz="2400">
              <a:cs typeface="Arial" panose="020B0604020202020204" pitchFamily="34" charset="0"/>
            </a:endParaRPr>
          </a:p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ea typeface="Arial Unicode MS" pitchFamily="34" charset="-128"/>
              </a:rPr>
              <a:t> }</a:t>
            </a:r>
            <a:endParaRPr lang="en-US" altLang="en-US" sz="2400">
              <a:cs typeface="Arial" panose="020B0604020202020204" pitchFamily="34" charset="0"/>
            </a:endParaRPr>
          </a:p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ea typeface="Arial Unicode MS" pitchFamily="34" charset="-128"/>
              </a:rPr>
              <a:t> catch (IOException e) { 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5778D9-BBE3-4C7B-B202-E5EA7BCB0994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069E907-6995-4146-B67D-AC8213047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>
                <a:ea typeface="Arial Unicode MS" pitchFamily="34" charset="-128"/>
              </a:rPr>
              <a:t>Object Streams and Serialization</a:t>
            </a:r>
            <a:endParaRPr lang="en-US" altLang="en-US" sz="2800">
              <a:solidFill>
                <a:schemeClr val="tx1"/>
              </a:solidFill>
              <a:latin typeface="Univers-Bold" charset="0"/>
              <a:ea typeface="Arial Unicode MS" pitchFamily="34" charset="-128"/>
            </a:endParaRPr>
          </a:p>
        </p:txBody>
      </p:sp>
      <p:pic>
        <p:nvPicPr>
          <p:cNvPr id="24579" name="Picture 4">
            <a:extLst>
              <a:ext uri="{FF2B5EF4-FFF2-40B4-BE49-F238E27FC236}">
                <a16:creationId xmlns:a16="http://schemas.microsoft.com/office/drawing/2014/main" id="{72C9B7CB-4D58-4106-8963-898F434D05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590675"/>
            <a:ext cx="5867400" cy="4503738"/>
          </a:xfr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4EE048-035D-47A8-A4C3-A24E08756348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9B431A7-4F35-4367-ABF9-2950F0327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The Serializable interface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B7E8051-3878-4F61-9EAB-38EB561A16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 smtClean="0">
                <a:ea typeface="Arial Unicode MS" pitchFamily="34" charset="-128"/>
              </a:rPr>
              <a:t>Class declared </a:t>
            </a:r>
            <a:r>
              <a:rPr lang="en-US" altLang="en-US" sz="2800" b="1">
                <a:ea typeface="Arial Unicode MS" pitchFamily="34" charset="-128"/>
              </a:rPr>
              <a:t>implements Serializable </a:t>
            </a:r>
            <a:r>
              <a:rPr lang="en-US" altLang="en-US" sz="2800">
                <a:ea typeface="Arial Unicode MS" pitchFamily="34" charset="-128"/>
              </a:rPr>
              <a:t>to make it possible </a:t>
            </a:r>
            <a:r>
              <a:rPr lang="en-US" altLang="en-US" sz="2800" smtClean="0">
                <a:ea typeface="Arial Unicode MS" pitchFamily="34" charset="-128"/>
              </a:rPr>
              <a:t>for serialization.</a:t>
            </a:r>
            <a:endParaRPr lang="en-US" altLang="en-US" sz="2800">
              <a:ea typeface="Arial Unicode MS" pitchFamily="34" charset="-128"/>
            </a:endParaRPr>
          </a:p>
          <a:p>
            <a:pPr algn="l" rtl="0" eaLnBrk="1" hangingPunct="1"/>
            <a:r>
              <a:rPr lang="en-US" altLang="en-US" sz="2800" b="1">
                <a:ea typeface="Arial Unicode MS" pitchFamily="34" charset="-128"/>
              </a:rPr>
              <a:t>Serializable</a:t>
            </a:r>
            <a:r>
              <a:rPr lang="en-US" altLang="en-US" sz="2800">
                <a:ea typeface="Arial Unicode MS" pitchFamily="34" charset="-128"/>
              </a:rPr>
              <a:t> is a </a:t>
            </a:r>
            <a:r>
              <a:rPr lang="en-US" altLang="en-US" sz="2800" smtClean="0">
                <a:ea typeface="Arial Unicode MS" pitchFamily="34" charset="-128"/>
              </a:rPr>
              <a:t>tag interface</a:t>
            </a:r>
            <a:endParaRPr lang="en-US" altLang="en-US" sz="2800">
              <a:ea typeface="Arial Unicode MS" pitchFamily="34" charset="-128"/>
            </a:endParaRPr>
          </a:p>
          <a:p>
            <a:pPr lvl="1" algn="l" rtl="0" eaLnBrk="1" hangingPunct="1"/>
            <a:r>
              <a:rPr lang="en-US" altLang="en-US" sz="2400" smtClean="0">
                <a:ea typeface="Arial Unicode MS" pitchFamily="34" charset="-128"/>
              </a:rPr>
              <a:t>there </a:t>
            </a:r>
            <a:r>
              <a:rPr lang="en-US" altLang="en-US" sz="2400">
                <a:ea typeface="Arial Unicode MS" pitchFamily="34" charset="-128"/>
              </a:rPr>
              <a:t>is no </a:t>
            </a:r>
            <a:r>
              <a:rPr lang="en-US" altLang="en-US" sz="2400" smtClean="0">
                <a:ea typeface="Arial Unicode MS" pitchFamily="34" charset="-128"/>
              </a:rPr>
              <a:t>method to override</a:t>
            </a:r>
            <a:endParaRPr lang="en-US" altLang="en-US" sz="2400">
              <a:ea typeface="Arial Unicode MS" pitchFamily="34" charset="-128"/>
            </a:endParaRPr>
          </a:p>
          <a:p>
            <a:pPr algn="l" rtl="0" eaLnBrk="1" hangingPunct="1"/>
            <a:r>
              <a:rPr lang="en-US" altLang="en-US" sz="2800">
                <a:ea typeface="Arial Unicode MS" pitchFamily="34" charset="-128"/>
              </a:rPr>
              <a:t>public class Account implements Serializable</a:t>
            </a:r>
            <a:r>
              <a:rPr lang="en-US" altLang="en-US" sz="2800" smtClean="0">
                <a:ea typeface="Arial Unicode MS" pitchFamily="34" charset="-128"/>
              </a:rPr>
              <a:t>{</a:t>
            </a:r>
            <a:br>
              <a:rPr lang="en-US" altLang="en-US" sz="2800" smtClean="0">
                <a:ea typeface="Arial Unicode MS" pitchFamily="34" charset="-128"/>
              </a:rPr>
            </a:br>
            <a:r>
              <a:rPr lang="en-US" altLang="en-US" sz="2800" smtClean="0">
                <a:ea typeface="Arial Unicode MS" pitchFamily="34" charset="-128"/>
              </a:rPr>
              <a:t>    private transient Date lastAccess;</a:t>
            </a:r>
            <a:br>
              <a:rPr lang="en-US" altLang="en-US" sz="2800" smtClean="0">
                <a:ea typeface="Arial Unicode MS" pitchFamily="34" charset="-128"/>
              </a:rPr>
            </a:br>
            <a:r>
              <a:rPr lang="en-US" altLang="en-US" sz="2800" smtClean="0">
                <a:ea typeface="Arial Unicode MS" pitchFamily="34" charset="-128"/>
              </a:rPr>
              <a:t>    private int accNo;</a:t>
            </a:r>
            <a:br>
              <a:rPr lang="en-US" altLang="en-US" sz="2800" smtClean="0">
                <a:ea typeface="Arial Unicode MS" pitchFamily="34" charset="-128"/>
              </a:rPr>
            </a:br>
            <a:r>
              <a:rPr lang="en-US" altLang="en-US" sz="2800" smtClean="0">
                <a:ea typeface="Arial Unicode MS" pitchFamily="34" charset="-128"/>
              </a:rPr>
              <a:t>…</a:t>
            </a:r>
            <a:r>
              <a:rPr lang="en-US" altLang="en-US" sz="2800">
                <a:ea typeface="Arial Unicode MS" pitchFamily="34" charset="-128"/>
              </a:rPr>
              <a:t/>
            </a:r>
            <a:br>
              <a:rPr lang="en-US" altLang="en-US" sz="2800">
                <a:ea typeface="Arial Unicode MS" pitchFamily="34" charset="-128"/>
              </a:rPr>
            </a:br>
            <a:r>
              <a:rPr lang="en-US" altLang="en-US" sz="2800">
                <a:ea typeface="Arial Unicode MS" pitchFamily="34" charset="-128"/>
              </a:rPr>
              <a:t>//</a:t>
            </a:r>
            <a:br>
              <a:rPr lang="en-US" altLang="en-US" sz="2800">
                <a:ea typeface="Arial Unicode MS" pitchFamily="34" charset="-128"/>
              </a:rPr>
            </a:br>
            <a:r>
              <a:rPr lang="en-US" altLang="en-US" sz="2800">
                <a:ea typeface="Arial Unicode MS" pitchFamily="34" charset="-128"/>
              </a:rPr>
              <a:t>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4BC35F-3E01-4A23-9C84-4DE9DD26ADE8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4A17AB8D-DE6E-4FBC-A711-94ED6DCC4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Exercise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365AA43D-17B5-46F8-A892-51C734941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Write an application that reads its own source file and prints out the statistics of </a:t>
            </a:r>
            <a:r>
              <a:rPr lang="en-US" altLang="en-US" smtClean="0"/>
              <a:t>characters frequency appear </a:t>
            </a:r>
            <a:r>
              <a:rPr lang="en-US" altLang="en-US"/>
              <a:t>in the </a:t>
            </a:r>
            <a:r>
              <a:rPr lang="en-US" altLang="en-US" smtClean="0"/>
              <a:t>code</a:t>
            </a:r>
            <a:endParaRPr lang="en-US" altLang="en-US"/>
          </a:p>
          <a:p>
            <a:pPr eaLnBrk="1" hangingPunct="1"/>
            <a:r>
              <a:rPr lang="en-US" altLang="en-US"/>
              <a:t>Add “saving function</a:t>
            </a:r>
            <a:r>
              <a:rPr lang="en-US" altLang="en-US" smtClean="0"/>
              <a:t>” for Student Management Application so </a:t>
            </a:r>
            <a:r>
              <a:rPr lang="en-US" altLang="en-US"/>
              <a:t>that when the </a:t>
            </a:r>
            <a:r>
              <a:rPr lang="en-US" altLang="en-US" smtClean="0"/>
              <a:t>program </a:t>
            </a:r>
            <a:r>
              <a:rPr lang="en-US" altLang="en-US"/>
              <a:t>ends, save the data to a file, when running the program will read the file again to recover old data.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A408EE-9B40-4812-841D-81D209E3BABA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D887DB27-972C-4F17-B7CC-15419F80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Constructive questions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98929A1D-99C5-48E5-BE33-2EB8EFE37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Why </a:t>
            </a:r>
            <a:r>
              <a:rPr lang="en-US" altLang="en-US" sz="2400" smtClean="0"/>
              <a:t>I/O in </a:t>
            </a:r>
            <a:r>
              <a:rPr lang="en-US" altLang="en-US" sz="2400"/>
              <a:t>Java only used separate classes for </a:t>
            </a:r>
            <a:r>
              <a:rPr lang="en-US" altLang="en-US" sz="2400" smtClean="0"/>
              <a:t>read-write </a:t>
            </a:r>
            <a:r>
              <a:rPr lang="en-US" altLang="en-US" sz="2400"/>
              <a:t>task but not </a:t>
            </a:r>
            <a:r>
              <a:rPr lang="en-US" altLang="en-US" sz="2400" smtClean="0"/>
              <a:t>for both? </a:t>
            </a:r>
            <a:endParaRPr lang="en-US" altLang="en-US" sz="2400"/>
          </a:p>
          <a:p>
            <a:pPr algn="l" rtl="0" eaLnBrk="1" hangingPunct="1"/>
            <a:r>
              <a:rPr lang="en-US" altLang="en-US" sz="2400"/>
              <a:t>Declare and initialize a variable of the I/O class to read a text </a:t>
            </a:r>
            <a:r>
              <a:rPr lang="en-US" altLang="en-US" sz="2400" smtClean="0"/>
              <a:t>file.</a:t>
            </a:r>
            <a:endParaRPr lang="en-US" altLang="en-US" sz="2400"/>
          </a:p>
          <a:p>
            <a:pPr algn="l" rtl="0" eaLnBrk="1" hangingPunct="1"/>
            <a:r>
              <a:rPr lang="en-US" altLang="en-US" sz="2400"/>
              <a:t>Want to read and write Student's score </a:t>
            </a:r>
            <a:r>
              <a:rPr lang="en-US" altLang="en-US" sz="2400" smtClean="0"/>
              <a:t>to </a:t>
            </a:r>
            <a:r>
              <a:rPr lang="en-US" altLang="en-US" sz="2400"/>
              <a:t>a file, but can't find </a:t>
            </a:r>
            <a:r>
              <a:rPr lang="en-US" altLang="en-US" sz="2400" smtClean="0"/>
              <a:t>any method </a:t>
            </a:r>
            <a:r>
              <a:rPr lang="en-US" altLang="en-US" sz="2400"/>
              <a:t>to read and write </a:t>
            </a:r>
            <a:r>
              <a:rPr lang="en-US" altLang="en-US" sz="2400" smtClean="0"/>
              <a:t>GPA score </a:t>
            </a:r>
            <a:r>
              <a:rPr lang="en-US" altLang="en-US" sz="2400"/>
              <a:t>in FileReader/FileWriter or FileInputStream/FileOutputStream classes. Explain and suggest solutions.</a:t>
            </a:r>
          </a:p>
          <a:p>
            <a:pPr algn="l" rtl="0" eaLnBrk="1" hangingPunct="1"/>
            <a:r>
              <a:rPr lang="en-US" altLang="en-US" sz="2400"/>
              <a:t>Proposing a solution to </a:t>
            </a:r>
            <a:r>
              <a:rPr lang="en-US" altLang="en-US" sz="2400" smtClean="0"/>
              <a:t>save </a:t>
            </a:r>
            <a:r>
              <a:rPr lang="en-US" altLang="en-US" sz="2400"/>
              <a:t>program running </a:t>
            </a:r>
            <a:r>
              <a:rPr lang="en-US" altLang="en-US" sz="2400" smtClean="0"/>
              <a:t>state and all data.. Without using </a:t>
            </a:r>
            <a:r>
              <a:rPr lang="en-US" altLang="en-US" sz="2400"/>
              <a:t>DBMS.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A88582-C835-472F-A6D7-6A8223E9D325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6A35E42-34FD-4894-B71D-DB33D1446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Constructive questions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24184938-AB03-432C-87B1-F085ACF6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200"/>
              <a:t>How to quickly identify a class in the java.io library used for what I/O purposes?</a:t>
            </a:r>
          </a:p>
          <a:p>
            <a:pPr algn="l" rtl="0" eaLnBrk="1" hangingPunct="1"/>
            <a:r>
              <a:rPr lang="en-US" altLang="en-US" sz="2200"/>
              <a:t>Why don't high level I/O classes have default constructor.. as is common in other classes?</a:t>
            </a:r>
          </a:p>
          <a:p>
            <a:pPr algn="l" rtl="0" eaLnBrk="1" hangingPunct="1"/>
            <a:r>
              <a:rPr lang="en-US" altLang="en-US" sz="2200"/>
              <a:t>Game applications often have a Save function that can save the state of the game and Load to reload an unfinished game. Suggest an I/O solution for this purpose.</a:t>
            </a:r>
          </a:p>
          <a:p>
            <a:pPr algn="l" rtl="0" eaLnBrk="1" hangingPunct="1"/>
            <a:r>
              <a:rPr lang="en-US" altLang="en-US" sz="2200"/>
              <a:t>How to exchange data between 2 computers in distributed applications in a network environment? An example of an online game.</a:t>
            </a:r>
          </a:p>
          <a:p>
            <a:pPr algn="l" rtl="0" eaLnBrk="1" hangingPunct="1"/>
            <a:r>
              <a:rPr lang="en-US" altLang="en-US" sz="2200"/>
              <a:t>What does the implements Serializable declaration mean? </a:t>
            </a:r>
          </a:p>
          <a:p>
            <a:pPr algn="l" rtl="0" eaLnBrk="1" hangingPunct="1"/>
            <a:r>
              <a:rPr lang="en-US" altLang="en-US" sz="2200"/>
              <a:t>What is the transient declaration used for? Give an example..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2A1C76-489B-4E62-B68A-B20389C38F8F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9FD99-08DD-48C0-A6FF-09297A55D38C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aiGiangCDCN">
  <a:themeElements>
    <a:clrScheme name="BaiGiangCDCN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aiGiangCDC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aiGiangCDCN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GiangCDCN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GiangCDCN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GiangCDCN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GiangCDCN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GiangCDCN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Chuong4 Interface Abstract</Template>
  <TotalTime>1013</TotalTime>
  <Words>1246</Words>
  <Application>Microsoft Office PowerPoint</Application>
  <PresentationFormat>On-screen Show (4:3)</PresentationFormat>
  <Paragraphs>244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 Unicode MS</vt:lpstr>
      <vt:lpstr>Arial</vt:lpstr>
      <vt:lpstr>Calibri</vt:lpstr>
      <vt:lpstr>Mono3Frame-Regular</vt:lpstr>
      <vt:lpstr>Sabon-Roman</vt:lpstr>
      <vt:lpstr>Tahoma</vt:lpstr>
      <vt:lpstr>Univers-Bold</vt:lpstr>
      <vt:lpstr>Univers-BoldOblique</vt:lpstr>
      <vt:lpstr>Wingdings</vt:lpstr>
      <vt:lpstr>BaiGiangCDCN</vt:lpstr>
      <vt:lpstr>Java Input-Output</vt:lpstr>
      <vt:lpstr>Objectives - Contents </vt:lpstr>
      <vt:lpstr>General introduction</vt:lpstr>
      <vt:lpstr>General introduction</vt:lpstr>
      <vt:lpstr>File – access OS file system</vt:lpstr>
      <vt:lpstr>File – methods</vt:lpstr>
      <vt:lpstr>File – methods</vt:lpstr>
      <vt:lpstr> RandomAccessFile</vt:lpstr>
      <vt:lpstr>RandomAccessFile..</vt:lpstr>
      <vt:lpstr>Unicode &amp; UTF</vt:lpstr>
      <vt:lpstr>Handle Input – output data </vt:lpstr>
      <vt:lpstr>Text I/O – Reader and Writer</vt:lpstr>
      <vt:lpstr>Binary stream IO</vt:lpstr>
      <vt:lpstr>High-Level Filter Streams </vt:lpstr>
      <vt:lpstr>High-Level Streams (2)</vt:lpstr>
      <vt:lpstr>High-Level Streams (3)</vt:lpstr>
      <vt:lpstr>High-Level Streams (4)</vt:lpstr>
      <vt:lpstr>Object Streams and Serialization</vt:lpstr>
      <vt:lpstr>Object Streams &amp; Serialization</vt:lpstr>
      <vt:lpstr>Object Streams and Serialization</vt:lpstr>
      <vt:lpstr>Object Streams and Serialization</vt:lpstr>
      <vt:lpstr>The Serializable interface</vt:lpstr>
      <vt:lpstr>Exercise</vt:lpstr>
      <vt:lpstr>Constructive questions</vt:lpstr>
      <vt:lpstr>Constructive questions</vt:lpstr>
    </vt:vector>
  </TitlesOfParts>
  <Company>SoftTech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Input and Output</dc:title>
  <dc:creator>Nguyen van Lanh</dc:creator>
  <cp:lastModifiedBy>Windows User</cp:lastModifiedBy>
  <cp:revision>31</cp:revision>
  <dcterms:created xsi:type="dcterms:W3CDTF">2002-12-02T07:59:35Z</dcterms:created>
  <dcterms:modified xsi:type="dcterms:W3CDTF">2021-08-04T07:12:20Z</dcterms:modified>
</cp:coreProperties>
</file>