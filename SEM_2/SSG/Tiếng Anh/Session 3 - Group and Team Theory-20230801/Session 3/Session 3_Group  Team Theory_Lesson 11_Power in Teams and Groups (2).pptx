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  <p:sldMasterId id="2147483698" r:id="rId2"/>
  </p:sldMasterIdLst>
  <p:notesMasterIdLst>
    <p:notesMasterId r:id="rId40"/>
  </p:notesMasterIdLst>
  <p:sldIdLst>
    <p:sldId id="256" r:id="rId3"/>
    <p:sldId id="257" r:id="rId4"/>
    <p:sldId id="258" r:id="rId5"/>
    <p:sldId id="339" r:id="rId6"/>
    <p:sldId id="259" r:id="rId7"/>
    <p:sldId id="283" r:id="rId8"/>
    <p:sldId id="284" r:id="rId9"/>
    <p:sldId id="285" r:id="rId10"/>
    <p:sldId id="286" r:id="rId11"/>
    <p:sldId id="352" r:id="rId12"/>
    <p:sldId id="261" r:id="rId13"/>
    <p:sldId id="262" r:id="rId14"/>
    <p:sldId id="263" r:id="rId15"/>
    <p:sldId id="342" r:id="rId16"/>
    <p:sldId id="343" r:id="rId17"/>
    <p:sldId id="344" r:id="rId18"/>
    <p:sldId id="347" r:id="rId19"/>
    <p:sldId id="345" r:id="rId20"/>
    <p:sldId id="264" r:id="rId21"/>
    <p:sldId id="356" r:id="rId22"/>
    <p:sldId id="287" r:id="rId23"/>
    <p:sldId id="266" r:id="rId24"/>
    <p:sldId id="348" r:id="rId25"/>
    <p:sldId id="349" r:id="rId26"/>
    <p:sldId id="350" r:id="rId27"/>
    <p:sldId id="351" r:id="rId28"/>
    <p:sldId id="270" r:id="rId29"/>
    <p:sldId id="291" r:id="rId30"/>
    <p:sldId id="292" r:id="rId31"/>
    <p:sldId id="293" r:id="rId32"/>
    <p:sldId id="294" r:id="rId33"/>
    <p:sldId id="273" r:id="rId34"/>
    <p:sldId id="282" r:id="rId35"/>
    <p:sldId id="353" r:id="rId36"/>
    <p:sldId id="354" r:id="rId37"/>
    <p:sldId id="358" r:id="rId38"/>
    <p:sldId id="35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hvkfs9ZvqPDWFtgMXS+IYdxb5VI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 Thi Phuong Dung (FPTU DN)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9ABD0-CE5E-42A6-BB15-68F501F4CF5A}" v="17" dt="2023-02-16T15:33:10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772" autoAdjust="0"/>
  </p:normalViewPr>
  <p:slideViewPr>
    <p:cSldViewPr snapToGrid="0">
      <p:cViewPr varScale="1">
        <p:scale>
          <a:sx n="50" d="100"/>
          <a:sy n="50" d="100"/>
        </p:scale>
        <p:origin x="12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customschemas.google.com/relationships/presentationmetadata" Target="meta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8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C6D738-94BD-49C1-998C-8012D6121EF1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69772A0-9B72-49A7-8B07-4A1AA4E23B02}">
      <dgm:prSet/>
      <dgm:spPr/>
      <dgm:t>
        <a:bodyPr/>
        <a:lstStyle/>
        <a:p>
          <a:pPr algn="r"/>
          <a:r>
            <a:rPr lang="en-US" dirty="0"/>
            <a:t>Controlling Access to Person</a:t>
          </a:r>
        </a:p>
      </dgm:t>
    </dgm:pt>
    <dgm:pt modelId="{EF82590F-A312-47F8-B9F0-4C60C9C5E3D9}" type="parTrans" cxnId="{A2010724-8DE4-4069-9805-44F15A8208FA}">
      <dgm:prSet/>
      <dgm:spPr/>
      <dgm:t>
        <a:bodyPr/>
        <a:lstStyle/>
        <a:p>
          <a:pPr algn="r"/>
          <a:endParaRPr lang="en-US" sz="2800"/>
        </a:p>
      </dgm:t>
    </dgm:pt>
    <dgm:pt modelId="{F1B89324-8006-418C-871E-48F72DC422B1}" type="sibTrans" cxnId="{A2010724-8DE4-4069-9805-44F15A8208FA}">
      <dgm:prSet/>
      <dgm:spPr/>
      <dgm:t>
        <a:bodyPr/>
        <a:lstStyle/>
        <a:p>
          <a:pPr algn="r"/>
          <a:endParaRPr lang="en-US"/>
        </a:p>
      </dgm:t>
    </dgm:pt>
    <dgm:pt modelId="{B4B95412-53BA-4FD6-B53C-E1EE4D571F15}">
      <dgm:prSet/>
      <dgm:spPr/>
      <dgm:t>
        <a:bodyPr/>
        <a:lstStyle/>
        <a:p>
          <a:pPr algn="r"/>
          <a:r>
            <a:rPr lang="en-US" dirty="0"/>
            <a:t>Selective Use of Objective Criteria</a:t>
          </a:r>
        </a:p>
      </dgm:t>
    </dgm:pt>
    <dgm:pt modelId="{D1DD7660-792F-4180-8E8C-BE62B1E3A45C}" type="parTrans" cxnId="{4B79AE88-9C48-4D2F-A539-A12ADF47376D}">
      <dgm:prSet/>
      <dgm:spPr/>
      <dgm:t>
        <a:bodyPr/>
        <a:lstStyle/>
        <a:p>
          <a:pPr algn="r"/>
          <a:endParaRPr lang="en-US" sz="2800"/>
        </a:p>
      </dgm:t>
    </dgm:pt>
    <dgm:pt modelId="{3DBCC21A-FCCF-4DB5-B9CC-19F0B79A8C9C}" type="sibTrans" cxnId="{4B79AE88-9C48-4D2F-A539-A12ADF47376D}">
      <dgm:prSet/>
      <dgm:spPr/>
      <dgm:t>
        <a:bodyPr/>
        <a:lstStyle/>
        <a:p>
          <a:pPr algn="r"/>
          <a:endParaRPr lang="en-US"/>
        </a:p>
      </dgm:t>
    </dgm:pt>
    <dgm:pt modelId="{E72064C2-74B0-49B0-9387-8F9BB6862ECC}">
      <dgm:prSet/>
      <dgm:spPr/>
      <dgm:t>
        <a:bodyPr/>
        <a:lstStyle/>
        <a:p>
          <a:pPr algn="r"/>
          <a:r>
            <a:rPr lang="en-US" dirty="0"/>
            <a:t>Using Outside Experts </a:t>
          </a:r>
        </a:p>
      </dgm:t>
    </dgm:pt>
    <dgm:pt modelId="{B007C334-5062-4F99-8933-93D652842C26}" type="parTrans" cxnId="{EE0D4652-B42E-4CBB-8625-DE0578F47C20}">
      <dgm:prSet/>
      <dgm:spPr/>
      <dgm:t>
        <a:bodyPr/>
        <a:lstStyle/>
        <a:p>
          <a:pPr algn="r"/>
          <a:endParaRPr lang="en-US" sz="2800"/>
        </a:p>
      </dgm:t>
    </dgm:pt>
    <dgm:pt modelId="{51B0E621-0B9E-463C-89E2-6878620F23CB}" type="sibTrans" cxnId="{EE0D4652-B42E-4CBB-8625-DE0578F47C20}">
      <dgm:prSet/>
      <dgm:spPr/>
      <dgm:t>
        <a:bodyPr/>
        <a:lstStyle/>
        <a:p>
          <a:pPr algn="r"/>
          <a:endParaRPr lang="en-US"/>
        </a:p>
      </dgm:t>
    </dgm:pt>
    <dgm:pt modelId="{CA84C926-1AA5-41BF-9460-A4520C3755FD}">
      <dgm:prSet/>
      <dgm:spPr/>
      <dgm:t>
        <a:bodyPr/>
        <a:lstStyle/>
        <a:p>
          <a:pPr algn="r"/>
          <a:r>
            <a:rPr lang="en-US" dirty="0"/>
            <a:t>Coalitions and Alliances </a:t>
          </a:r>
        </a:p>
      </dgm:t>
    </dgm:pt>
    <dgm:pt modelId="{A846C8CD-2F5D-4D76-B4C7-027B36325EA7}" type="parTrans" cxnId="{73FCEA28-7988-4223-BB96-71A94418F1F6}">
      <dgm:prSet/>
      <dgm:spPr/>
      <dgm:t>
        <a:bodyPr/>
        <a:lstStyle/>
        <a:p>
          <a:pPr algn="r"/>
          <a:endParaRPr lang="en-US" sz="2800"/>
        </a:p>
      </dgm:t>
    </dgm:pt>
    <dgm:pt modelId="{45369941-E1B3-47FE-B84D-3E32CCD1F17A}" type="sibTrans" cxnId="{73FCEA28-7988-4223-BB96-71A94418F1F6}">
      <dgm:prSet/>
      <dgm:spPr/>
      <dgm:t>
        <a:bodyPr/>
        <a:lstStyle/>
        <a:p>
          <a:pPr algn="r"/>
          <a:endParaRPr lang="en-US"/>
        </a:p>
      </dgm:t>
    </dgm:pt>
    <dgm:pt modelId="{707955DD-9E7A-4A33-838F-5BDF9F5D45F5}">
      <dgm:prSet/>
      <dgm:spPr/>
      <dgm:t>
        <a:bodyPr/>
        <a:lstStyle/>
        <a:p>
          <a:pPr algn="r"/>
          <a:r>
            <a:rPr lang="en-US" dirty="0"/>
            <a:t>Controlling Access to Information</a:t>
          </a:r>
        </a:p>
      </dgm:t>
    </dgm:pt>
    <dgm:pt modelId="{542C0E06-9E41-4577-8BD3-4E1014E6140D}" type="sibTrans" cxnId="{326E0B00-AE9B-42C1-A808-A549DE9024DC}">
      <dgm:prSet/>
      <dgm:spPr/>
      <dgm:t>
        <a:bodyPr/>
        <a:lstStyle/>
        <a:p>
          <a:pPr algn="r"/>
          <a:endParaRPr lang="en-US"/>
        </a:p>
      </dgm:t>
    </dgm:pt>
    <dgm:pt modelId="{3B5073C5-CC56-49B0-85AC-C2AFBA725AD5}" type="parTrans" cxnId="{326E0B00-AE9B-42C1-A808-A549DE9024DC}">
      <dgm:prSet/>
      <dgm:spPr/>
      <dgm:t>
        <a:bodyPr/>
        <a:lstStyle/>
        <a:p>
          <a:pPr algn="r"/>
          <a:endParaRPr lang="en-US" sz="2800"/>
        </a:p>
      </dgm:t>
    </dgm:pt>
    <dgm:pt modelId="{D40AAD3E-2695-47DD-9E1C-80B3F70FC4F9}">
      <dgm:prSet/>
      <dgm:spPr/>
      <dgm:t>
        <a:bodyPr/>
        <a:lstStyle/>
        <a:p>
          <a:pPr algn="r"/>
          <a:r>
            <a:rPr lang="en-US" dirty="0"/>
            <a:t>Controlling the Agenda</a:t>
          </a:r>
        </a:p>
      </dgm:t>
    </dgm:pt>
    <dgm:pt modelId="{5A0376A9-22E0-493E-A8B4-42BFF10C3A9B}" type="parTrans" cxnId="{7B69BC17-1ACC-4D5D-AA80-150251D2B598}">
      <dgm:prSet/>
      <dgm:spPr/>
      <dgm:t>
        <a:bodyPr/>
        <a:lstStyle/>
        <a:p>
          <a:pPr algn="r"/>
          <a:endParaRPr lang="en-US"/>
        </a:p>
      </dgm:t>
    </dgm:pt>
    <dgm:pt modelId="{604897E0-A37E-41B1-902E-1856D2E96600}" type="sibTrans" cxnId="{7B69BC17-1ACC-4D5D-AA80-150251D2B598}">
      <dgm:prSet/>
      <dgm:spPr/>
      <dgm:t>
        <a:bodyPr/>
        <a:lstStyle/>
        <a:p>
          <a:pPr algn="r"/>
          <a:endParaRPr lang="en-US"/>
        </a:p>
      </dgm:t>
    </dgm:pt>
    <dgm:pt modelId="{8C620710-CC28-4097-9A4F-CD91275BF5A8}">
      <dgm:prSet/>
      <dgm:spPr/>
      <dgm:t>
        <a:bodyPr/>
        <a:lstStyle/>
        <a:p>
          <a:pPr algn="r"/>
          <a:r>
            <a:rPr lang="en-US" dirty="0"/>
            <a:t>Bureaucratic Gamesmanship</a:t>
          </a:r>
        </a:p>
      </dgm:t>
    </dgm:pt>
    <dgm:pt modelId="{BE0BC8EE-3209-4F92-9E1E-1ACE075077ED}" type="parTrans" cxnId="{8367EEBC-0738-4983-95BE-E9D712B00A26}">
      <dgm:prSet/>
      <dgm:spPr/>
      <dgm:t>
        <a:bodyPr/>
        <a:lstStyle/>
        <a:p>
          <a:pPr algn="r"/>
          <a:endParaRPr lang="en-US"/>
        </a:p>
      </dgm:t>
    </dgm:pt>
    <dgm:pt modelId="{41F0EA84-AF62-42EC-9B31-E18940036F04}" type="sibTrans" cxnId="{8367EEBC-0738-4983-95BE-E9D712B00A26}">
      <dgm:prSet/>
      <dgm:spPr/>
      <dgm:t>
        <a:bodyPr/>
        <a:lstStyle/>
        <a:p>
          <a:pPr algn="r"/>
          <a:endParaRPr lang="en-US"/>
        </a:p>
      </dgm:t>
    </dgm:pt>
    <dgm:pt modelId="{C2E52F18-BA49-40EB-8961-9E4217E1641D}" type="pres">
      <dgm:prSet presAssocID="{0AC6D738-94BD-49C1-998C-8012D6121EF1}" presName="vert0" presStyleCnt="0">
        <dgm:presLayoutVars>
          <dgm:dir/>
          <dgm:animOne val="branch"/>
          <dgm:animLvl val="lvl"/>
        </dgm:presLayoutVars>
      </dgm:prSet>
      <dgm:spPr/>
    </dgm:pt>
    <dgm:pt modelId="{D5A905DA-B0C1-474D-9EE2-28CBEAD58D45}" type="pres">
      <dgm:prSet presAssocID="{707955DD-9E7A-4A33-838F-5BDF9F5D45F5}" presName="thickLine" presStyleLbl="alignNode1" presStyleIdx="0" presStyleCnt="7"/>
      <dgm:spPr/>
    </dgm:pt>
    <dgm:pt modelId="{2A0C6396-6C65-4F56-B4A1-74C38F1FEB44}" type="pres">
      <dgm:prSet presAssocID="{707955DD-9E7A-4A33-838F-5BDF9F5D45F5}" presName="horz1" presStyleCnt="0"/>
      <dgm:spPr/>
    </dgm:pt>
    <dgm:pt modelId="{801B40ED-FFBC-4CCA-ACD6-2A5011F9D14E}" type="pres">
      <dgm:prSet presAssocID="{707955DD-9E7A-4A33-838F-5BDF9F5D45F5}" presName="tx1" presStyleLbl="revTx" presStyleIdx="0" presStyleCnt="7"/>
      <dgm:spPr/>
    </dgm:pt>
    <dgm:pt modelId="{A9363F6B-9467-4D31-87B2-F5C35EB389D4}" type="pres">
      <dgm:prSet presAssocID="{707955DD-9E7A-4A33-838F-5BDF9F5D45F5}" presName="vert1" presStyleCnt="0"/>
      <dgm:spPr/>
    </dgm:pt>
    <dgm:pt modelId="{FA0578CE-DD0E-40AF-B451-0B7533BE95DE}" type="pres">
      <dgm:prSet presAssocID="{A69772A0-9B72-49A7-8B07-4A1AA4E23B02}" presName="thickLine" presStyleLbl="alignNode1" presStyleIdx="1" presStyleCnt="7"/>
      <dgm:spPr/>
    </dgm:pt>
    <dgm:pt modelId="{541E950F-3536-43A9-929D-3CC9757F8892}" type="pres">
      <dgm:prSet presAssocID="{A69772A0-9B72-49A7-8B07-4A1AA4E23B02}" presName="horz1" presStyleCnt="0"/>
      <dgm:spPr/>
    </dgm:pt>
    <dgm:pt modelId="{4E181C41-7ED5-45E9-9725-FC08027341C0}" type="pres">
      <dgm:prSet presAssocID="{A69772A0-9B72-49A7-8B07-4A1AA4E23B02}" presName="tx1" presStyleLbl="revTx" presStyleIdx="1" presStyleCnt="7"/>
      <dgm:spPr/>
    </dgm:pt>
    <dgm:pt modelId="{4A6152A1-A018-4346-8146-750BD7958046}" type="pres">
      <dgm:prSet presAssocID="{A69772A0-9B72-49A7-8B07-4A1AA4E23B02}" presName="vert1" presStyleCnt="0"/>
      <dgm:spPr/>
    </dgm:pt>
    <dgm:pt modelId="{71E55351-FEAC-437E-9EC2-0F1BFB3C707D}" type="pres">
      <dgm:prSet presAssocID="{B4B95412-53BA-4FD6-B53C-E1EE4D571F15}" presName="thickLine" presStyleLbl="alignNode1" presStyleIdx="2" presStyleCnt="7"/>
      <dgm:spPr/>
    </dgm:pt>
    <dgm:pt modelId="{4D6B567C-0496-4167-8550-6E037DFB761B}" type="pres">
      <dgm:prSet presAssocID="{B4B95412-53BA-4FD6-B53C-E1EE4D571F15}" presName="horz1" presStyleCnt="0"/>
      <dgm:spPr/>
    </dgm:pt>
    <dgm:pt modelId="{44124AFD-1FA6-4E0D-8328-081613D85EB2}" type="pres">
      <dgm:prSet presAssocID="{B4B95412-53BA-4FD6-B53C-E1EE4D571F15}" presName="tx1" presStyleLbl="revTx" presStyleIdx="2" presStyleCnt="7"/>
      <dgm:spPr/>
    </dgm:pt>
    <dgm:pt modelId="{448F2ABF-A1B4-47EA-8C17-2C63BBA4EF79}" type="pres">
      <dgm:prSet presAssocID="{B4B95412-53BA-4FD6-B53C-E1EE4D571F15}" presName="vert1" presStyleCnt="0"/>
      <dgm:spPr/>
    </dgm:pt>
    <dgm:pt modelId="{8AD4E6A1-FF5E-498D-9C89-EEB746E05138}" type="pres">
      <dgm:prSet presAssocID="{D40AAD3E-2695-47DD-9E1C-80B3F70FC4F9}" presName="thickLine" presStyleLbl="alignNode1" presStyleIdx="3" presStyleCnt="7"/>
      <dgm:spPr/>
    </dgm:pt>
    <dgm:pt modelId="{A087E745-9418-4570-937B-83081329F06B}" type="pres">
      <dgm:prSet presAssocID="{D40AAD3E-2695-47DD-9E1C-80B3F70FC4F9}" presName="horz1" presStyleCnt="0"/>
      <dgm:spPr/>
    </dgm:pt>
    <dgm:pt modelId="{0CF1B511-D69F-4EF3-8720-9A8D886C6CEA}" type="pres">
      <dgm:prSet presAssocID="{D40AAD3E-2695-47DD-9E1C-80B3F70FC4F9}" presName="tx1" presStyleLbl="revTx" presStyleIdx="3" presStyleCnt="7"/>
      <dgm:spPr/>
    </dgm:pt>
    <dgm:pt modelId="{63636BA3-2728-4A3F-8BFF-9AF5491B3135}" type="pres">
      <dgm:prSet presAssocID="{D40AAD3E-2695-47DD-9E1C-80B3F70FC4F9}" presName="vert1" presStyleCnt="0"/>
      <dgm:spPr/>
    </dgm:pt>
    <dgm:pt modelId="{96C8702E-E99D-430C-8D00-62F81C31CD6F}" type="pres">
      <dgm:prSet presAssocID="{8C620710-CC28-4097-9A4F-CD91275BF5A8}" presName="thickLine" presStyleLbl="alignNode1" presStyleIdx="4" presStyleCnt="7"/>
      <dgm:spPr/>
    </dgm:pt>
    <dgm:pt modelId="{BED9E151-47F0-4F02-8370-B4DD84EAFAF4}" type="pres">
      <dgm:prSet presAssocID="{8C620710-CC28-4097-9A4F-CD91275BF5A8}" presName="horz1" presStyleCnt="0"/>
      <dgm:spPr/>
    </dgm:pt>
    <dgm:pt modelId="{DCB6B298-4EF3-4B36-A597-66FC34307DBB}" type="pres">
      <dgm:prSet presAssocID="{8C620710-CC28-4097-9A4F-CD91275BF5A8}" presName="tx1" presStyleLbl="revTx" presStyleIdx="4" presStyleCnt="7"/>
      <dgm:spPr/>
    </dgm:pt>
    <dgm:pt modelId="{E34A414A-9EBB-49C3-8544-5157FA4D1ED8}" type="pres">
      <dgm:prSet presAssocID="{8C620710-CC28-4097-9A4F-CD91275BF5A8}" presName="vert1" presStyleCnt="0"/>
      <dgm:spPr/>
    </dgm:pt>
    <dgm:pt modelId="{E2BE7E2B-7DB9-465F-BEB2-359D7F5D5469}" type="pres">
      <dgm:prSet presAssocID="{E72064C2-74B0-49B0-9387-8F9BB6862ECC}" presName="thickLine" presStyleLbl="alignNode1" presStyleIdx="5" presStyleCnt="7"/>
      <dgm:spPr/>
    </dgm:pt>
    <dgm:pt modelId="{B65F9004-EBEB-4556-834D-746045E1AD4C}" type="pres">
      <dgm:prSet presAssocID="{E72064C2-74B0-49B0-9387-8F9BB6862ECC}" presName="horz1" presStyleCnt="0"/>
      <dgm:spPr/>
    </dgm:pt>
    <dgm:pt modelId="{09860E9A-65DE-4177-9C74-9E68FEBE8273}" type="pres">
      <dgm:prSet presAssocID="{E72064C2-74B0-49B0-9387-8F9BB6862ECC}" presName="tx1" presStyleLbl="revTx" presStyleIdx="5" presStyleCnt="7"/>
      <dgm:spPr/>
    </dgm:pt>
    <dgm:pt modelId="{14B88B4D-BB21-45D4-8653-ECE262281756}" type="pres">
      <dgm:prSet presAssocID="{E72064C2-74B0-49B0-9387-8F9BB6862ECC}" presName="vert1" presStyleCnt="0"/>
      <dgm:spPr/>
    </dgm:pt>
    <dgm:pt modelId="{26E6B5C5-E0A1-46BB-91F5-A3ECE9624A15}" type="pres">
      <dgm:prSet presAssocID="{CA84C926-1AA5-41BF-9460-A4520C3755FD}" presName="thickLine" presStyleLbl="alignNode1" presStyleIdx="6" presStyleCnt="7"/>
      <dgm:spPr/>
    </dgm:pt>
    <dgm:pt modelId="{7A1B2008-582A-49CD-82FB-DB4794F3C480}" type="pres">
      <dgm:prSet presAssocID="{CA84C926-1AA5-41BF-9460-A4520C3755FD}" presName="horz1" presStyleCnt="0"/>
      <dgm:spPr/>
    </dgm:pt>
    <dgm:pt modelId="{D11A9DD9-1954-4C8C-B76C-A883EF7E55E0}" type="pres">
      <dgm:prSet presAssocID="{CA84C926-1AA5-41BF-9460-A4520C3755FD}" presName="tx1" presStyleLbl="revTx" presStyleIdx="6" presStyleCnt="7"/>
      <dgm:spPr/>
    </dgm:pt>
    <dgm:pt modelId="{60FD6B09-82AB-4E76-B134-57E402B8AECA}" type="pres">
      <dgm:prSet presAssocID="{CA84C926-1AA5-41BF-9460-A4520C3755FD}" presName="vert1" presStyleCnt="0"/>
      <dgm:spPr/>
    </dgm:pt>
  </dgm:ptLst>
  <dgm:cxnLst>
    <dgm:cxn modelId="{326E0B00-AE9B-42C1-A808-A549DE9024DC}" srcId="{0AC6D738-94BD-49C1-998C-8012D6121EF1}" destId="{707955DD-9E7A-4A33-838F-5BDF9F5D45F5}" srcOrd="0" destOrd="0" parTransId="{3B5073C5-CC56-49B0-85AC-C2AFBA725AD5}" sibTransId="{542C0E06-9E41-4577-8BD3-4E1014E6140D}"/>
    <dgm:cxn modelId="{7B69BC17-1ACC-4D5D-AA80-150251D2B598}" srcId="{0AC6D738-94BD-49C1-998C-8012D6121EF1}" destId="{D40AAD3E-2695-47DD-9E1C-80B3F70FC4F9}" srcOrd="3" destOrd="0" parTransId="{5A0376A9-22E0-493E-A8B4-42BFF10C3A9B}" sibTransId="{604897E0-A37E-41B1-902E-1856D2E96600}"/>
    <dgm:cxn modelId="{A2010724-8DE4-4069-9805-44F15A8208FA}" srcId="{0AC6D738-94BD-49C1-998C-8012D6121EF1}" destId="{A69772A0-9B72-49A7-8B07-4A1AA4E23B02}" srcOrd="1" destOrd="0" parTransId="{EF82590F-A312-47F8-B9F0-4C60C9C5E3D9}" sibTransId="{F1B89324-8006-418C-871E-48F72DC422B1}"/>
    <dgm:cxn modelId="{73FCEA28-7988-4223-BB96-71A94418F1F6}" srcId="{0AC6D738-94BD-49C1-998C-8012D6121EF1}" destId="{CA84C926-1AA5-41BF-9460-A4520C3755FD}" srcOrd="6" destOrd="0" parTransId="{A846C8CD-2F5D-4D76-B4C7-027B36325EA7}" sibTransId="{45369941-E1B3-47FE-B84D-3E32CCD1F17A}"/>
    <dgm:cxn modelId="{01E00F3C-87B3-481A-861F-F6FDC7474330}" type="presOf" srcId="{A69772A0-9B72-49A7-8B07-4A1AA4E23B02}" destId="{4E181C41-7ED5-45E9-9725-FC08027341C0}" srcOrd="0" destOrd="0" presId="urn:microsoft.com/office/officeart/2008/layout/LinedList"/>
    <dgm:cxn modelId="{65F4C53C-0E12-4B13-9863-6C4AFEA4147E}" type="presOf" srcId="{8C620710-CC28-4097-9A4F-CD91275BF5A8}" destId="{DCB6B298-4EF3-4B36-A597-66FC34307DBB}" srcOrd="0" destOrd="0" presId="urn:microsoft.com/office/officeart/2008/layout/LinedList"/>
    <dgm:cxn modelId="{6EDB4E50-3940-4C21-9AC5-6EC48667DC64}" type="presOf" srcId="{0AC6D738-94BD-49C1-998C-8012D6121EF1}" destId="{C2E52F18-BA49-40EB-8961-9E4217E1641D}" srcOrd="0" destOrd="0" presId="urn:microsoft.com/office/officeart/2008/layout/LinedList"/>
    <dgm:cxn modelId="{7C044651-2385-49E4-9F9C-D6D0C52122DE}" type="presOf" srcId="{707955DD-9E7A-4A33-838F-5BDF9F5D45F5}" destId="{801B40ED-FFBC-4CCA-ACD6-2A5011F9D14E}" srcOrd="0" destOrd="0" presId="urn:microsoft.com/office/officeart/2008/layout/LinedList"/>
    <dgm:cxn modelId="{EE0D4652-B42E-4CBB-8625-DE0578F47C20}" srcId="{0AC6D738-94BD-49C1-998C-8012D6121EF1}" destId="{E72064C2-74B0-49B0-9387-8F9BB6862ECC}" srcOrd="5" destOrd="0" parTransId="{B007C334-5062-4F99-8933-93D652842C26}" sibTransId="{51B0E621-0B9E-463C-89E2-6878620F23CB}"/>
    <dgm:cxn modelId="{4B79AE88-9C48-4D2F-A539-A12ADF47376D}" srcId="{0AC6D738-94BD-49C1-998C-8012D6121EF1}" destId="{B4B95412-53BA-4FD6-B53C-E1EE4D571F15}" srcOrd="2" destOrd="0" parTransId="{D1DD7660-792F-4180-8E8C-BE62B1E3A45C}" sibTransId="{3DBCC21A-FCCF-4DB5-B9CC-19F0B79A8C9C}"/>
    <dgm:cxn modelId="{431608A3-DCDE-4705-BD60-B522283190FB}" type="presOf" srcId="{CA84C926-1AA5-41BF-9460-A4520C3755FD}" destId="{D11A9DD9-1954-4C8C-B76C-A883EF7E55E0}" srcOrd="0" destOrd="0" presId="urn:microsoft.com/office/officeart/2008/layout/LinedList"/>
    <dgm:cxn modelId="{77B783B7-F445-4D31-B67D-DF6B7D3D897A}" type="presOf" srcId="{B4B95412-53BA-4FD6-B53C-E1EE4D571F15}" destId="{44124AFD-1FA6-4E0D-8328-081613D85EB2}" srcOrd="0" destOrd="0" presId="urn:microsoft.com/office/officeart/2008/layout/LinedList"/>
    <dgm:cxn modelId="{8367EEBC-0738-4983-95BE-E9D712B00A26}" srcId="{0AC6D738-94BD-49C1-998C-8012D6121EF1}" destId="{8C620710-CC28-4097-9A4F-CD91275BF5A8}" srcOrd="4" destOrd="0" parTransId="{BE0BC8EE-3209-4F92-9E1E-1ACE075077ED}" sibTransId="{41F0EA84-AF62-42EC-9B31-E18940036F04}"/>
    <dgm:cxn modelId="{F1043EC3-B281-41A0-A75B-7A4DA5E231A2}" type="presOf" srcId="{D40AAD3E-2695-47DD-9E1C-80B3F70FC4F9}" destId="{0CF1B511-D69F-4EF3-8720-9A8D886C6CEA}" srcOrd="0" destOrd="0" presId="urn:microsoft.com/office/officeart/2008/layout/LinedList"/>
    <dgm:cxn modelId="{5FD3EEED-5381-4EDE-AA1F-1EF7356DBD8F}" type="presOf" srcId="{E72064C2-74B0-49B0-9387-8F9BB6862ECC}" destId="{09860E9A-65DE-4177-9C74-9E68FEBE8273}" srcOrd="0" destOrd="0" presId="urn:microsoft.com/office/officeart/2008/layout/LinedList"/>
    <dgm:cxn modelId="{0A453418-AFE1-470C-8592-C908DF5FF69C}" type="presParOf" srcId="{C2E52F18-BA49-40EB-8961-9E4217E1641D}" destId="{D5A905DA-B0C1-474D-9EE2-28CBEAD58D45}" srcOrd="0" destOrd="0" presId="urn:microsoft.com/office/officeart/2008/layout/LinedList"/>
    <dgm:cxn modelId="{731D594D-E727-43C9-810F-B53D5DB38CC6}" type="presParOf" srcId="{C2E52F18-BA49-40EB-8961-9E4217E1641D}" destId="{2A0C6396-6C65-4F56-B4A1-74C38F1FEB44}" srcOrd="1" destOrd="0" presId="urn:microsoft.com/office/officeart/2008/layout/LinedList"/>
    <dgm:cxn modelId="{A11625E9-1A08-4186-A29D-D8995DF0D639}" type="presParOf" srcId="{2A0C6396-6C65-4F56-B4A1-74C38F1FEB44}" destId="{801B40ED-FFBC-4CCA-ACD6-2A5011F9D14E}" srcOrd="0" destOrd="0" presId="urn:microsoft.com/office/officeart/2008/layout/LinedList"/>
    <dgm:cxn modelId="{431CC101-9DD6-4531-8D38-14C5AA69B5DA}" type="presParOf" srcId="{2A0C6396-6C65-4F56-B4A1-74C38F1FEB44}" destId="{A9363F6B-9467-4D31-87B2-F5C35EB389D4}" srcOrd="1" destOrd="0" presId="urn:microsoft.com/office/officeart/2008/layout/LinedList"/>
    <dgm:cxn modelId="{0E426876-4BA7-4A9A-BEA8-CFD45F3A8CCC}" type="presParOf" srcId="{C2E52F18-BA49-40EB-8961-9E4217E1641D}" destId="{FA0578CE-DD0E-40AF-B451-0B7533BE95DE}" srcOrd="2" destOrd="0" presId="urn:microsoft.com/office/officeart/2008/layout/LinedList"/>
    <dgm:cxn modelId="{77E31A82-07F7-4D8F-B90B-DED1585D44A5}" type="presParOf" srcId="{C2E52F18-BA49-40EB-8961-9E4217E1641D}" destId="{541E950F-3536-43A9-929D-3CC9757F8892}" srcOrd="3" destOrd="0" presId="urn:microsoft.com/office/officeart/2008/layout/LinedList"/>
    <dgm:cxn modelId="{E2219EFD-196F-4DD0-B1DF-30DF6BAD395A}" type="presParOf" srcId="{541E950F-3536-43A9-929D-3CC9757F8892}" destId="{4E181C41-7ED5-45E9-9725-FC08027341C0}" srcOrd="0" destOrd="0" presId="urn:microsoft.com/office/officeart/2008/layout/LinedList"/>
    <dgm:cxn modelId="{5A9BD20A-1DD5-4122-AB24-90B860BAA156}" type="presParOf" srcId="{541E950F-3536-43A9-929D-3CC9757F8892}" destId="{4A6152A1-A018-4346-8146-750BD7958046}" srcOrd="1" destOrd="0" presId="urn:microsoft.com/office/officeart/2008/layout/LinedList"/>
    <dgm:cxn modelId="{33DBF17A-2461-4FAD-ABB5-EB623201614D}" type="presParOf" srcId="{C2E52F18-BA49-40EB-8961-9E4217E1641D}" destId="{71E55351-FEAC-437E-9EC2-0F1BFB3C707D}" srcOrd="4" destOrd="0" presId="urn:microsoft.com/office/officeart/2008/layout/LinedList"/>
    <dgm:cxn modelId="{20380BBC-943F-4A1F-95AA-F65152FEF4AB}" type="presParOf" srcId="{C2E52F18-BA49-40EB-8961-9E4217E1641D}" destId="{4D6B567C-0496-4167-8550-6E037DFB761B}" srcOrd="5" destOrd="0" presId="urn:microsoft.com/office/officeart/2008/layout/LinedList"/>
    <dgm:cxn modelId="{7CEAAA34-B7EF-4CB7-82D5-6462AE384056}" type="presParOf" srcId="{4D6B567C-0496-4167-8550-6E037DFB761B}" destId="{44124AFD-1FA6-4E0D-8328-081613D85EB2}" srcOrd="0" destOrd="0" presId="urn:microsoft.com/office/officeart/2008/layout/LinedList"/>
    <dgm:cxn modelId="{3BF9D4E9-624B-4920-BA37-2B632ACC9B69}" type="presParOf" srcId="{4D6B567C-0496-4167-8550-6E037DFB761B}" destId="{448F2ABF-A1B4-47EA-8C17-2C63BBA4EF79}" srcOrd="1" destOrd="0" presId="urn:microsoft.com/office/officeart/2008/layout/LinedList"/>
    <dgm:cxn modelId="{8574DE08-8D7F-44E3-9E2E-BA96A31BAAF4}" type="presParOf" srcId="{C2E52F18-BA49-40EB-8961-9E4217E1641D}" destId="{8AD4E6A1-FF5E-498D-9C89-EEB746E05138}" srcOrd="6" destOrd="0" presId="urn:microsoft.com/office/officeart/2008/layout/LinedList"/>
    <dgm:cxn modelId="{247DC807-6943-405E-AFB6-68DB05CAE88A}" type="presParOf" srcId="{C2E52F18-BA49-40EB-8961-9E4217E1641D}" destId="{A087E745-9418-4570-937B-83081329F06B}" srcOrd="7" destOrd="0" presId="urn:microsoft.com/office/officeart/2008/layout/LinedList"/>
    <dgm:cxn modelId="{4AB1A465-443F-4DE2-9C57-F00DD6A3F06D}" type="presParOf" srcId="{A087E745-9418-4570-937B-83081329F06B}" destId="{0CF1B511-D69F-4EF3-8720-9A8D886C6CEA}" srcOrd="0" destOrd="0" presId="urn:microsoft.com/office/officeart/2008/layout/LinedList"/>
    <dgm:cxn modelId="{AE46C992-91B2-40F0-BB02-B65B38ECFDA1}" type="presParOf" srcId="{A087E745-9418-4570-937B-83081329F06B}" destId="{63636BA3-2728-4A3F-8BFF-9AF5491B3135}" srcOrd="1" destOrd="0" presId="urn:microsoft.com/office/officeart/2008/layout/LinedList"/>
    <dgm:cxn modelId="{54805662-8D1F-40E0-92E7-92CF52D8DB00}" type="presParOf" srcId="{C2E52F18-BA49-40EB-8961-9E4217E1641D}" destId="{96C8702E-E99D-430C-8D00-62F81C31CD6F}" srcOrd="8" destOrd="0" presId="urn:microsoft.com/office/officeart/2008/layout/LinedList"/>
    <dgm:cxn modelId="{89DFAC21-2BA7-4D04-AD34-7DB272BD0BCB}" type="presParOf" srcId="{C2E52F18-BA49-40EB-8961-9E4217E1641D}" destId="{BED9E151-47F0-4F02-8370-B4DD84EAFAF4}" srcOrd="9" destOrd="0" presId="urn:microsoft.com/office/officeart/2008/layout/LinedList"/>
    <dgm:cxn modelId="{04E75294-2639-40C6-B333-5DAE7306128C}" type="presParOf" srcId="{BED9E151-47F0-4F02-8370-B4DD84EAFAF4}" destId="{DCB6B298-4EF3-4B36-A597-66FC34307DBB}" srcOrd="0" destOrd="0" presId="urn:microsoft.com/office/officeart/2008/layout/LinedList"/>
    <dgm:cxn modelId="{D0C44BBC-A27E-40C2-AA65-C54EC55181BE}" type="presParOf" srcId="{BED9E151-47F0-4F02-8370-B4DD84EAFAF4}" destId="{E34A414A-9EBB-49C3-8544-5157FA4D1ED8}" srcOrd="1" destOrd="0" presId="urn:microsoft.com/office/officeart/2008/layout/LinedList"/>
    <dgm:cxn modelId="{B885B6B3-E5B7-4DC0-AC70-2BE6173DF28A}" type="presParOf" srcId="{C2E52F18-BA49-40EB-8961-9E4217E1641D}" destId="{E2BE7E2B-7DB9-465F-BEB2-359D7F5D5469}" srcOrd="10" destOrd="0" presId="urn:microsoft.com/office/officeart/2008/layout/LinedList"/>
    <dgm:cxn modelId="{5637E812-009B-4919-BACE-5E2628A6FD01}" type="presParOf" srcId="{C2E52F18-BA49-40EB-8961-9E4217E1641D}" destId="{B65F9004-EBEB-4556-834D-746045E1AD4C}" srcOrd="11" destOrd="0" presId="urn:microsoft.com/office/officeart/2008/layout/LinedList"/>
    <dgm:cxn modelId="{E60B15F9-7920-48DE-AAE1-670EFD9866C7}" type="presParOf" srcId="{B65F9004-EBEB-4556-834D-746045E1AD4C}" destId="{09860E9A-65DE-4177-9C74-9E68FEBE8273}" srcOrd="0" destOrd="0" presId="urn:microsoft.com/office/officeart/2008/layout/LinedList"/>
    <dgm:cxn modelId="{26923B4E-D931-4AE0-9E9C-CAD025B7EC9F}" type="presParOf" srcId="{B65F9004-EBEB-4556-834D-746045E1AD4C}" destId="{14B88B4D-BB21-45D4-8653-ECE262281756}" srcOrd="1" destOrd="0" presId="urn:microsoft.com/office/officeart/2008/layout/LinedList"/>
    <dgm:cxn modelId="{EBB6B8E6-5D69-4033-8BF5-0A914DA4F1C8}" type="presParOf" srcId="{C2E52F18-BA49-40EB-8961-9E4217E1641D}" destId="{26E6B5C5-E0A1-46BB-91F5-A3ECE9624A15}" srcOrd="12" destOrd="0" presId="urn:microsoft.com/office/officeart/2008/layout/LinedList"/>
    <dgm:cxn modelId="{059973A4-9016-4204-988F-DFFAC52572F5}" type="presParOf" srcId="{C2E52F18-BA49-40EB-8961-9E4217E1641D}" destId="{7A1B2008-582A-49CD-82FB-DB4794F3C480}" srcOrd="13" destOrd="0" presId="urn:microsoft.com/office/officeart/2008/layout/LinedList"/>
    <dgm:cxn modelId="{78EBB096-8F5B-4D34-9612-C2E6117E57F7}" type="presParOf" srcId="{7A1B2008-582A-49CD-82FB-DB4794F3C480}" destId="{D11A9DD9-1954-4C8C-B76C-A883EF7E55E0}" srcOrd="0" destOrd="0" presId="urn:microsoft.com/office/officeart/2008/layout/LinedList"/>
    <dgm:cxn modelId="{F50CD60B-FEAF-499D-A1CD-B776FAA31449}" type="presParOf" srcId="{7A1B2008-582A-49CD-82FB-DB4794F3C480}" destId="{60FD6B09-82AB-4E76-B134-57E402B8AEC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905DA-B0C1-474D-9EE2-28CBEAD58D45}">
      <dsp:nvSpPr>
        <dsp:cNvPr id="0" name=""/>
        <dsp:cNvSpPr/>
      </dsp:nvSpPr>
      <dsp:spPr>
        <a:xfrm>
          <a:off x="0" y="531"/>
          <a:ext cx="544685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1B40ED-FFBC-4CCA-ACD6-2A5011F9D14E}">
      <dsp:nvSpPr>
        <dsp:cNvPr id="0" name=""/>
        <dsp:cNvSpPr/>
      </dsp:nvSpPr>
      <dsp:spPr>
        <a:xfrm>
          <a:off x="0" y="531"/>
          <a:ext cx="5446853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Controlling Access to Information</a:t>
          </a:r>
        </a:p>
      </dsp:txBody>
      <dsp:txXfrm>
        <a:off x="0" y="531"/>
        <a:ext cx="5446853" cy="621467"/>
      </dsp:txXfrm>
    </dsp:sp>
    <dsp:sp modelId="{FA0578CE-DD0E-40AF-B451-0B7533BE95DE}">
      <dsp:nvSpPr>
        <dsp:cNvPr id="0" name=""/>
        <dsp:cNvSpPr/>
      </dsp:nvSpPr>
      <dsp:spPr>
        <a:xfrm>
          <a:off x="0" y="621999"/>
          <a:ext cx="5446853" cy="0"/>
        </a:xfrm>
        <a:prstGeom prst="line">
          <a:avLst/>
        </a:prstGeom>
        <a:gradFill rotWithShape="0">
          <a:gsLst>
            <a:gs pos="0">
              <a:schemeClr val="accent2">
                <a:hueOff val="-242561"/>
                <a:satOff val="-13988"/>
                <a:lumOff val="14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42561"/>
                <a:satOff val="-13988"/>
                <a:lumOff val="14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42561"/>
                <a:satOff val="-13988"/>
                <a:lumOff val="14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242561"/>
              <a:satOff val="-13988"/>
              <a:lumOff val="14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181C41-7ED5-45E9-9725-FC08027341C0}">
      <dsp:nvSpPr>
        <dsp:cNvPr id="0" name=""/>
        <dsp:cNvSpPr/>
      </dsp:nvSpPr>
      <dsp:spPr>
        <a:xfrm>
          <a:off x="0" y="621999"/>
          <a:ext cx="5446853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Controlling Access to Person</a:t>
          </a:r>
        </a:p>
      </dsp:txBody>
      <dsp:txXfrm>
        <a:off x="0" y="621999"/>
        <a:ext cx="5446853" cy="621467"/>
      </dsp:txXfrm>
    </dsp:sp>
    <dsp:sp modelId="{71E55351-FEAC-437E-9EC2-0F1BFB3C707D}">
      <dsp:nvSpPr>
        <dsp:cNvPr id="0" name=""/>
        <dsp:cNvSpPr/>
      </dsp:nvSpPr>
      <dsp:spPr>
        <a:xfrm>
          <a:off x="0" y="1243467"/>
          <a:ext cx="5446853" cy="0"/>
        </a:xfrm>
        <a:prstGeom prst="line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124AFD-1FA6-4E0D-8328-081613D85EB2}">
      <dsp:nvSpPr>
        <dsp:cNvPr id="0" name=""/>
        <dsp:cNvSpPr/>
      </dsp:nvSpPr>
      <dsp:spPr>
        <a:xfrm>
          <a:off x="0" y="1243467"/>
          <a:ext cx="5446853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Selective Use of Objective Criteria</a:t>
          </a:r>
        </a:p>
      </dsp:txBody>
      <dsp:txXfrm>
        <a:off x="0" y="1243467"/>
        <a:ext cx="5446853" cy="621467"/>
      </dsp:txXfrm>
    </dsp:sp>
    <dsp:sp modelId="{8AD4E6A1-FF5E-498D-9C89-EEB746E05138}">
      <dsp:nvSpPr>
        <dsp:cNvPr id="0" name=""/>
        <dsp:cNvSpPr/>
      </dsp:nvSpPr>
      <dsp:spPr>
        <a:xfrm>
          <a:off x="0" y="1864935"/>
          <a:ext cx="5446853" cy="0"/>
        </a:xfrm>
        <a:prstGeom prst="line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F1B511-D69F-4EF3-8720-9A8D886C6CEA}">
      <dsp:nvSpPr>
        <dsp:cNvPr id="0" name=""/>
        <dsp:cNvSpPr/>
      </dsp:nvSpPr>
      <dsp:spPr>
        <a:xfrm>
          <a:off x="0" y="1864935"/>
          <a:ext cx="5446853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Controlling the Agenda</a:t>
          </a:r>
        </a:p>
      </dsp:txBody>
      <dsp:txXfrm>
        <a:off x="0" y="1864935"/>
        <a:ext cx="5446853" cy="621467"/>
      </dsp:txXfrm>
    </dsp:sp>
    <dsp:sp modelId="{96C8702E-E99D-430C-8D00-62F81C31CD6F}">
      <dsp:nvSpPr>
        <dsp:cNvPr id="0" name=""/>
        <dsp:cNvSpPr/>
      </dsp:nvSpPr>
      <dsp:spPr>
        <a:xfrm>
          <a:off x="0" y="2486402"/>
          <a:ext cx="5446853" cy="0"/>
        </a:xfrm>
        <a:prstGeom prst="line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B6B298-4EF3-4B36-A597-66FC34307DBB}">
      <dsp:nvSpPr>
        <dsp:cNvPr id="0" name=""/>
        <dsp:cNvSpPr/>
      </dsp:nvSpPr>
      <dsp:spPr>
        <a:xfrm>
          <a:off x="0" y="2486402"/>
          <a:ext cx="5446853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Bureaucratic Gamesmanship</a:t>
          </a:r>
        </a:p>
      </dsp:txBody>
      <dsp:txXfrm>
        <a:off x="0" y="2486402"/>
        <a:ext cx="5446853" cy="621467"/>
      </dsp:txXfrm>
    </dsp:sp>
    <dsp:sp modelId="{E2BE7E2B-7DB9-465F-BEB2-359D7F5D5469}">
      <dsp:nvSpPr>
        <dsp:cNvPr id="0" name=""/>
        <dsp:cNvSpPr/>
      </dsp:nvSpPr>
      <dsp:spPr>
        <a:xfrm>
          <a:off x="0" y="3107870"/>
          <a:ext cx="5446853" cy="0"/>
        </a:xfrm>
        <a:prstGeom prst="line">
          <a:avLst/>
        </a:prstGeom>
        <a:gradFill rotWithShape="0">
          <a:gsLst>
            <a:gs pos="0">
              <a:schemeClr val="accent2">
                <a:hueOff val="-1212803"/>
                <a:satOff val="-69940"/>
                <a:lumOff val="71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12803"/>
                <a:satOff val="-69940"/>
                <a:lumOff val="71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12803"/>
                <a:satOff val="-69940"/>
                <a:lumOff val="71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212803"/>
              <a:satOff val="-69940"/>
              <a:lumOff val="71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860E9A-65DE-4177-9C74-9E68FEBE8273}">
      <dsp:nvSpPr>
        <dsp:cNvPr id="0" name=""/>
        <dsp:cNvSpPr/>
      </dsp:nvSpPr>
      <dsp:spPr>
        <a:xfrm>
          <a:off x="0" y="3107870"/>
          <a:ext cx="5446853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Using Outside Experts </a:t>
          </a:r>
        </a:p>
      </dsp:txBody>
      <dsp:txXfrm>
        <a:off x="0" y="3107870"/>
        <a:ext cx="5446853" cy="621467"/>
      </dsp:txXfrm>
    </dsp:sp>
    <dsp:sp modelId="{26E6B5C5-E0A1-46BB-91F5-A3ECE9624A15}">
      <dsp:nvSpPr>
        <dsp:cNvPr id="0" name=""/>
        <dsp:cNvSpPr/>
      </dsp:nvSpPr>
      <dsp:spPr>
        <a:xfrm>
          <a:off x="0" y="3729338"/>
          <a:ext cx="5446853" cy="0"/>
        </a:xfrm>
        <a:prstGeom prst="line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1A9DD9-1954-4C8C-B76C-A883EF7E55E0}">
      <dsp:nvSpPr>
        <dsp:cNvPr id="0" name=""/>
        <dsp:cNvSpPr/>
      </dsp:nvSpPr>
      <dsp:spPr>
        <a:xfrm>
          <a:off x="0" y="3729338"/>
          <a:ext cx="5446853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Coalitions and Alliances </a:t>
          </a:r>
        </a:p>
      </dsp:txBody>
      <dsp:txXfrm>
        <a:off x="0" y="3729338"/>
        <a:ext cx="5446853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1925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8135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672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8828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7760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462DC5-8830-40C3-9FBE-6A6DF30D25B4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670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462DC5-8830-40C3-9FBE-6A6DF30D25B4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420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7169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6501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285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075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99991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69c430548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e69c43054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54769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69966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40520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10268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2740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7890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82016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36613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b2696bf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b2696bf1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e7b2696bf1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8116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BDE7-E1A7-43E6-AD96-06A13D4F2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8E86B-4ABC-4589-BDE3-B2E8CB56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45E1-ED4C-42B5-8179-60F25743A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5A116-A57B-40A8-93C6-34EB925E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DB312-7C8C-4C2D-BB6C-306E1AE8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1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6E28-582A-428E-8D9E-98B5554C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22C1-5F26-4CAD-BF47-637B00514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AE761-E50A-4833-9A78-D9B819E9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FE877-25C6-4A14-9CE6-EB131F12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7A789-AC6F-4AB1-8B2D-5B9D0C24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6397-F30D-40EB-8D40-BE7839288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53E4E-5D17-42C8-ACB7-DE0C51001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51B62-F894-47F4-908A-C3528924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7D270-BEB7-4943-B08A-F0FFE439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1F0BA-F7E3-47D7-A76C-219895AC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1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52E2-F7C8-4DE5-A1E6-D425A054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2FF22-8E90-4D6D-BAB4-A87E7DBB0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78A12-51E5-454F-8641-5AC8A961A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B3079-8284-4E83-ACE7-7107A453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135F4-51A6-49CB-9D2D-25E96060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57082-8E01-404F-9DBC-95B440EB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5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B0D1-2F7C-4678-A72F-94154E72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85440-E1F8-4791-827C-043D1F799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9BDD9-1444-41ED-A10F-980175AC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BD767-62FC-42C8-B040-D1F29ED94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D73FE-7E3B-4CF7-B32B-1CF92A96B6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F334A-12B3-40A3-A709-308850E2F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38909-FB90-43BB-BD8B-20FEEE51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311A0F-7549-4E1A-8780-A038C6DC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34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9DF4-1DE4-441A-81A0-8D6F2087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A39D8-117F-4D77-B1C5-50443529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D9399-8723-4E55-A1C8-77592C05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23837-DB64-47BE-872B-81D10D1C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1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CB0A1-F151-416A-B881-555AA5A5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7D9BA-3EFE-4A97-8525-D16BF7D2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D1627-935E-4191-BAAC-869B437D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6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86E9-EEA9-4448-8ECF-6B75E984D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CBE0A-7457-4F31-8D13-1FF447E03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8FA15-6590-4CA5-969F-A2A6C41AB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7FBB2-54CF-47A9-AA3C-D278A027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099C7-07C2-4F09-B170-DCAA5A11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BBBF3-B7E2-4201-B8F5-7925DEF4C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2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D842-ABBF-4463-B087-D08D938B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78D23-17AA-4A4E-9937-D21769097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7A0B4-74C1-4F9D-995E-ABB80A5A7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5C2EF-A4BB-41A9-A2BA-8EE9EA720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48C31-D695-415C-B5D1-231C5FAE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9E32B-213B-4956-A4C2-07D6F62C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775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970C-6BAF-4996-8D82-EBDE8C97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1CD9B-9E93-43C0-97FD-D949F722F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41268-2D63-4CA8-8B4F-A8978608D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456E3-3F9C-427F-B6E6-75C044033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348B5-4C61-4264-B088-685545C7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9910E-3CDE-408E-ADC0-A2049E463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E263D-4852-4396-86B6-7E4F45891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E7F4-92FB-4EDF-9E2A-C4C61574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3F4AD-EF19-4D7E-BA2B-28B272759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5ADCA-9E8B-4570-A57E-76C2118B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27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>
            <a:spLocks noGrp="1"/>
          </p:cNvSpPr>
          <p:nvPr>
            <p:ph type="pic" idx="2"/>
          </p:nvPr>
        </p:nvSpPr>
        <p:spPr>
          <a:xfrm>
            <a:off x="3570644" y="767419"/>
            <a:ext cx="8115230" cy="5330952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1"/>
          </p:nvPr>
        </p:nvSpPr>
        <p:spPr>
          <a:xfrm>
            <a:off x="256032" y="3493008"/>
            <a:ext cx="2834640" cy="2322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ftr" idx="11"/>
          </p:nvPr>
        </p:nvSpPr>
        <p:spPr>
          <a:xfrm>
            <a:off x="3499101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985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5C153-3A07-4292-89DA-1549C0B9E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39987-A53D-48B1-9158-81F54ABC5527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7B202B-3459-4D9C-B169-C2BADBC3AC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C70265-0561-4746-82C2-CFAB5EC7A4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A161453-35CE-4AF5-BB2D-3A4779CBA3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47735453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203F9-7F03-4C67-8E15-36083005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6CF6B-2368-40B3-9508-57A0C4FDE3FF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A1B651-D72E-44F6-A127-FEC452C28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1C0311-2AB1-448A-913A-65D45EE258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6F8ADFA-366D-49D7-9B9D-57FD1A53CE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51674637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255DD-259B-4A87-9DE6-7EC1D86D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E7270-5ABF-4F2D-9D2B-9E26EA73904E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8A7A66-0BA6-4987-BD84-D95A3FF3F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3342B0-28BC-4B7B-B10A-9CAD0AE70F3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33EAE75-1880-457E-966B-E61966BD2B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99144811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E82865F-6715-42F1-90AE-9AFE8976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7D42E-E06B-45EB-A606-2228C5DB2A53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BCE42-55A3-4E8B-BC19-C5CF4C4934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8D851D-66C0-45BF-B3E7-3CA437864D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22A8156-3D72-4226-A223-0A887846BE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17166022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446D5A2-7B45-42C0-831E-BE4D5DA6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73D1D-8CA0-4BFA-825A-8B96F6AD86EA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1FD5C8E-D4D4-4739-996F-48D520E6C7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C1A0E2-1239-4960-BE35-F035C305236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2A0D85-83BD-4A8B-A965-059DF52F94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5350252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993FC2B-1476-431F-9661-E3309D07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3985C-03EA-43DA-898A-110A1C5F2FA2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684A7CE-6F03-4858-820C-B948EA8E95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DD24D9-32DE-41B5-8704-826DF00743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1C60816-A59A-4351-8212-EAB6E0D4D6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90416637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7DA6533-2D5C-4B18-BD8C-E5BA61B3A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B081D-D819-4EFD-91F7-E7A71612B0E9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D058FE-16F9-45D7-8357-222D8D818A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227B0B-E792-4D13-AF94-310D94250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B175A-EB00-4623-BC0B-65EA6CD161A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11822528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B406230-68DD-48E5-9400-2D252335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64D48-DF20-44A2-9175-441A0F55C16D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B7C22-AC0D-470B-966D-0B0716C4AC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1FF7CE-16C1-4DC1-8705-82C78D2A2E2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B30F3B7-CCD7-4CC7-ABB9-09A4E2AB70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59491378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F64AFAF-DD75-424F-9F7C-6C54D93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7251E-5E36-4427-B438-AB0FF9135DCA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CA279-56EA-4852-9B38-7CB491483E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CA4170-9511-461E-8C3F-A6A98B66CBB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D2BCA56-1540-4FEC-ADC9-93E4160616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7329194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58AEA-EE62-4C29-85EC-01A02ECAA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423AE-7DBA-49D5-AC9B-29EDC4AFB185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4CD9B3-07BB-4553-825F-C4C83D1C5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42FB52E-06E4-474D-AC82-72805E27165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DC445AA-90BB-4847-9E01-284369D556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25235582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8CB9-177F-4E4E-B649-71D8831C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3FF09-9AF0-48D7-84F1-5B3B7E63B8A6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01A04F-6748-4514-983D-FD81E37081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46CF754-208C-42FA-A7F7-B3E0D355AA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FA9907C-105F-4CC5-BBFC-6193CB7C86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38421319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5AC16B-993E-4689-9FD0-099390DD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5C045-EFCC-4725-9910-0A9845F06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02CA0-ACB5-4EAD-A7F7-CBC5289C4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4F07B-593D-4AC1-A4E2-C8CD5F0C1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78110-1FED-43BF-9B29-510108CB3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7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D6F9A37-2B4D-4185-B96A-289B7653A4B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7F1501D-9E5A-48B0-BB54-820AB0190D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B433D-1B78-491A-837B-52FAF7B49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1D88CEBA-4F48-4379-83E7-2A9F00DA5D62}" type="datetime1">
              <a:rPr lang="en-US"/>
              <a:pPr>
                <a:defRPr/>
              </a:pPr>
              <a:t>2/17/2023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E2AB-93C0-4F8D-BA5C-7772B6D1D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08CF5776-266D-4A08-B5F8-70837E32626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8EB8F26-C1A6-4385-80DD-073C367D3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x-none"/>
              <a:t>©2010, 2007, 2003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71970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med"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B4D3D850-2041-4B7C-AED9-54DA385B1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04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6" name="Picture 94" descr="Hands holding each other's wrists and interlinked to form a circle">
            <a:extLst>
              <a:ext uri="{FF2B5EF4-FFF2-40B4-BE49-F238E27FC236}">
                <a16:creationId xmlns:a16="http://schemas.microsoft.com/office/drawing/2014/main" id="{F68FBFC0-A68D-4558-B1B1-3DCB8CD3223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479"/>
          <a:stretch/>
        </p:blipFill>
        <p:spPr>
          <a:xfrm>
            <a:off x="-4243" y="10"/>
            <a:ext cx="12196243" cy="6857990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28180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A77100AA-BF68-4139-8224-79EA1F916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274247" y="753374"/>
            <a:ext cx="5353835" cy="5353836"/>
          </a:xfrm>
          <a:custGeom>
            <a:avLst/>
            <a:gdLst>
              <a:gd name="connsiteX0" fmla="*/ 5273742 w 5353835"/>
              <a:gd name="connsiteY0" fmla="*/ 690509 h 5353836"/>
              <a:gd name="connsiteX1" fmla="*/ 5353835 w 5353835"/>
              <a:gd name="connsiteY1" fmla="*/ 770602 h 5353836"/>
              <a:gd name="connsiteX2" fmla="*/ 5353835 w 5353835"/>
              <a:gd name="connsiteY2" fmla="*/ 4854514 h 5353836"/>
              <a:gd name="connsiteX3" fmla="*/ 5273742 w 5353835"/>
              <a:gd name="connsiteY3" fmla="*/ 4934608 h 5353836"/>
              <a:gd name="connsiteX4" fmla="*/ 502667 w 5353835"/>
              <a:gd name="connsiteY4" fmla="*/ 0 h 5353836"/>
              <a:gd name="connsiteX5" fmla="*/ 4583234 w 5353835"/>
              <a:gd name="connsiteY5" fmla="*/ 1 h 5353836"/>
              <a:gd name="connsiteX6" fmla="*/ 4663327 w 5353835"/>
              <a:gd name="connsiteY6" fmla="*/ 80094 h 5353836"/>
              <a:gd name="connsiteX7" fmla="*/ 422574 w 5353835"/>
              <a:gd name="connsiteY7" fmla="*/ 80094 h 5353836"/>
              <a:gd name="connsiteX8" fmla="*/ 0 w 5353835"/>
              <a:gd name="connsiteY8" fmla="*/ 502667 h 5353836"/>
              <a:gd name="connsiteX9" fmla="*/ 80093 w 5353835"/>
              <a:gd name="connsiteY9" fmla="*/ 422574 h 5353836"/>
              <a:gd name="connsiteX10" fmla="*/ 80093 w 5353835"/>
              <a:gd name="connsiteY10" fmla="*/ 5273743 h 5353836"/>
              <a:gd name="connsiteX11" fmla="*/ 4934607 w 5353835"/>
              <a:gd name="connsiteY11" fmla="*/ 5273743 h 5353836"/>
              <a:gd name="connsiteX12" fmla="*/ 4854514 w 5353835"/>
              <a:gd name="connsiteY12" fmla="*/ 5353836 h 5353836"/>
              <a:gd name="connsiteX13" fmla="*/ 0 w 5353835"/>
              <a:gd name="connsiteY13" fmla="*/ 5353836 h 535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6">
                <a:moveTo>
                  <a:pt x="5273742" y="690509"/>
                </a:moveTo>
                <a:lnTo>
                  <a:pt x="5353835" y="770602"/>
                </a:lnTo>
                <a:lnTo>
                  <a:pt x="5353835" y="4854514"/>
                </a:lnTo>
                <a:lnTo>
                  <a:pt x="5273742" y="4934608"/>
                </a:lnTo>
                <a:close/>
                <a:moveTo>
                  <a:pt x="502667" y="0"/>
                </a:moveTo>
                <a:lnTo>
                  <a:pt x="4583234" y="1"/>
                </a:lnTo>
                <a:lnTo>
                  <a:pt x="4663327" y="80094"/>
                </a:lnTo>
                <a:lnTo>
                  <a:pt x="422574" y="80094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5273743"/>
                </a:lnTo>
                <a:lnTo>
                  <a:pt x="4934607" y="5273743"/>
                </a:lnTo>
                <a:lnTo>
                  <a:pt x="4854514" y="5353836"/>
                </a:lnTo>
                <a:lnTo>
                  <a:pt x="0" y="53538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6816589" y="3063020"/>
            <a:ext cx="4248318" cy="966338"/>
          </a:xfrm>
          <a:prstGeom prst="rect">
            <a:avLst/>
          </a:prstGeom>
          <a:noFill/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Arial"/>
              <a:buNone/>
            </a:pPr>
            <a:r>
              <a:rPr lang="en-US" sz="3600" b="1" dirty="0">
                <a:solidFill>
                  <a:srgbClr val="080808"/>
                </a:solidFill>
              </a:rPr>
              <a:t>Group &amp; Team Theory</a:t>
            </a:r>
            <a:endParaRPr lang="en-US" sz="3600" dirty="0">
              <a:solidFill>
                <a:srgbClr val="080808"/>
              </a:solidFill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7719403" y="2509451"/>
            <a:ext cx="2442690" cy="915772"/>
          </a:xfrm>
          <a:prstGeom prst="rect">
            <a:avLst/>
          </a:prstGeom>
          <a:noFill/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SzPts val="2200"/>
              <a:buNone/>
            </a:pPr>
            <a:r>
              <a:rPr lang="en-US" sz="3200" dirty="0">
                <a:solidFill>
                  <a:srgbClr val="080808"/>
                </a:solidFill>
              </a:rPr>
              <a:t>Session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!!BGRectangle">
            <a:extLst>
              <a:ext uri="{FF2B5EF4-FFF2-40B4-BE49-F238E27FC236}">
                <a16:creationId xmlns:a16="http://schemas.microsoft.com/office/drawing/2014/main" id="{44B42A97-2187-442B-BB48-39526296D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17 Inspiring Quotes About the Remarkable Power of Teamwork | Inc.com">
            <a:extLst>
              <a:ext uri="{FF2B5EF4-FFF2-40B4-BE49-F238E27FC236}">
                <a16:creationId xmlns:a16="http://schemas.microsoft.com/office/drawing/2014/main" id="{8485CF3F-8882-70DE-90E7-54273B42D1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72" b="14361"/>
          <a:stretch/>
        </p:blipFill>
        <p:spPr bwMode="auto">
          <a:xfrm>
            <a:off x="20" y="10"/>
            <a:ext cx="12191980" cy="457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!!Rectangle">
            <a:extLst>
              <a:ext uri="{FF2B5EF4-FFF2-40B4-BE49-F238E27FC236}">
                <a16:creationId xmlns:a16="http://schemas.microsoft.com/office/drawing/2014/main" id="{F40CA114-B78B-4E3B-A785-96745276B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12192000" cy="22855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2" name="!!Line">
            <a:extLst>
              <a:ext uri="{FF2B5EF4-FFF2-40B4-BE49-F238E27FC236}">
                <a16:creationId xmlns:a16="http://schemas.microsoft.com/office/drawing/2014/main" id="{1B1D834C-2707-49B0-A3CE-334D83DFF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5048" y="5266944"/>
            <a:ext cx="9144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100;p2">
            <a:extLst>
              <a:ext uri="{FF2B5EF4-FFF2-40B4-BE49-F238E27FC236}">
                <a16:creationId xmlns:a16="http://schemas.microsoft.com/office/drawing/2014/main" id="{688C4EFB-3A51-A1F4-3490-7D04F0F0DE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32198" y="5220478"/>
            <a:ext cx="6979533" cy="98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r">
              <a:spcBef>
                <a:spcPts val="0"/>
              </a:spcBef>
              <a:buSzPct val="100000"/>
              <a:buNone/>
            </a:pPr>
            <a:r>
              <a:rPr lang="en-US" sz="4000" dirty="0">
                <a:latin typeface="+mj-lt"/>
              </a:rPr>
              <a:t>1. Power in Teams and Groups</a:t>
            </a:r>
          </a:p>
        </p:txBody>
      </p:sp>
      <p:sp>
        <p:nvSpPr>
          <p:cNvPr id="11" name="Google Shape;92;p1">
            <a:extLst>
              <a:ext uri="{FF2B5EF4-FFF2-40B4-BE49-F238E27FC236}">
                <a16:creationId xmlns:a16="http://schemas.microsoft.com/office/drawing/2014/main" id="{61B8BD98-30B8-B010-E406-170FB0D09873}"/>
              </a:ext>
            </a:extLst>
          </p:cNvPr>
          <p:cNvSpPr txBox="1">
            <a:spLocks/>
          </p:cNvSpPr>
          <p:nvPr/>
        </p:nvSpPr>
        <p:spPr>
          <a:xfrm>
            <a:off x="1469186" y="3429000"/>
            <a:ext cx="6349091" cy="101418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FFFF"/>
              </a:buClr>
              <a:buSzPts val="5900"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Group &amp; Team Theory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4965430" y="729112"/>
            <a:ext cx="6586491" cy="1286160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dirty="0"/>
              <a:t>Learning Objectives</a:t>
            </a:r>
          </a:p>
        </p:txBody>
      </p:sp>
      <p:sp>
        <p:nvSpPr>
          <p:cNvPr id="107" name="Google Shape;107;p3"/>
          <p:cNvSpPr txBox="1">
            <a:spLocks noGrp="1"/>
          </p:cNvSpPr>
          <p:nvPr>
            <p:ph idx="1"/>
          </p:nvPr>
        </p:nvSpPr>
        <p:spPr>
          <a:xfrm>
            <a:off x="4965432" y="2332467"/>
            <a:ext cx="7226548" cy="4339992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>
              <a:spcBef>
                <a:spcPts val="0"/>
              </a:spcBef>
              <a:buSzPts val="2000"/>
            </a:pPr>
            <a:r>
              <a:rPr lang="en-US" dirty="0"/>
              <a:t>Explain different conceptualizations of power</a:t>
            </a:r>
          </a:p>
          <a:p>
            <a:pPr>
              <a:spcBef>
                <a:spcPts val="1200"/>
              </a:spcBef>
              <a:buSzPts val="2000"/>
            </a:pPr>
            <a:r>
              <a:rPr lang="en-US" dirty="0"/>
              <a:t>Discuss behaviors associated with high status in a group </a:t>
            </a:r>
          </a:p>
          <a:p>
            <a:pPr>
              <a:spcBef>
                <a:spcPts val="1200"/>
              </a:spcBef>
              <a:buSzPts val="2000"/>
            </a:pPr>
            <a:r>
              <a:rPr lang="en-US" dirty="0"/>
              <a:t>Differentiate between the common power bases in groups </a:t>
            </a:r>
          </a:p>
          <a:p>
            <a:pPr>
              <a:spcBef>
                <a:spcPts val="1200"/>
              </a:spcBef>
              <a:buSzPts val="2000"/>
            </a:pPr>
            <a:r>
              <a:rPr lang="en-US" dirty="0"/>
              <a:t>What is the nature of leadership and the leadership process</a:t>
            </a:r>
          </a:p>
        </p:txBody>
      </p:sp>
      <p:pic>
        <p:nvPicPr>
          <p:cNvPr id="115" name="Picture 108" descr="Colourful carved figures of humans">
            <a:extLst>
              <a:ext uri="{FF2B5EF4-FFF2-40B4-BE49-F238E27FC236}">
                <a16:creationId xmlns:a16="http://schemas.microsoft.com/office/drawing/2014/main" id="{3BFD70CF-D0FE-490C-B56E-BA064A6F2C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16" name="Straight Connector 112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39C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4965430" y="729112"/>
            <a:ext cx="6586491" cy="1286160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dirty="0"/>
              <a:t>Learning Objectives</a:t>
            </a:r>
          </a:p>
        </p:txBody>
      </p:sp>
      <p:sp>
        <p:nvSpPr>
          <p:cNvPr id="107" name="Google Shape;107;p3"/>
          <p:cNvSpPr txBox="1">
            <a:spLocks noGrp="1"/>
          </p:cNvSpPr>
          <p:nvPr>
            <p:ph idx="1"/>
          </p:nvPr>
        </p:nvSpPr>
        <p:spPr>
          <a:xfrm>
            <a:off x="4965431" y="2314808"/>
            <a:ext cx="6309361" cy="4339992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>
              <a:spcBef>
                <a:spcPts val="1200"/>
              </a:spcBef>
              <a:buSzPts val="2000"/>
            </a:pPr>
            <a:r>
              <a:rPr lang="en-US" dirty="0"/>
              <a:t>How do leaders influence and move their followers to action? </a:t>
            </a:r>
          </a:p>
          <a:p>
            <a:pPr>
              <a:spcBef>
                <a:spcPts val="1200"/>
              </a:spcBef>
              <a:buSzPts val="2000"/>
            </a:pPr>
            <a:r>
              <a:rPr lang="en-US" dirty="0"/>
              <a:t>What are the trait perspectives on leadership? </a:t>
            </a:r>
          </a:p>
          <a:p>
            <a:pPr>
              <a:spcBef>
                <a:spcPts val="1200"/>
              </a:spcBef>
              <a:buSzPts val="2000"/>
            </a:pPr>
            <a:r>
              <a:rPr lang="en-US" dirty="0"/>
              <a:t>How do different approaches and styles of leadership impact what is needed now?</a:t>
            </a:r>
          </a:p>
        </p:txBody>
      </p:sp>
      <p:pic>
        <p:nvPicPr>
          <p:cNvPr id="115" name="Picture 108" descr="Colourful carved figures of humans">
            <a:extLst>
              <a:ext uri="{FF2B5EF4-FFF2-40B4-BE49-F238E27FC236}">
                <a16:creationId xmlns:a16="http://schemas.microsoft.com/office/drawing/2014/main" id="{3BFD70CF-D0FE-490C-B56E-BA064A6F2C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16" name="Straight Connector 112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39C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03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114" descr="One in a crowd">
            <a:extLst>
              <a:ext uri="{FF2B5EF4-FFF2-40B4-BE49-F238E27FC236}">
                <a16:creationId xmlns:a16="http://schemas.microsoft.com/office/drawing/2014/main" id="{6A6D13C3-DF7B-4DF3-812B-91C1A987598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1" name="Rectangle 1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595959"/>
              </a:buClr>
              <a:buSzPts val="5900"/>
            </a:pPr>
            <a:r>
              <a:rPr lang="en-US" sz="4800"/>
              <a:t>Power in Teams and Groups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3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3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3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3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reeform: Shape 14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Defining Power</a:t>
            </a:r>
            <a:br>
              <a:rPr lang="en-US" sz="4800">
                <a:solidFill>
                  <a:srgbClr val="FFFFFF"/>
                </a:solidFill>
              </a:rPr>
            </a:b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7" name="Google Shape;129;p5">
            <a:extLst>
              <a:ext uri="{FF2B5EF4-FFF2-40B4-BE49-F238E27FC236}">
                <a16:creationId xmlns:a16="http://schemas.microsoft.com/office/drawing/2014/main" id="{817C8E2B-E764-4556-BDB5-7B5C6F420EC7}"/>
              </a:ext>
            </a:extLst>
          </p:cNvPr>
          <p:cNvSpPr txBox="1"/>
          <p:nvPr/>
        </p:nvSpPr>
        <p:spPr>
          <a:xfrm>
            <a:off x="598331" y="4049819"/>
            <a:ext cx="292587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6">
                    <a:lumMod val="20000"/>
                    <a:lumOff val="80000"/>
                  </a:schemeClr>
                </a:solidFill>
                <a:sym typeface="Lora"/>
              </a:rPr>
              <a:t>“</a:t>
            </a: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sym typeface="Lora"/>
              </a:rPr>
              <a:t>Power lives in relationships, not in people”</a:t>
            </a:r>
            <a:endParaRPr sz="3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433ABF-634A-E30C-EC10-64D36E8ECBF5}"/>
              </a:ext>
            </a:extLst>
          </p:cNvPr>
          <p:cNvGrpSpPr/>
          <p:nvPr/>
        </p:nvGrpSpPr>
        <p:grpSpPr>
          <a:xfrm>
            <a:off x="4636156" y="2742368"/>
            <a:ext cx="6440840" cy="1253492"/>
            <a:chOff x="4636156" y="2580232"/>
            <a:chExt cx="6440840" cy="1253492"/>
          </a:xfrm>
        </p:grpSpPr>
        <p:sp>
          <p:nvSpPr>
            <p:cNvPr id="24" name="Google Shape;123;p5">
              <a:extLst>
                <a:ext uri="{FF2B5EF4-FFF2-40B4-BE49-F238E27FC236}">
                  <a16:creationId xmlns:a16="http://schemas.microsoft.com/office/drawing/2014/main" id="{97151974-C35F-439D-9B8F-58FB01C29227}"/>
                </a:ext>
              </a:extLst>
            </p:cNvPr>
            <p:cNvSpPr/>
            <p:nvPr/>
          </p:nvSpPr>
          <p:spPr>
            <a:xfrm>
              <a:off x="4636156" y="3090599"/>
              <a:ext cx="6440840" cy="74312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07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4;p5">
              <a:extLst>
                <a:ext uri="{FF2B5EF4-FFF2-40B4-BE49-F238E27FC236}">
                  <a16:creationId xmlns:a16="http://schemas.microsoft.com/office/drawing/2014/main" id="{3FDA7A41-5954-46A6-A99C-9E1C9AEB807E}"/>
                </a:ext>
              </a:extLst>
            </p:cNvPr>
            <p:cNvSpPr/>
            <p:nvPr/>
          </p:nvSpPr>
          <p:spPr>
            <a:xfrm>
              <a:off x="4870222" y="2580232"/>
              <a:ext cx="5192864" cy="1033397"/>
            </a:xfrm>
            <a:prstGeom prst="roundRect">
              <a:avLst>
                <a:gd name="adj" fmla="val 16667"/>
              </a:avLst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1"/>
              <a:r>
                <a:rPr lang="en-US" sz="3600" b="0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Power-from-Within</a:t>
              </a:r>
              <a:endParaRPr lang="en-US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A7437A-F917-DA3C-BFF9-3440D6A6E6C3}"/>
              </a:ext>
            </a:extLst>
          </p:cNvPr>
          <p:cNvGrpSpPr/>
          <p:nvPr/>
        </p:nvGrpSpPr>
        <p:grpSpPr>
          <a:xfrm>
            <a:off x="4636156" y="4474898"/>
            <a:ext cx="6440840" cy="1253492"/>
            <a:chOff x="4636156" y="4353514"/>
            <a:chExt cx="6440840" cy="1253492"/>
          </a:xfrm>
        </p:grpSpPr>
        <p:sp>
          <p:nvSpPr>
            <p:cNvPr id="47" name="Google Shape;123;p5">
              <a:extLst>
                <a:ext uri="{FF2B5EF4-FFF2-40B4-BE49-F238E27FC236}">
                  <a16:creationId xmlns:a16="http://schemas.microsoft.com/office/drawing/2014/main" id="{262BE3EA-8455-C4AE-6C4D-2B0DB161D05F}"/>
                </a:ext>
              </a:extLst>
            </p:cNvPr>
            <p:cNvSpPr/>
            <p:nvPr/>
          </p:nvSpPr>
          <p:spPr>
            <a:xfrm>
              <a:off x="4636156" y="4863881"/>
              <a:ext cx="6440840" cy="7431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07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4;p5">
              <a:extLst>
                <a:ext uri="{FF2B5EF4-FFF2-40B4-BE49-F238E27FC236}">
                  <a16:creationId xmlns:a16="http://schemas.microsoft.com/office/drawing/2014/main" id="{39031E5B-1AEE-AB32-08D8-4676BF23BDDB}"/>
                </a:ext>
              </a:extLst>
            </p:cNvPr>
            <p:cNvSpPr/>
            <p:nvPr/>
          </p:nvSpPr>
          <p:spPr>
            <a:xfrm>
              <a:off x="4870222" y="4353514"/>
              <a:ext cx="5192864" cy="1033397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sm" len="sm"/>
              <a:tailEnd type="none" w="sm" len="sm"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1"/>
              <a:r>
                <a:rPr lang="en-US" sz="3600" b="0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Power-With</a:t>
              </a:r>
              <a:endParaRPr lang="en-US" sz="3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176DAEB-6335-0D37-865E-BFFAAFAFEDA5}"/>
              </a:ext>
            </a:extLst>
          </p:cNvPr>
          <p:cNvGrpSpPr/>
          <p:nvPr/>
        </p:nvGrpSpPr>
        <p:grpSpPr>
          <a:xfrm>
            <a:off x="4636156" y="1009838"/>
            <a:ext cx="6440840" cy="1253492"/>
            <a:chOff x="4636156" y="868135"/>
            <a:chExt cx="6440840" cy="1253492"/>
          </a:xfrm>
        </p:grpSpPr>
        <p:sp>
          <p:nvSpPr>
            <p:cNvPr id="50" name="Google Shape;123;p5">
              <a:extLst>
                <a:ext uri="{FF2B5EF4-FFF2-40B4-BE49-F238E27FC236}">
                  <a16:creationId xmlns:a16="http://schemas.microsoft.com/office/drawing/2014/main" id="{90EF3730-B00B-96B0-0DBE-4C79AF0363AD}"/>
                </a:ext>
              </a:extLst>
            </p:cNvPr>
            <p:cNvSpPr/>
            <p:nvPr/>
          </p:nvSpPr>
          <p:spPr>
            <a:xfrm>
              <a:off x="4636156" y="1378502"/>
              <a:ext cx="6440840" cy="74312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07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24;p5">
              <a:extLst>
                <a:ext uri="{FF2B5EF4-FFF2-40B4-BE49-F238E27FC236}">
                  <a16:creationId xmlns:a16="http://schemas.microsoft.com/office/drawing/2014/main" id="{7B1DF5FE-BB3D-6C59-1075-AB0830B3612D}"/>
                </a:ext>
              </a:extLst>
            </p:cNvPr>
            <p:cNvSpPr/>
            <p:nvPr/>
          </p:nvSpPr>
          <p:spPr>
            <a:xfrm>
              <a:off x="4870222" y="868135"/>
              <a:ext cx="5192864" cy="1033397"/>
            </a:xfrm>
            <a:prstGeom prst="roundRect">
              <a:avLst>
                <a:gd name="adj" fmla="val 16667"/>
              </a:avLst>
            </a:prstGeom>
            <a:ln>
              <a:headEnd type="none" w="sm" len="sm"/>
              <a:tailEnd type="none" w="sm" len="sm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1"/>
              <a:r>
                <a:rPr lang="en-US" sz="3600" b="0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Power-Over</a:t>
              </a:r>
              <a:endParaRPr lang="en-US" sz="36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609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3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3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3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3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reeform: Shape 14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Defining Power</a:t>
            </a:r>
            <a:br>
              <a:rPr lang="en-US" sz="4800">
                <a:solidFill>
                  <a:srgbClr val="FFFFFF"/>
                </a:solidFill>
              </a:rPr>
            </a:b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7" name="Google Shape;129;p5">
            <a:extLst>
              <a:ext uri="{FF2B5EF4-FFF2-40B4-BE49-F238E27FC236}">
                <a16:creationId xmlns:a16="http://schemas.microsoft.com/office/drawing/2014/main" id="{817C8E2B-E764-4556-BDB5-7B5C6F420EC7}"/>
              </a:ext>
            </a:extLst>
          </p:cNvPr>
          <p:cNvSpPr txBox="1"/>
          <p:nvPr/>
        </p:nvSpPr>
        <p:spPr>
          <a:xfrm>
            <a:off x="598330" y="4049819"/>
            <a:ext cx="2938149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>
                    <a:lumMod val="20000"/>
                    <a:lumOff val="80000"/>
                  </a:schemeClr>
                </a:solidFill>
                <a:sym typeface="Lora"/>
              </a:rPr>
              <a:t>“Power lives in relationships, not in people”</a:t>
            </a:r>
            <a:endParaRPr sz="320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Google Shape;120;p5">
            <a:extLst>
              <a:ext uri="{FF2B5EF4-FFF2-40B4-BE49-F238E27FC236}">
                <a16:creationId xmlns:a16="http://schemas.microsoft.com/office/drawing/2014/main" id="{A7A04D66-AB8F-4C7E-A48E-2C7586A1E483}"/>
              </a:ext>
            </a:extLst>
          </p:cNvPr>
          <p:cNvSpPr/>
          <p:nvPr/>
        </p:nvSpPr>
        <p:spPr>
          <a:xfrm>
            <a:off x="4499303" y="1452880"/>
            <a:ext cx="6900217" cy="4571999"/>
          </a:xfrm>
          <a:prstGeom prst="rect">
            <a:avLst/>
          </a:prstGeom>
          <a:solidFill>
            <a:schemeClr val="lt1">
              <a:alpha val="89803"/>
            </a:schemeClr>
          </a:solidFill>
          <a:ln w="10775" cap="flat" cmpd="sng">
            <a:solidFill>
              <a:srgbClr val="3EBA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20" tIns="91425" rIns="274320" bIns="91425" anchor="ctr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j-lt"/>
              </a:rPr>
              <a:t>If you associate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+mj-lt"/>
              </a:rPr>
              <a:t>power with control or dominance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j-lt"/>
              </a:rPr>
              <a:t>, this refers to the notion of power as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+mj-lt"/>
              </a:rPr>
              <a:t>power-over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j-lt"/>
              </a:rPr>
              <a:t>According to Starhawk (1987),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+mj-lt"/>
              </a:rPr>
              <a:t>“power-over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+mj-lt"/>
              </a:rPr>
              <a:t>enables one individual or group to make the decisions that affect others, and to enforce control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+mj-lt"/>
              </a:rPr>
              <a:t>”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j-lt"/>
              </a:rPr>
              <a:t> (p. 9). 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000000"/>
              </a:solidFill>
              <a:latin typeface="+mj-lt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</p:txBody>
      </p:sp>
      <p:sp>
        <p:nvSpPr>
          <p:cNvPr id="13" name="Google Shape;124;p5">
            <a:extLst>
              <a:ext uri="{FF2B5EF4-FFF2-40B4-BE49-F238E27FC236}">
                <a16:creationId xmlns:a16="http://schemas.microsoft.com/office/drawing/2014/main" id="{01BA0EAF-7547-583B-6982-DEA374264AC9}"/>
              </a:ext>
            </a:extLst>
          </p:cNvPr>
          <p:cNvSpPr/>
          <p:nvPr/>
        </p:nvSpPr>
        <p:spPr>
          <a:xfrm>
            <a:off x="4870222" y="1009838"/>
            <a:ext cx="5192864" cy="1033397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sz="3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Power-Over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21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3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3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3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3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reeform: Shape 14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Defining Power</a:t>
            </a:r>
            <a:br>
              <a:rPr lang="en-US" sz="4800">
                <a:solidFill>
                  <a:srgbClr val="FFFFFF"/>
                </a:solidFill>
              </a:rPr>
            </a:b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7" name="Google Shape;129;p5">
            <a:extLst>
              <a:ext uri="{FF2B5EF4-FFF2-40B4-BE49-F238E27FC236}">
                <a16:creationId xmlns:a16="http://schemas.microsoft.com/office/drawing/2014/main" id="{817C8E2B-E764-4556-BDB5-7B5C6F420EC7}"/>
              </a:ext>
            </a:extLst>
          </p:cNvPr>
          <p:cNvSpPr txBox="1"/>
          <p:nvPr/>
        </p:nvSpPr>
        <p:spPr>
          <a:xfrm>
            <a:off x="598330" y="4049819"/>
            <a:ext cx="2938149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>
                    <a:lumMod val="20000"/>
                    <a:lumOff val="80000"/>
                  </a:schemeClr>
                </a:solidFill>
                <a:sym typeface="Lora"/>
              </a:rPr>
              <a:t>“Power lives in relationships, not in people”</a:t>
            </a:r>
            <a:endParaRPr sz="320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Google Shape;120;p5">
            <a:extLst>
              <a:ext uri="{FF2B5EF4-FFF2-40B4-BE49-F238E27FC236}">
                <a16:creationId xmlns:a16="http://schemas.microsoft.com/office/drawing/2014/main" id="{A7A04D66-AB8F-4C7E-A48E-2C7586A1E483}"/>
              </a:ext>
            </a:extLst>
          </p:cNvPr>
          <p:cNvSpPr/>
          <p:nvPr/>
        </p:nvSpPr>
        <p:spPr>
          <a:xfrm>
            <a:off x="4499303" y="1343490"/>
            <a:ext cx="7094367" cy="5018314"/>
          </a:xfrm>
          <a:prstGeom prst="rect">
            <a:avLst/>
          </a:prstGeom>
          <a:solidFill>
            <a:schemeClr val="lt1">
              <a:alpha val="89803"/>
            </a:schemeClr>
          </a:solidFill>
          <a:ln w="10775" cap="flat" cmpd="sng">
            <a:solidFill>
              <a:srgbClr val="3EBA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20" tIns="91425" rIns="274320" bIns="91425" anchor="ctr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b="1" i="0" u="none" strike="noStrike" baseline="0" dirty="0">
                <a:solidFill>
                  <a:srgbClr val="000000"/>
                </a:solidFill>
                <a:latin typeface="Calibri (Body)"/>
              </a:rPr>
              <a:t>Power-from-within 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alibri (Body)"/>
              </a:rPr>
              <a:t>refers to a more </a:t>
            </a:r>
            <a:r>
              <a:rPr lang="en-US" sz="2600" b="0" i="0" u="none" strike="noStrike" baseline="0" dirty="0">
                <a:solidFill>
                  <a:schemeClr val="accent1"/>
                </a:solidFill>
                <a:latin typeface="Calibri (Body)"/>
              </a:rPr>
              <a:t>personal sense of strength or agency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alibri (Body)"/>
              </a:rPr>
              <a:t>. Power-from-within manifests </a:t>
            </a:r>
            <a:r>
              <a:rPr lang="en-US" sz="2600" b="0" i="1" u="none" strike="noStrike" baseline="0" dirty="0">
                <a:solidFill>
                  <a:srgbClr val="000000"/>
                </a:solidFill>
                <a:latin typeface="Calibri (Body)"/>
              </a:rPr>
              <a:t>itself when we can stand, walk, and speak “words that convey our needs and thoughts</a:t>
            </a:r>
            <a:r>
              <a:rPr lang="en-US" sz="2600" b="0" i="0" u="none" strike="noStrike" baseline="0" dirty="0">
                <a:solidFill>
                  <a:srgbClr val="000000"/>
                </a:solidFill>
                <a:latin typeface="Calibri (Body)"/>
              </a:rPr>
              <a:t>” (Starhawk, 1987, p. 10).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b="0" i="0" u="none" strike="noStrike" baseline="0" dirty="0">
                <a:solidFill>
                  <a:srgbClr val="000000"/>
                </a:solidFill>
                <a:latin typeface="Calibri (Body)"/>
              </a:rPr>
              <a:t>In groups, this type of power “arises from our sense of connection, our bonding with other human beings, and with the environment” (10). </a:t>
            </a:r>
            <a:endParaRPr sz="2600" dirty="0">
              <a:latin typeface="Calibri (Body)"/>
            </a:endParaRPr>
          </a:p>
        </p:txBody>
      </p:sp>
      <p:sp>
        <p:nvSpPr>
          <p:cNvPr id="13" name="Google Shape;124;p5">
            <a:extLst>
              <a:ext uri="{FF2B5EF4-FFF2-40B4-BE49-F238E27FC236}">
                <a16:creationId xmlns:a16="http://schemas.microsoft.com/office/drawing/2014/main" id="{1E786FB7-FBFF-BAC7-CCF5-738E7B41A1D0}"/>
              </a:ext>
            </a:extLst>
          </p:cNvPr>
          <p:cNvSpPr/>
          <p:nvPr/>
        </p:nvSpPr>
        <p:spPr>
          <a:xfrm>
            <a:off x="4905054" y="706056"/>
            <a:ext cx="5192864" cy="947303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sz="3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Power-from-Within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35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3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3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3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3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reeform: Shape 14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Defining Power</a:t>
            </a:r>
            <a:br>
              <a:rPr lang="en-US" sz="4800">
                <a:solidFill>
                  <a:srgbClr val="FFFFFF"/>
                </a:solidFill>
              </a:rPr>
            </a:b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7" name="Google Shape;129;p5">
            <a:extLst>
              <a:ext uri="{FF2B5EF4-FFF2-40B4-BE49-F238E27FC236}">
                <a16:creationId xmlns:a16="http://schemas.microsoft.com/office/drawing/2014/main" id="{817C8E2B-E764-4556-BDB5-7B5C6F420EC7}"/>
              </a:ext>
            </a:extLst>
          </p:cNvPr>
          <p:cNvSpPr txBox="1"/>
          <p:nvPr/>
        </p:nvSpPr>
        <p:spPr>
          <a:xfrm>
            <a:off x="598330" y="4049819"/>
            <a:ext cx="2938149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>
                    <a:lumMod val="20000"/>
                    <a:lumOff val="80000"/>
                  </a:schemeClr>
                </a:solidFill>
                <a:sym typeface="Lora"/>
              </a:rPr>
              <a:t>“Power lives in relationships, not in people”</a:t>
            </a:r>
            <a:endParaRPr sz="320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Google Shape;120;p5">
            <a:extLst>
              <a:ext uri="{FF2B5EF4-FFF2-40B4-BE49-F238E27FC236}">
                <a16:creationId xmlns:a16="http://schemas.microsoft.com/office/drawing/2014/main" id="{A7A04D66-AB8F-4C7E-A48E-2C7586A1E483}"/>
              </a:ext>
            </a:extLst>
          </p:cNvPr>
          <p:cNvSpPr/>
          <p:nvPr/>
        </p:nvSpPr>
        <p:spPr>
          <a:xfrm>
            <a:off x="4499303" y="1465195"/>
            <a:ext cx="6900217" cy="5018314"/>
          </a:xfrm>
          <a:prstGeom prst="rect">
            <a:avLst/>
          </a:prstGeom>
          <a:solidFill>
            <a:schemeClr val="lt1">
              <a:alpha val="89803"/>
            </a:schemeClr>
          </a:solidFill>
          <a:ln w="10775" cap="flat" cmpd="sng">
            <a:solidFill>
              <a:srgbClr val="3EBA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20" tIns="91425" rIns="274320" bIns="91425" anchor="ctr" anchorCtr="0">
            <a:noAutofit/>
          </a:bodyPr>
          <a:lstStyle/>
          <a:p>
            <a:pPr lvl="0" algn="just">
              <a:spcBef>
                <a:spcPts val="1200"/>
              </a:spcBef>
            </a:pPr>
            <a:r>
              <a:rPr lang="en-US" sz="2400" b="1" dirty="0">
                <a:solidFill>
                  <a:srgbClr val="000000"/>
                </a:solidFill>
                <a:latin typeface="Calibri (Body)"/>
              </a:rPr>
              <a:t>Power-with </a:t>
            </a:r>
            <a:r>
              <a:rPr lang="en-US" sz="2400" dirty="0">
                <a:solidFill>
                  <a:srgbClr val="000000"/>
                </a:solidFill>
                <a:latin typeface="Calibri (Body)"/>
              </a:rPr>
              <a:t>refers to “the </a:t>
            </a:r>
            <a:r>
              <a:rPr lang="en-US" sz="2400" dirty="0">
                <a:solidFill>
                  <a:srgbClr val="FF0000"/>
                </a:solidFill>
                <a:latin typeface="Calibri (Body)"/>
              </a:rPr>
              <a:t>power of a strong individual in a group of equals,</a:t>
            </a:r>
            <a:r>
              <a:rPr lang="en-US" sz="2400" dirty="0">
                <a:solidFill>
                  <a:srgbClr val="000000"/>
                </a:solidFill>
                <a:latin typeface="Calibri (Body)"/>
              </a:rPr>
              <a:t> the power </a:t>
            </a:r>
            <a:r>
              <a:rPr lang="en-US" sz="2400" dirty="0">
                <a:solidFill>
                  <a:srgbClr val="0070C0"/>
                </a:solidFill>
                <a:latin typeface="Calibri (Body)"/>
              </a:rPr>
              <a:t>not to command</a:t>
            </a:r>
            <a:r>
              <a:rPr lang="en-US" sz="2400" dirty="0">
                <a:solidFill>
                  <a:srgbClr val="000000"/>
                </a:solidFill>
                <a:latin typeface="Calibri (Body)"/>
              </a:rPr>
              <a:t>, but to suggest and be listened to, to begin something and see it happen” (Starhawk, 1987, p. 10).</a:t>
            </a:r>
          </a:p>
          <a:p>
            <a:pPr lvl="0" algn="just">
              <a:spcBef>
                <a:spcPts val="1200"/>
              </a:spcBef>
            </a:pPr>
            <a:r>
              <a:rPr lang="en-US" sz="2400" dirty="0">
                <a:solidFill>
                  <a:srgbClr val="000000"/>
                </a:solidFill>
                <a:latin typeface="Calibri (Body)"/>
              </a:rPr>
              <a:t>At least two qualities must be present among members: </a:t>
            </a:r>
          </a:p>
          <a:p>
            <a:pPr marL="514350" lvl="0" indent="-514350" algn="just">
              <a:spcBef>
                <a:spcPts val="1200"/>
              </a:spcBef>
              <a:buAutoNum type="arabicParenBoth"/>
            </a:pPr>
            <a:r>
              <a:rPr lang="en-US" sz="2400" dirty="0">
                <a:solidFill>
                  <a:srgbClr val="000000"/>
                </a:solidFill>
                <a:latin typeface="Calibri (Body)"/>
              </a:rPr>
              <a:t>All members must communicate respect and equality for one another</a:t>
            </a:r>
          </a:p>
          <a:p>
            <a:pPr marL="514350" lvl="0" indent="-514350" algn="just">
              <a:spcBef>
                <a:spcPts val="1200"/>
              </a:spcBef>
              <a:buAutoNum type="arabicParenBoth"/>
            </a:pPr>
            <a:r>
              <a:rPr lang="en-US" sz="2400" dirty="0">
                <a:solidFill>
                  <a:srgbClr val="000000"/>
                </a:solidFill>
                <a:latin typeface="Calibri (Body)"/>
              </a:rPr>
              <a:t>Leader must not abuse power-with and attempt to turn it into power-over. </a:t>
            </a:r>
            <a:endParaRPr lang="en-US" sz="2400" dirty="0">
              <a:latin typeface="Calibri (Body)"/>
            </a:endParaRPr>
          </a:p>
        </p:txBody>
      </p:sp>
      <p:sp>
        <p:nvSpPr>
          <p:cNvPr id="13" name="Google Shape;124;p5">
            <a:extLst>
              <a:ext uri="{FF2B5EF4-FFF2-40B4-BE49-F238E27FC236}">
                <a16:creationId xmlns:a16="http://schemas.microsoft.com/office/drawing/2014/main" id="{071061E0-4BEB-CE89-014E-4FB35FB52DDF}"/>
              </a:ext>
            </a:extLst>
          </p:cNvPr>
          <p:cNvSpPr/>
          <p:nvPr/>
        </p:nvSpPr>
        <p:spPr>
          <a:xfrm>
            <a:off x="4905054" y="741667"/>
            <a:ext cx="5192864" cy="1033397"/>
          </a:xfrm>
          <a:prstGeom prst="roundRect">
            <a:avLst>
              <a:gd name="adj" fmla="val 16667"/>
            </a:avLst>
          </a:prstGeom>
          <a:ln>
            <a:noFill/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sz="36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Power-With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38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8946F048-B3E5-2EC4-CBDA-D48616914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670" y="244650"/>
            <a:ext cx="8032129" cy="616465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DCE5B-FAF9-FF8B-FA4E-1825DAC809C4}"/>
              </a:ext>
            </a:extLst>
          </p:cNvPr>
          <p:cNvSpPr txBox="1"/>
          <p:nvPr/>
        </p:nvSpPr>
        <p:spPr>
          <a:xfrm>
            <a:off x="9043906" y="6282350"/>
            <a:ext cx="34608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https://www.stopatnothing.com/4-types-of-power/</a:t>
            </a:r>
          </a:p>
        </p:txBody>
      </p:sp>
    </p:spTree>
    <p:extLst>
      <p:ext uri="{BB962C8B-B14F-4D97-AF65-F5344CB8AC3E}">
        <p14:creationId xmlns:p14="http://schemas.microsoft.com/office/powerpoint/2010/main" val="2160265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1284790" y="1233944"/>
            <a:ext cx="4413939" cy="1601853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algn="r"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Pts val="3200"/>
            </a:pP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UNDERSTANDING POWER AND OPPRESSION </a:t>
            </a:r>
          </a:p>
        </p:txBody>
      </p:sp>
      <p:sp>
        <p:nvSpPr>
          <p:cNvPr id="135" name="Google Shape;135;p6"/>
          <p:cNvSpPr txBox="1">
            <a:spLocks noGrp="1"/>
          </p:cNvSpPr>
          <p:nvPr>
            <p:ph type="body" idx="1"/>
          </p:nvPr>
        </p:nvSpPr>
        <p:spPr>
          <a:xfrm>
            <a:off x="952694" y="2972987"/>
            <a:ext cx="5078130" cy="245430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</a:pPr>
            <a:r>
              <a:rPr lang="en-US" sz="3200" b="1" i="1" dirty="0">
                <a:solidFill>
                  <a:schemeClr val="accent2">
                    <a:alpha val="80000"/>
                  </a:schemeClr>
                </a:solidFill>
              </a:rPr>
              <a:t>Power</a:t>
            </a:r>
            <a:r>
              <a:rPr lang="en-US" sz="3200" i="1" dirty="0">
                <a:solidFill>
                  <a:schemeClr val="bg1">
                    <a:alpha val="80000"/>
                  </a:schemeClr>
                </a:solidFill>
              </a:rPr>
              <a:t> and </a:t>
            </a:r>
            <a:r>
              <a:rPr lang="en-US" sz="3200" b="1" i="1" dirty="0">
                <a:solidFill>
                  <a:schemeClr val="accent2">
                    <a:alpha val="80000"/>
                  </a:schemeClr>
                </a:solidFill>
              </a:rPr>
              <a:t>oppression</a:t>
            </a:r>
            <a:r>
              <a:rPr lang="en-US" sz="3200" i="1" dirty="0">
                <a:solidFill>
                  <a:schemeClr val="bg1">
                    <a:alpha val="80000"/>
                  </a:schemeClr>
                </a:solidFill>
              </a:rPr>
              <a:t> can be said to be mirror reflections of one another in a sense or </a:t>
            </a:r>
            <a:r>
              <a:rPr lang="en-US" sz="3200" b="1" i="1" dirty="0">
                <a:solidFill>
                  <a:schemeClr val="accent4">
                    <a:alpha val="80000"/>
                  </a:schemeClr>
                </a:solidFill>
              </a:rPr>
              <a:t>two sides of the same coin.</a:t>
            </a:r>
            <a:endParaRPr lang="en-US" sz="3200" b="1" dirty="0">
              <a:solidFill>
                <a:schemeClr val="accent4">
                  <a:alpha val="80000"/>
                </a:schemeClr>
              </a:solidFill>
            </a:endParaRPr>
          </a:p>
        </p:txBody>
      </p:sp>
      <p:pic>
        <p:nvPicPr>
          <p:cNvPr id="2050" name="Picture 2" descr="Oppression and Power – Introduction to Community Psychology">
            <a:extLst>
              <a:ext uri="{FF2B5EF4-FFF2-40B4-BE49-F238E27FC236}">
                <a16:creationId xmlns:a16="http://schemas.microsoft.com/office/drawing/2014/main" id="{6707D05B-D25C-4FEE-BBC7-DBD2905EA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8978" y="1272612"/>
            <a:ext cx="5078129" cy="405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91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1103030" y="340555"/>
            <a:ext cx="8476566" cy="73453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 marL="0" lvl="0" indent="0">
              <a:spcAft>
                <a:spcPts val="0"/>
              </a:spcAft>
              <a:buClr>
                <a:srgbClr val="FFFFFF"/>
              </a:buClr>
              <a:buSzPts val="3600"/>
            </a:pPr>
            <a:r>
              <a:rPr lang="en-US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Relationship between Power and Status </a:t>
            </a:r>
          </a:p>
        </p:txBody>
      </p:sp>
      <p:pic>
        <p:nvPicPr>
          <p:cNvPr id="3074" name="Picture 2" descr="The Peril of Power Without Status | Stanford Graduate School of Business">
            <a:extLst>
              <a:ext uri="{FF2B5EF4-FFF2-40B4-BE49-F238E27FC236}">
                <a16:creationId xmlns:a16="http://schemas.microsoft.com/office/drawing/2014/main" id="{1339AE4D-7E97-4F93-A247-8BDF38776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921027" y="1180395"/>
            <a:ext cx="4668512" cy="295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42;p7">
            <a:extLst>
              <a:ext uri="{FF2B5EF4-FFF2-40B4-BE49-F238E27FC236}">
                <a16:creationId xmlns:a16="http://schemas.microsoft.com/office/drawing/2014/main" id="{3B459773-38C2-4502-965A-FAD272334B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5168" y="1180394"/>
            <a:ext cx="5995859" cy="2849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STATUS</a:t>
            </a:r>
          </a:p>
          <a:p>
            <a:pPr>
              <a:spcBef>
                <a:spcPts val="0"/>
              </a:spcBef>
              <a:buSzPts val="2800"/>
            </a:pPr>
            <a:r>
              <a:rPr lang="en-US" sz="3000" b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Can be defined as a person’s perceived level of importance or significance within a particular context.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100" b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Google Shape;144;p7">
            <a:extLst>
              <a:ext uri="{FF2B5EF4-FFF2-40B4-BE49-F238E27FC236}">
                <a16:creationId xmlns:a16="http://schemas.microsoft.com/office/drawing/2014/main" id="{E1D4F863-BC2D-45CA-8171-273EEED363B0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925168" y="4621416"/>
            <a:ext cx="10664370" cy="178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1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POWER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3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Members with </a:t>
            </a:r>
            <a:r>
              <a:rPr lang="en-US" sz="300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008080"/>
                </a:highlight>
              </a:rPr>
              <a:t>higher status </a:t>
            </a:r>
            <a:r>
              <a:rPr lang="en-US" sz="3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are apt to command </a:t>
            </a:r>
            <a:r>
              <a:rPr lang="en-US" sz="300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008080"/>
                </a:highlight>
              </a:rPr>
              <a:t>greater respect </a:t>
            </a:r>
            <a:r>
              <a:rPr lang="en-US" sz="3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and possess </a:t>
            </a:r>
            <a:r>
              <a:rPr lang="en-US" sz="300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008080"/>
                </a:highlight>
              </a:rPr>
              <a:t>more prestige and power </a:t>
            </a:r>
            <a:r>
              <a:rPr lang="en-US" sz="3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than those with lower status.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B5FA7C47-B7C1-4D2E-AB49-ED23BA34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 6">
            <a:extLst>
              <a:ext uri="{FF2B5EF4-FFF2-40B4-BE49-F238E27FC236}">
                <a16:creationId xmlns:a16="http://schemas.microsoft.com/office/drawing/2014/main" id="{596EE156-ABF1-4329-A6BA-03B4254E0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521144" y="911116"/>
            <a:ext cx="687754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Rectangle 8">
            <a:extLst>
              <a:ext uri="{FF2B5EF4-FFF2-40B4-BE49-F238E27FC236}">
                <a16:creationId xmlns:a16="http://schemas.microsoft.com/office/drawing/2014/main" id="{19B9933F-AAB3-444A-8BB5-9CA194A8B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1370435"/>
            <a:ext cx="527226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Freeform 7">
            <a:extLst>
              <a:ext uri="{FF2B5EF4-FFF2-40B4-BE49-F238E27FC236}">
                <a16:creationId xmlns:a16="http://schemas.microsoft.com/office/drawing/2014/main" id="{7D20183A-0B1D-4A1F-89B1-ADBEDBC6E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00164" y="643467"/>
            <a:ext cx="409371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Rectangle 8">
            <a:extLst>
              <a:ext uri="{FF2B5EF4-FFF2-40B4-BE49-F238E27FC236}">
                <a16:creationId xmlns:a16="http://schemas.microsoft.com/office/drawing/2014/main" id="{131031D3-26CD-4214-A9A4-5857EFA1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95529" y="644382"/>
            <a:ext cx="3856024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" name="Google Shape;150;p8"/>
          <p:cNvSpPr txBox="1">
            <a:spLocks noGrp="1"/>
          </p:cNvSpPr>
          <p:nvPr>
            <p:ph type="title"/>
          </p:nvPr>
        </p:nvSpPr>
        <p:spPr>
          <a:xfrm>
            <a:off x="1146879" y="998002"/>
            <a:ext cx="3332524" cy="4245051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BASES OF POWER IN GROUPS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18D97B-4608-887D-E116-28BADD04D57E}"/>
              </a:ext>
            </a:extLst>
          </p:cNvPr>
          <p:cNvGrpSpPr/>
          <p:nvPr/>
        </p:nvGrpSpPr>
        <p:grpSpPr>
          <a:xfrm>
            <a:off x="5390272" y="543681"/>
            <a:ext cx="6090261" cy="1035890"/>
            <a:chOff x="5390272" y="543681"/>
            <a:chExt cx="6090261" cy="1035890"/>
          </a:xfrm>
        </p:grpSpPr>
        <p:sp>
          <p:nvSpPr>
            <p:cNvPr id="152" name="Google Shape;152;p8"/>
            <p:cNvSpPr/>
            <p:nvPr/>
          </p:nvSpPr>
          <p:spPr>
            <a:xfrm>
              <a:off x="5390272" y="926307"/>
              <a:ext cx="6090261" cy="653264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0775" cap="flat" cmpd="sng">
              <a:solidFill>
                <a:srgbClr val="3EBAD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5694785" y="543681"/>
              <a:ext cx="4263183" cy="765252"/>
            </a:xfrm>
            <a:prstGeom prst="roundRect">
              <a:avLst>
                <a:gd name="adj" fmla="val 16667"/>
              </a:avLst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1"/>
              <a:r>
                <a:rPr lang="en-US" sz="3000" b="0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Referent Power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561EFB0-3C4D-367E-F433-181CC4184B38}"/>
              </a:ext>
            </a:extLst>
          </p:cNvPr>
          <p:cNvGrpSpPr/>
          <p:nvPr/>
        </p:nvGrpSpPr>
        <p:grpSpPr>
          <a:xfrm>
            <a:off x="5390272" y="1719556"/>
            <a:ext cx="6090261" cy="1035890"/>
            <a:chOff x="5390272" y="1719556"/>
            <a:chExt cx="6090261" cy="1035890"/>
          </a:xfrm>
        </p:grpSpPr>
        <p:sp>
          <p:nvSpPr>
            <p:cNvPr id="155" name="Google Shape;155;p8"/>
            <p:cNvSpPr/>
            <p:nvPr/>
          </p:nvSpPr>
          <p:spPr>
            <a:xfrm>
              <a:off x="5390272" y="2102182"/>
              <a:ext cx="6090261" cy="653264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0775" cap="flat" cmpd="sng">
              <a:solidFill>
                <a:srgbClr val="3EBAD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5694785" y="1719556"/>
              <a:ext cx="4263183" cy="765252"/>
            </a:xfrm>
            <a:prstGeom prst="roundRect">
              <a:avLst>
                <a:gd name="adj" fmla="val 16667"/>
              </a:avLst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1"/>
              <a:r>
                <a:rPr lang="en-US" sz="3000" b="0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Legitimate Power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2476A4B-31B4-370C-1446-724A23D1E4A0}"/>
              </a:ext>
            </a:extLst>
          </p:cNvPr>
          <p:cNvGrpSpPr/>
          <p:nvPr/>
        </p:nvGrpSpPr>
        <p:grpSpPr>
          <a:xfrm>
            <a:off x="5390272" y="2895431"/>
            <a:ext cx="6090261" cy="1035890"/>
            <a:chOff x="5390272" y="2895431"/>
            <a:chExt cx="6090261" cy="1035890"/>
          </a:xfrm>
        </p:grpSpPr>
        <p:sp>
          <p:nvSpPr>
            <p:cNvPr id="158" name="Google Shape;158;p8"/>
            <p:cNvSpPr/>
            <p:nvPr/>
          </p:nvSpPr>
          <p:spPr>
            <a:xfrm>
              <a:off x="5390272" y="3278057"/>
              <a:ext cx="6090261" cy="653264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0775" cap="flat" cmpd="sng">
              <a:solidFill>
                <a:srgbClr val="3EBAD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5694785" y="2895431"/>
              <a:ext cx="4263183" cy="765252"/>
            </a:xfrm>
            <a:prstGeom prst="roundRect">
              <a:avLst>
                <a:gd name="adj" fmla="val 16667"/>
              </a:avLst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1"/>
              <a:r>
                <a:rPr lang="en-US" sz="3000" b="0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Reward Power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ECE0DE1-10E7-3362-F7C3-EB662D30C6E1}"/>
              </a:ext>
            </a:extLst>
          </p:cNvPr>
          <p:cNvGrpSpPr/>
          <p:nvPr/>
        </p:nvGrpSpPr>
        <p:grpSpPr>
          <a:xfrm>
            <a:off x="5390272" y="4071306"/>
            <a:ext cx="6090261" cy="1035890"/>
            <a:chOff x="5390272" y="4071306"/>
            <a:chExt cx="6090261" cy="1035890"/>
          </a:xfrm>
        </p:grpSpPr>
        <p:sp>
          <p:nvSpPr>
            <p:cNvPr id="161" name="Google Shape;161;p8"/>
            <p:cNvSpPr/>
            <p:nvPr/>
          </p:nvSpPr>
          <p:spPr>
            <a:xfrm>
              <a:off x="5390272" y="4453932"/>
              <a:ext cx="6090261" cy="653264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0775" cap="flat" cmpd="sng">
              <a:solidFill>
                <a:srgbClr val="3EBAD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5694785" y="4071306"/>
              <a:ext cx="4263183" cy="765252"/>
            </a:xfrm>
            <a:prstGeom prst="roundRect">
              <a:avLst>
                <a:gd name="adj" fmla="val 16667"/>
              </a:avLst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1"/>
              <a:r>
                <a:rPr lang="en-US" sz="30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Coercive Power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89A9EE0-566D-A708-3273-4FD55CC5FE03}"/>
              </a:ext>
            </a:extLst>
          </p:cNvPr>
          <p:cNvGrpSpPr/>
          <p:nvPr/>
        </p:nvGrpSpPr>
        <p:grpSpPr>
          <a:xfrm>
            <a:off x="5375122" y="5265444"/>
            <a:ext cx="6090261" cy="1035890"/>
            <a:chOff x="5375122" y="5265444"/>
            <a:chExt cx="6090261" cy="1035890"/>
          </a:xfrm>
        </p:grpSpPr>
        <p:sp>
          <p:nvSpPr>
            <p:cNvPr id="23" name="Google Shape;161;p8">
              <a:extLst>
                <a:ext uri="{FF2B5EF4-FFF2-40B4-BE49-F238E27FC236}">
                  <a16:creationId xmlns:a16="http://schemas.microsoft.com/office/drawing/2014/main" id="{9B7E250C-0D81-4BAA-94D6-A1EABDA899BC}"/>
                </a:ext>
              </a:extLst>
            </p:cNvPr>
            <p:cNvSpPr/>
            <p:nvPr/>
          </p:nvSpPr>
          <p:spPr>
            <a:xfrm>
              <a:off x="5375122" y="5648070"/>
              <a:ext cx="6090261" cy="653264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0775" cap="flat" cmpd="sng">
              <a:solidFill>
                <a:srgbClr val="3EBAD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/>
            </a:p>
          </p:txBody>
        </p:sp>
        <p:sp>
          <p:nvSpPr>
            <p:cNvPr id="24" name="Google Shape;162;p8">
              <a:extLst>
                <a:ext uri="{FF2B5EF4-FFF2-40B4-BE49-F238E27FC236}">
                  <a16:creationId xmlns:a16="http://schemas.microsoft.com/office/drawing/2014/main" id="{DAFA6753-7E5B-4E87-804C-35F94A71644F}"/>
                </a:ext>
              </a:extLst>
            </p:cNvPr>
            <p:cNvSpPr/>
            <p:nvPr/>
          </p:nvSpPr>
          <p:spPr>
            <a:xfrm>
              <a:off x="5679635" y="5265444"/>
              <a:ext cx="4263183" cy="765252"/>
            </a:xfrm>
            <a:prstGeom prst="roundRect">
              <a:avLst>
                <a:gd name="adj" fmla="val 16667"/>
              </a:avLst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1"/>
              <a:r>
                <a:rPr lang="en-US" sz="3000" dirty="0">
                  <a:latin typeface="Arial"/>
                  <a:ea typeface="Arial"/>
                  <a:cs typeface="Arial"/>
                  <a:sym typeface="Arial"/>
                </a:rPr>
                <a:t>Expert</a:t>
              </a:r>
              <a:r>
                <a:rPr lang="en-US" sz="3000" b="0" i="0" u="none" strike="noStrike" cap="none" dirty="0">
                  <a:latin typeface="Arial"/>
                  <a:ea typeface="Arial"/>
                  <a:cs typeface="Arial"/>
                  <a:sym typeface="Arial"/>
                </a:rPr>
                <a:t> Power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701" name="Rectangle 13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74" name="Picture 2" descr="10 Steps To Own Your Personal Power">
            <a:extLst>
              <a:ext uri="{FF2B5EF4-FFF2-40B4-BE49-F238E27FC236}">
                <a16:creationId xmlns:a16="http://schemas.microsoft.com/office/drawing/2014/main" id="{87B64EC4-F15B-425F-BFE8-90528F1F10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6" t="-1" r="23501" b="-1"/>
          <a:stretch/>
        </p:blipFill>
        <p:spPr bwMode="auto">
          <a:xfrm>
            <a:off x="5203871" y="10"/>
            <a:ext cx="739026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0F5E1FB7-8D87-4157-8828-89007A59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47" y="0"/>
            <a:ext cx="5840753" cy="1899912"/>
          </a:xfrm>
        </p:spPr>
        <p:txBody>
          <a:bodyPr>
            <a:normAutofit/>
          </a:bodyPr>
          <a:lstStyle/>
          <a:p>
            <a:pPr algn="l"/>
            <a:r>
              <a:rPr lang="en-US" altLang="en-US" sz="4000" b="1" dirty="0"/>
              <a:t>Bases of Power in Groups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E83FD99F-4AC5-4930-A553-507ADB08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37" y="1799865"/>
            <a:ext cx="5177906" cy="3742762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Referent Power </a:t>
            </a:r>
            <a:r>
              <a:rPr lang="en-US" sz="2600" dirty="0"/>
              <a:t>- </a:t>
            </a:r>
            <a:r>
              <a:rPr lang="en-US" altLang="en-US" sz="2600" dirty="0"/>
              <a:t>P</a:t>
            </a:r>
            <a:r>
              <a:rPr lang="en-US" sz="2600" dirty="0"/>
              <a:t>erson B looks up to or admires person A, and, as a result, B follows A largely because of A’s </a:t>
            </a:r>
            <a:r>
              <a:rPr lang="en-US" sz="2600" dirty="0">
                <a:highlight>
                  <a:srgbClr val="FFFF00"/>
                </a:highlight>
              </a:rPr>
              <a:t>personal qualities, characteristics, or reputation.</a:t>
            </a:r>
            <a:r>
              <a:rPr lang="en-US" sz="2600" dirty="0"/>
              <a:t> Person A can use </a:t>
            </a:r>
            <a:r>
              <a:rPr lang="en-US" sz="2600" b="1" dirty="0"/>
              <a:t>referent power </a:t>
            </a:r>
            <a:r>
              <a:rPr lang="en-US" sz="2600" dirty="0"/>
              <a:t>to influence B.</a:t>
            </a:r>
          </a:p>
          <a:p>
            <a:pPr marL="0" indent="0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z="2600" b="1" i="1" dirty="0"/>
              <a:t>Referent power</a:t>
            </a:r>
            <a:r>
              <a:rPr lang="en-US" sz="2600" dirty="0"/>
              <a:t> has also been called charismatic power, because allegiance is based on interpersonal attraction of one individual for another. 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1980845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0F5E1FB7-8D87-4157-8828-89007A59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091"/>
            <a:ext cx="6187632" cy="13853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en-US" b="1" dirty="0"/>
              <a:t>Bases of Power in Groups</a:t>
            </a:r>
          </a:p>
        </p:txBody>
      </p:sp>
      <p:pic>
        <p:nvPicPr>
          <p:cNvPr id="8" name="Picture 2" descr="Top 12 Most Inspiring Steve Jobs Quotes | Goalcast">
            <a:extLst>
              <a:ext uri="{FF2B5EF4-FFF2-40B4-BE49-F238E27FC236}">
                <a16:creationId xmlns:a16="http://schemas.microsoft.com/office/drawing/2014/main" id="{8A5A960E-6145-D9A8-19F3-ABF18E2BC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14"/>
          <a:stretch/>
        </p:blipFill>
        <p:spPr bwMode="auto">
          <a:xfrm>
            <a:off x="6626001" y="10"/>
            <a:ext cx="5562952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1C49C044-6D64-3579-FA72-2815B287E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2" y="1604092"/>
            <a:ext cx="5790848" cy="2789604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600" b="1" i="1" dirty="0">
                <a:solidFill>
                  <a:schemeClr val="accent3">
                    <a:lumMod val="50000"/>
                  </a:schemeClr>
                </a:solidFill>
              </a:rPr>
              <a:t>Expert power </a:t>
            </a:r>
            <a:r>
              <a:rPr lang="en-US" sz="2600" dirty="0"/>
              <a:t>is demonstrated when person </a:t>
            </a:r>
            <a:r>
              <a:rPr lang="en-US" sz="2600" i="1" dirty="0"/>
              <a:t>A </a:t>
            </a:r>
            <a:r>
              <a:rPr lang="en-US" sz="2600" dirty="0"/>
              <a:t>gains power because </a:t>
            </a:r>
            <a:r>
              <a:rPr lang="en-US" sz="2600" i="1" dirty="0"/>
              <a:t>A </a:t>
            </a:r>
            <a:r>
              <a:rPr lang="en-US" sz="2600" dirty="0"/>
              <a:t>has </a:t>
            </a:r>
            <a:r>
              <a:rPr lang="en-US" sz="2600" dirty="0">
                <a:highlight>
                  <a:srgbClr val="FFFF00"/>
                </a:highlight>
              </a:rPr>
              <a:t>knowledge or expertise </a:t>
            </a:r>
            <a:r>
              <a:rPr lang="en-US" sz="2600" dirty="0"/>
              <a:t>relevant to </a:t>
            </a:r>
            <a:r>
              <a:rPr lang="en-US" sz="2600" i="1" dirty="0"/>
              <a:t>B</a:t>
            </a:r>
            <a:r>
              <a:rPr lang="en-US" sz="2600" dirty="0"/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/>
              <a:t>For instance, professors presumably have power in the classroom because of their mastery of a particular subject matter.</a:t>
            </a:r>
            <a:endParaRPr lang="en-US" altLang="en-US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AD7D5-F236-5B2A-AE29-6143AFA79BD0}"/>
              </a:ext>
            </a:extLst>
          </p:cNvPr>
          <p:cNvSpPr txBox="1"/>
          <p:nvPr/>
        </p:nvSpPr>
        <p:spPr>
          <a:xfrm>
            <a:off x="9761014" y="5337985"/>
            <a:ext cx="2111217" cy="133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200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Stay hungry.</a:t>
            </a:r>
          </a:p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200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Stay foolish.</a:t>
            </a:r>
          </a:p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200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 Steve Jobs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43A57A-2A96-85BC-353D-EE0FF98CD4A6}"/>
              </a:ext>
            </a:extLst>
          </p:cNvPr>
          <p:cNvSpPr txBox="1"/>
          <p:nvPr/>
        </p:nvSpPr>
        <p:spPr>
          <a:xfrm>
            <a:off x="835152" y="3994682"/>
            <a:ext cx="59013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endParaRPr lang="en-US" sz="2600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/>
              <a:t>In each case, the individual has credibility in a particular-and narrow-area as a result of </a:t>
            </a:r>
            <a:r>
              <a:rPr lang="en-US" sz="2600" b="1" dirty="0"/>
              <a:t>experience</a:t>
            </a:r>
            <a:r>
              <a:rPr lang="en-US" sz="2600" dirty="0"/>
              <a:t> and </a:t>
            </a:r>
            <a:r>
              <a:rPr lang="en-US" sz="2600" b="1" dirty="0"/>
              <a:t>expertise</a:t>
            </a:r>
            <a:r>
              <a:rPr lang="en-US" sz="2600" dirty="0"/>
              <a:t>, and this gives the individual power in that domain.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0592455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2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0901E-EABB-9321-5F38-E4DCDEB2D737}"/>
              </a:ext>
            </a:extLst>
          </p:cNvPr>
          <p:cNvSpPr txBox="1">
            <a:spLocks/>
          </p:cNvSpPr>
          <p:nvPr/>
        </p:nvSpPr>
        <p:spPr>
          <a:xfrm>
            <a:off x="793938" y="0"/>
            <a:ext cx="6150871" cy="16367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dirty="0"/>
              <a:t>Bases of Power in Groups</a:t>
            </a:r>
          </a:p>
        </p:txBody>
      </p:sp>
      <p:pic>
        <p:nvPicPr>
          <p:cNvPr id="9" name="Picture 6" descr="JOBMASTER">
            <a:extLst>
              <a:ext uri="{FF2B5EF4-FFF2-40B4-BE49-F238E27FC236}">
                <a16:creationId xmlns:a16="http://schemas.microsoft.com/office/drawing/2014/main" id="{29976661-F779-DE3C-E885-E85ADA605C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0" t="-1" r="49265" b="-1"/>
          <a:stretch/>
        </p:blipFill>
        <p:spPr bwMode="auto">
          <a:xfrm>
            <a:off x="6707225" y="10"/>
            <a:ext cx="5481728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E832072-D3A9-A281-3377-35DA58794A34}"/>
              </a:ext>
            </a:extLst>
          </p:cNvPr>
          <p:cNvSpPr txBox="1"/>
          <p:nvPr/>
        </p:nvSpPr>
        <p:spPr>
          <a:xfrm>
            <a:off x="829579" y="1908523"/>
            <a:ext cx="587764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accent1">
                    <a:lumMod val="75000"/>
                  </a:schemeClr>
                </a:solidFill>
              </a:rPr>
              <a:t>Reward power </a:t>
            </a:r>
            <a:r>
              <a:rPr lang="en-US" sz="2800" b="0" u="none" strike="noStrike" baseline="0" dirty="0">
                <a:solidFill>
                  <a:srgbClr val="000000"/>
                </a:solidFill>
              </a:rPr>
              <a:t>exists when person A has power-over person B because A controls </a:t>
            </a:r>
            <a:r>
              <a:rPr lang="en-US" sz="2800" b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</a:rPr>
              <a:t>rewards</a:t>
            </a:r>
            <a:r>
              <a:rPr lang="en-US" sz="2800" b="0" u="none" strike="noStrike" baseline="0" dirty="0">
                <a:solidFill>
                  <a:srgbClr val="000000"/>
                </a:solidFill>
              </a:rPr>
              <a:t> that B wants.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504433-977E-6538-2EAC-ED47C47C4A39}"/>
              </a:ext>
            </a:extLst>
          </p:cNvPr>
          <p:cNvSpPr txBox="1"/>
          <p:nvPr/>
        </p:nvSpPr>
        <p:spPr>
          <a:xfrm>
            <a:off x="793938" y="3507378"/>
            <a:ext cx="57804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</a:rPr>
              <a:t>Research has indicated that reward power </a:t>
            </a:r>
            <a:r>
              <a:rPr lang="en-US" sz="28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</a:rPr>
              <a:t>often leads to increased job performance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as employees see a strong performance-reward contingency (Shetty, 1978).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25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61D39-81C2-5165-D682-15C753A72B97}"/>
              </a:ext>
            </a:extLst>
          </p:cNvPr>
          <p:cNvSpPr txBox="1">
            <a:spLocks/>
          </p:cNvSpPr>
          <p:nvPr/>
        </p:nvSpPr>
        <p:spPr>
          <a:xfrm>
            <a:off x="643467" y="296230"/>
            <a:ext cx="6139297" cy="849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dirty="0">
                <a:latin typeface="+mn-lt"/>
              </a:rPr>
              <a:t>Bases of Power in Groups</a:t>
            </a:r>
          </a:p>
        </p:txBody>
      </p:sp>
      <p:pic>
        <p:nvPicPr>
          <p:cNvPr id="3" name="Picture 4" descr="Adolf Hitler&amp;#39;s rise a &amp;#39;constant warning to Germans,&amp;#39; says Angela Merkel |  The Times">
            <a:extLst>
              <a:ext uri="{FF2B5EF4-FFF2-40B4-BE49-F238E27FC236}">
                <a16:creationId xmlns:a16="http://schemas.microsoft.com/office/drawing/2014/main" id="{79BCF2BF-2B33-2E59-D338-6586FF3F16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1" r="17640"/>
          <a:stretch/>
        </p:blipFill>
        <p:spPr bwMode="auto">
          <a:xfrm>
            <a:off x="6869634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8B829-224D-2FF7-231B-C5A3A41E35B4}"/>
              </a:ext>
            </a:extLst>
          </p:cNvPr>
          <p:cNvSpPr txBox="1"/>
          <p:nvPr/>
        </p:nvSpPr>
        <p:spPr>
          <a:xfrm>
            <a:off x="666080" y="1228004"/>
            <a:ext cx="63829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200" b="1" i="1" u="none" strike="noStrike" baseline="0" dirty="0">
                <a:solidFill>
                  <a:srgbClr val="000000"/>
                </a:solidFill>
              </a:rPr>
              <a:t>Coercive power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is based primarily on </a:t>
            </a:r>
            <a:r>
              <a:rPr lang="en-US" sz="24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</a:rPr>
              <a:t>fear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. Here, person 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has power over person 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B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because 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can administer some form of punishment to 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B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. Thus, this kind of power is also referred to as </a:t>
            </a:r>
            <a:r>
              <a:rPr lang="en-US" sz="2400" b="1" i="0" u="none" strike="noStrike" baseline="0" dirty="0">
                <a:solidFill>
                  <a:srgbClr val="0070C0"/>
                </a:solidFill>
                <a:highlight>
                  <a:srgbClr val="FFFF00"/>
                </a:highlight>
              </a:rPr>
              <a:t>punishment power</a:t>
            </a:r>
            <a:r>
              <a:rPr lang="en-US" sz="24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</a:rPr>
              <a:t>.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78F8D-4917-0D80-FC09-81274B2265BF}"/>
              </a:ext>
            </a:extLst>
          </p:cNvPr>
          <p:cNvSpPr txBox="1"/>
          <p:nvPr/>
        </p:nvSpPr>
        <p:spPr>
          <a:xfrm>
            <a:off x="666080" y="3290107"/>
            <a:ext cx="655995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0" i="0" u="none" strike="noStrike" baseline="0" dirty="0">
                <a:solidFill>
                  <a:srgbClr val="000000"/>
                </a:solidFill>
              </a:rPr>
              <a:t>Coercive power does not have to rest on the threat of violence. “Individuals exercise coercive power through a reliance upon physical strength, verbal facility, or the ability to grant or withhold emotional support from others. These bases provide the individual with the means to </a:t>
            </a:r>
            <a:r>
              <a:rPr lang="en-US" sz="2400" b="1" i="0" u="none" strike="noStrike" baseline="0" dirty="0">
                <a:solidFill>
                  <a:srgbClr val="000000"/>
                </a:solidFill>
              </a:rPr>
              <a:t>physically harm, bully, humiliate, or deny love to others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” (</a:t>
            </a:r>
            <a:r>
              <a:rPr lang="en-US" sz="2400" dirty="0">
                <a:solidFill>
                  <a:srgbClr val="000000"/>
                </a:solidFill>
              </a:rPr>
              <a:t>Kipnis, 1976).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3379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reat Rebuilding&amp;#39; of US Armed Forces Reflects &amp;#39;Distrust in NATO&amp;#39; - Sputnik  International">
            <a:extLst>
              <a:ext uri="{FF2B5EF4-FFF2-40B4-BE49-F238E27FC236}">
                <a16:creationId xmlns:a16="http://schemas.microsoft.com/office/drawing/2014/main" id="{3548AA6C-DCEC-E2C4-6EB0-43B8903F28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3" t="6480" r="31108"/>
          <a:stretch/>
        </p:blipFill>
        <p:spPr bwMode="auto">
          <a:xfrm>
            <a:off x="3988526" y="10"/>
            <a:ext cx="820347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0901E-EABB-9321-5F38-E4DCDEB2D737}"/>
              </a:ext>
            </a:extLst>
          </p:cNvPr>
          <p:cNvSpPr txBox="1">
            <a:spLocks/>
          </p:cNvSpPr>
          <p:nvPr/>
        </p:nvSpPr>
        <p:spPr>
          <a:xfrm>
            <a:off x="1069570" y="625683"/>
            <a:ext cx="6390905" cy="8400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>
                <a:latin typeface="+mj-lt"/>
                <a:ea typeface="+mj-ea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4800" dirty="0"/>
              <a:t>Bases of Power in Groups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B1988-AC2E-A324-D576-8D136E6CD6BB}"/>
              </a:ext>
            </a:extLst>
          </p:cNvPr>
          <p:cNvSpPr/>
          <p:nvPr/>
        </p:nvSpPr>
        <p:spPr>
          <a:xfrm>
            <a:off x="347241" y="4409954"/>
            <a:ext cx="4111428" cy="2662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99C3A-D832-1D43-9EF2-7EE781F94F42}"/>
              </a:ext>
            </a:extLst>
          </p:cNvPr>
          <p:cNvSpPr txBox="1"/>
          <p:nvPr/>
        </p:nvSpPr>
        <p:spPr>
          <a:xfrm>
            <a:off x="1069570" y="1665699"/>
            <a:ext cx="619250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chemeClr val="accent4">
                    <a:lumMod val="50000"/>
                  </a:schemeClr>
                </a:solidFill>
              </a:rPr>
              <a:t>Legitimate power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exists when person </a:t>
            </a:r>
            <a:r>
              <a:rPr lang="en-US" sz="2800" b="0" i="1" u="none" strike="noStrike" baseline="0" dirty="0">
                <a:solidFill>
                  <a:srgbClr val="000000"/>
                </a:solidFill>
              </a:rPr>
              <a:t>B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submits to person </a:t>
            </a:r>
            <a:r>
              <a:rPr lang="en-US" sz="2800" b="0" i="1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because </a:t>
            </a:r>
            <a:r>
              <a:rPr lang="en-US" sz="2800" b="0" i="1" u="none" strike="noStrike" baseline="0" dirty="0">
                <a:solidFill>
                  <a:srgbClr val="000000"/>
                </a:solidFill>
              </a:rPr>
              <a:t>B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feels that </a:t>
            </a:r>
            <a:r>
              <a:rPr lang="en-US" sz="2800" b="0" i="1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has a right to exert power in a certain domain (</a:t>
            </a:r>
            <a:r>
              <a:rPr lang="en-US" sz="2800" b="0" i="0" u="none" strike="noStrike" baseline="0" dirty="0" err="1">
                <a:solidFill>
                  <a:srgbClr val="000000"/>
                </a:solidFill>
              </a:rPr>
              <a:t>Tjosvold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, 1985). Legitimate power is really another name for </a:t>
            </a:r>
            <a:r>
              <a:rPr lang="en-US" sz="2800" b="1" i="0" u="none" strike="noStrike" baseline="0" dirty="0">
                <a:solidFill>
                  <a:srgbClr val="FF0000"/>
                </a:solidFill>
              </a:rPr>
              <a:t>authority.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A30EAF-64D2-6DC6-E5B8-B95A58C687D7}"/>
              </a:ext>
            </a:extLst>
          </p:cNvPr>
          <p:cNvSpPr txBox="1"/>
          <p:nvPr/>
        </p:nvSpPr>
        <p:spPr>
          <a:xfrm>
            <a:off x="1069570" y="3985548"/>
            <a:ext cx="66888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i="0" u="none" strike="noStrike" baseline="0" dirty="0">
              <a:solidFill>
                <a:srgbClr val="000000"/>
              </a:solidFill>
            </a:endParaRP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</a:rPr>
              <a:t>Legitimate power differs from reward and coercive power in that it depends on the </a:t>
            </a:r>
            <a:r>
              <a:rPr lang="en-US" sz="2800" b="1" i="0" u="none" strike="noStrike" baseline="0" dirty="0">
                <a:solidFill>
                  <a:srgbClr val="000000"/>
                </a:solidFill>
              </a:rPr>
              <a:t>official position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a person holds, and not on his or her relationship with others.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5330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3100682" y="400402"/>
            <a:ext cx="6981251" cy="84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4800" b="1" dirty="0"/>
              <a:t>Consequences of Power</a:t>
            </a:r>
            <a:endParaRPr sz="4800" b="1" dirty="0"/>
          </a:p>
        </p:txBody>
      </p:sp>
      <p:pic>
        <p:nvPicPr>
          <p:cNvPr id="169" name="Google Shape;169;p9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/>
        </p:blipFill>
        <p:spPr>
          <a:xfrm>
            <a:off x="1594471" y="1248072"/>
            <a:ext cx="9597417" cy="5124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61B1B4-6013-646C-A4D0-9C456D5D2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0366" y="457200"/>
            <a:ext cx="837126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11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ed toy person in front of two lines of white figures">
            <a:extLst>
              <a:ext uri="{FF2B5EF4-FFF2-40B4-BE49-F238E27FC236}">
                <a16:creationId xmlns:a16="http://schemas.microsoft.com/office/drawing/2014/main" id="{448F4FB6-D3A3-44D3-AA7D-B09B5550DC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Google Shape;176;p10">
            <a:extLst>
              <a:ext uri="{FF2B5EF4-FFF2-40B4-BE49-F238E27FC236}">
                <a16:creationId xmlns:a16="http://schemas.microsoft.com/office/drawing/2014/main" id="{8F51F62D-9C47-4A44-BD4B-351C094CDE28}"/>
              </a:ext>
            </a:extLst>
          </p:cNvPr>
          <p:cNvSpPr txBox="1">
            <a:spLocks/>
          </p:cNvSpPr>
          <p:nvPr/>
        </p:nvSpPr>
        <p:spPr>
          <a:xfrm>
            <a:off x="699135" y="2676598"/>
            <a:ext cx="7962265" cy="3634594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spcBef>
                <a:spcPts val="0"/>
              </a:spcBef>
              <a:buSzPts val="2680"/>
            </a:pPr>
            <a:r>
              <a:rPr lang="en-US" dirty="0"/>
              <a:t>In any situation involving power, at least two persons (or groups) can be identified:</a:t>
            </a:r>
          </a:p>
          <a:p>
            <a:pPr indent="0">
              <a:spcBef>
                <a:spcPts val="0"/>
              </a:spcBef>
              <a:buSzPts val="2680"/>
              <a:buNone/>
            </a:pPr>
            <a:endParaRPr lang="en-US" sz="2400" dirty="0"/>
          </a:p>
          <a:p>
            <a:pPr marL="1143000" lvl="1" indent="-4572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2800" dirty="0"/>
              <a:t>The person attempting to influence others</a:t>
            </a:r>
          </a:p>
          <a:p>
            <a:pPr marL="1143000" lvl="1" indent="-4572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2800" dirty="0"/>
              <a:t>The target </a:t>
            </a:r>
            <a:r>
              <a:rPr lang="vi-VN" sz="2800" dirty="0"/>
              <a:t>(</a:t>
            </a:r>
            <a:r>
              <a:rPr lang="vi-VN" dirty="0"/>
              <a:t>targets</a:t>
            </a:r>
            <a:r>
              <a:rPr lang="vi-VN" sz="2800" dirty="0"/>
              <a:t>)</a:t>
            </a:r>
            <a:r>
              <a:rPr lang="en-US" sz="2800" dirty="0"/>
              <a:t> of that influence. </a:t>
            </a:r>
          </a:p>
          <a:p>
            <a:pPr marL="457200">
              <a:spcBef>
                <a:spcPts val="1200"/>
              </a:spcBef>
              <a:buSzPts val="2680"/>
            </a:pPr>
            <a:r>
              <a:rPr lang="en-US" dirty="0"/>
              <a:t>All people are not subject to (or dependent upon) the same bases of power.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C72BB-2770-498E-AE41-6EDEBDC4675D}"/>
              </a:ext>
            </a:extLst>
          </p:cNvPr>
          <p:cNvSpPr txBox="1"/>
          <p:nvPr/>
        </p:nvSpPr>
        <p:spPr>
          <a:xfrm>
            <a:off x="874643" y="1656220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kern="1200" dirty="0">
                <a:latin typeface="+mj-lt"/>
                <a:ea typeface="+mj-ea"/>
                <a:cs typeface="+mj-cs"/>
              </a:rPr>
              <a:t>Power Dependencies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745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83" descr="Colourful carved figures of humans">
            <a:extLst>
              <a:ext uri="{FF2B5EF4-FFF2-40B4-BE49-F238E27FC236}">
                <a16:creationId xmlns:a16="http://schemas.microsoft.com/office/drawing/2014/main" id="{69B98ED2-4B96-405E-8F7F-113735FCD8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Google Shape;182;ge69c430548_0_3"/>
          <p:cNvSpPr txBox="1"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buClr>
                <a:srgbClr val="FFFFFF"/>
              </a:buClr>
              <a:buSzPts val="3600"/>
            </a:pPr>
            <a: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chemeClr val="lt1"/>
                </a:highlight>
                <a:sym typeface="Lora"/>
              </a:rPr>
              <a:t>What causes some people to be vulnerable to power attempts?</a:t>
            </a:r>
            <a:endParaRPr lang="en-US" sz="3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4" name="Rectangle 13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to give effective and motivating feedback in a team?">
            <a:extLst>
              <a:ext uri="{FF2B5EF4-FFF2-40B4-BE49-F238E27FC236}">
                <a16:creationId xmlns:a16="http://schemas.microsoft.com/office/drawing/2014/main" id="{39D1FDA1-8CA5-E41D-43BA-79AFA1888F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5" r="13818" b="1636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Rectangle 138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14F3B0-AF68-0599-C6D9-1F66E434DE36}"/>
              </a:ext>
            </a:extLst>
          </p:cNvPr>
          <p:cNvSpPr txBox="1"/>
          <p:nvPr/>
        </p:nvSpPr>
        <p:spPr>
          <a:xfrm>
            <a:off x="1376227" y="294861"/>
            <a:ext cx="4023360" cy="14553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latin typeface="+mj-lt"/>
                <a:ea typeface="+mj-ea"/>
                <a:cs typeface="+mj-cs"/>
                <a:sym typeface="Lora"/>
              </a:rPr>
              <a:t>What causes some people to be vulnerable to power attempts?</a:t>
            </a:r>
            <a:endParaRPr lang="en-US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2056" name="Rectangle 14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E9250D-3123-15FA-A1EC-4DDD7C53243E}"/>
              </a:ext>
            </a:extLst>
          </p:cNvPr>
          <p:cNvSpPr/>
          <p:nvPr/>
        </p:nvSpPr>
        <p:spPr>
          <a:xfrm>
            <a:off x="481029" y="4378362"/>
            <a:ext cx="3977640" cy="1868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184;ge69c430548_0_3">
            <a:extLst>
              <a:ext uri="{FF2B5EF4-FFF2-40B4-BE49-F238E27FC236}">
                <a16:creationId xmlns:a16="http://schemas.microsoft.com/office/drawing/2014/main" id="{F93CD989-C0D3-DB73-AFAA-E67A6C4B3985}"/>
              </a:ext>
            </a:extLst>
          </p:cNvPr>
          <p:cNvSpPr txBox="1">
            <a:spLocks/>
          </p:cNvSpPr>
          <p:nvPr/>
        </p:nvSpPr>
        <p:spPr>
          <a:xfrm>
            <a:off x="974641" y="2045027"/>
            <a:ext cx="5549518" cy="70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1600" indent="0"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Subordinate’s Values </a:t>
            </a:r>
          </a:p>
        </p:txBody>
      </p:sp>
      <p:sp>
        <p:nvSpPr>
          <p:cNvPr id="25" name="Google Shape;185;ge69c430548_0_3">
            <a:extLst>
              <a:ext uri="{FF2B5EF4-FFF2-40B4-BE49-F238E27FC236}">
                <a16:creationId xmlns:a16="http://schemas.microsoft.com/office/drawing/2014/main" id="{BB5D32C0-A4EB-4A06-BD8A-0B4A5AA68182}"/>
              </a:ext>
            </a:extLst>
          </p:cNvPr>
          <p:cNvSpPr txBox="1">
            <a:spLocks/>
          </p:cNvSpPr>
          <p:nvPr/>
        </p:nvSpPr>
        <p:spPr>
          <a:xfrm>
            <a:off x="481029" y="2841918"/>
            <a:ext cx="5879939" cy="1182358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dirty="0"/>
              <a:t>Person B’s </a:t>
            </a:r>
            <a:r>
              <a:rPr lang="en-US" b="1" dirty="0">
                <a:solidFill>
                  <a:schemeClr val="accent4"/>
                </a:solidFill>
              </a:rPr>
              <a:t>values</a:t>
            </a:r>
            <a:r>
              <a:rPr lang="en-US" dirty="0"/>
              <a:t> can influence his susceptibility </a:t>
            </a:r>
            <a:r>
              <a:rPr lang="vi-VN" dirty="0">
                <a:latin typeface="cabr"/>
              </a:rPr>
              <a:t>to power</a:t>
            </a:r>
            <a:r>
              <a:rPr lang="en-US" dirty="0">
                <a:latin typeface="cabr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2F493A-01B9-C965-5732-7F86099DC7C2}"/>
              </a:ext>
            </a:extLst>
          </p:cNvPr>
          <p:cNvSpPr txBox="1"/>
          <p:nvPr/>
        </p:nvSpPr>
        <p:spPr>
          <a:xfrm>
            <a:off x="481029" y="3877286"/>
            <a:ext cx="6124901" cy="255798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>
              <a:defRPr lang="en-US"/>
            </a:defPPr>
            <a:lvl1pPr indent="0" algn="r">
              <a:lnSpc>
                <a:spcPct val="9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l"/>
            <a:r>
              <a:rPr lang="en-US" dirty="0"/>
              <a:t>If an employee places a high value on money and believes the supervisor actually controls pay raises, we would expect the employee to be highly susceptible to the supervisor’s influence.</a:t>
            </a:r>
          </a:p>
        </p:txBody>
      </p:sp>
    </p:spTree>
    <p:extLst>
      <p:ext uri="{BB962C8B-B14F-4D97-AF65-F5344CB8AC3E}">
        <p14:creationId xmlns:p14="http://schemas.microsoft.com/office/powerpoint/2010/main" val="2821740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BCC81228-CEA3-402B-B8E5-688F5BF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3" name="Arc 192">
            <a:extLst>
              <a:ext uri="{FF2B5EF4-FFF2-40B4-BE49-F238E27FC236}">
                <a16:creationId xmlns:a16="http://schemas.microsoft.com/office/drawing/2014/main" id="{BC0916B8-FF7A-4ECB-9FD7-C7668658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011959" flipH="1">
            <a:off x="548353" y="314719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Relationship people icon stock vector. Illustration of relationships -  157100916">
            <a:extLst>
              <a:ext uri="{FF2B5EF4-FFF2-40B4-BE49-F238E27FC236}">
                <a16:creationId xmlns:a16="http://schemas.microsoft.com/office/drawing/2014/main" id="{ABCEFEC3-ACB8-9651-DCBA-ED25D9011A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42"/>
          <a:stretch/>
        </p:blipFill>
        <p:spPr bwMode="auto">
          <a:xfrm>
            <a:off x="741522" y="2604303"/>
            <a:ext cx="4600314" cy="3676455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" name="Rectangle 193">
            <a:extLst>
              <a:ext uri="{FF2B5EF4-FFF2-40B4-BE49-F238E27FC236}">
                <a16:creationId xmlns:a16="http://schemas.microsoft.com/office/drawing/2014/main" id="{9DC011D4-C95F-4B2E-9A3C-A46DCDE9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8584" y="447363"/>
            <a:ext cx="734141" cy="734141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415727-B75A-16F5-A102-39FFD0D25A2D}"/>
              </a:ext>
            </a:extLst>
          </p:cNvPr>
          <p:cNvSpPr txBox="1"/>
          <p:nvPr/>
        </p:nvSpPr>
        <p:spPr>
          <a:xfrm>
            <a:off x="982054" y="643468"/>
            <a:ext cx="4840010" cy="10957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highlight>
                  <a:schemeClr val="lt1"/>
                </a:highlight>
                <a:sym typeface="Lora"/>
              </a:rPr>
              <a:t>What causes some people to be vulnerable to power attempts?</a:t>
            </a:r>
            <a:endParaRPr lang="en-US" sz="3200" dirty="0"/>
          </a:p>
        </p:txBody>
      </p:sp>
      <p:sp>
        <p:nvSpPr>
          <p:cNvPr id="27" name="Google Shape;185;ge69c430548_0_3">
            <a:extLst>
              <a:ext uri="{FF2B5EF4-FFF2-40B4-BE49-F238E27FC236}">
                <a16:creationId xmlns:a16="http://schemas.microsoft.com/office/drawing/2014/main" id="{7FE904F2-E43B-94EF-40C3-725D37C1EE93}"/>
              </a:ext>
            </a:extLst>
          </p:cNvPr>
          <p:cNvSpPr txBox="1">
            <a:spLocks/>
          </p:cNvSpPr>
          <p:nvPr/>
        </p:nvSpPr>
        <p:spPr>
          <a:xfrm>
            <a:off x="5614448" y="2261643"/>
            <a:ext cx="6577552" cy="426411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dirty="0"/>
              <a:t>The nature of the relationship between A and B can be a factor in power dependence. </a:t>
            </a:r>
          </a:p>
          <a:p>
            <a:pPr>
              <a:spcBef>
                <a:spcPts val="1200"/>
              </a:spcBef>
              <a:buSzPct val="100000"/>
            </a:pPr>
            <a:r>
              <a:rPr lang="en-US" dirty="0"/>
              <a:t>Are A and B peers or superior and subordinate? </a:t>
            </a:r>
            <a:endParaRPr lang="vi-VN" dirty="0"/>
          </a:p>
          <a:p>
            <a:pPr>
              <a:spcBef>
                <a:spcPts val="1200"/>
              </a:spcBef>
              <a:buSzPct val="100000"/>
            </a:pPr>
            <a:r>
              <a:rPr lang="en-US" dirty="0"/>
              <a:t>Is the job permanent or temporary? </a:t>
            </a:r>
          </a:p>
          <a:p>
            <a:pPr marL="0" indent="0">
              <a:spcBef>
                <a:spcPts val="1200"/>
              </a:spcBef>
              <a:buSzPct val="100000"/>
              <a:buNone/>
            </a:pPr>
            <a:r>
              <a:rPr lang="en-US" sz="2400" i="1" dirty="0"/>
              <a:t>A person on a temporary job, for example, may feel less pressure to comply because he will not be in the position for long.</a:t>
            </a:r>
          </a:p>
        </p:txBody>
      </p:sp>
      <p:sp>
        <p:nvSpPr>
          <p:cNvPr id="28" name="Google Shape;184;ge69c430548_0_3">
            <a:extLst>
              <a:ext uri="{FF2B5EF4-FFF2-40B4-BE49-F238E27FC236}">
                <a16:creationId xmlns:a16="http://schemas.microsoft.com/office/drawing/2014/main" id="{C37527AC-1A88-6A65-2F5D-80632529F6A0}"/>
              </a:ext>
            </a:extLst>
          </p:cNvPr>
          <p:cNvSpPr txBox="1">
            <a:spLocks/>
          </p:cNvSpPr>
          <p:nvPr/>
        </p:nvSpPr>
        <p:spPr>
          <a:xfrm>
            <a:off x="5568148" y="1443389"/>
            <a:ext cx="4449768" cy="70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>
              <a:defRPr lang="en-US"/>
            </a:defPPr>
            <a:lvl1pPr marL="101600" indent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None/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l"/>
            <a:r>
              <a:rPr lang="en-US" b="1" dirty="0">
                <a:solidFill>
                  <a:schemeClr val="accent4"/>
                </a:solidFill>
              </a:rPr>
              <a:t>Nature of Relationship</a:t>
            </a:r>
          </a:p>
        </p:txBody>
      </p:sp>
    </p:spTree>
    <p:extLst>
      <p:ext uri="{BB962C8B-B14F-4D97-AF65-F5344CB8AC3E}">
        <p14:creationId xmlns:p14="http://schemas.microsoft.com/office/powerpoint/2010/main" val="255297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oogle Shape;205;p11" descr="Chart, line chart&#10;&#10;Description automatically generated">
            <a:extLst>
              <a:ext uri="{FF2B5EF4-FFF2-40B4-BE49-F238E27FC236}">
                <a16:creationId xmlns:a16="http://schemas.microsoft.com/office/drawing/2014/main" id="{A9E08585-9AC7-7FEB-2197-B29A2C6ADC81}"/>
              </a:ext>
            </a:extLst>
          </p:cNvPr>
          <p:cNvPicPr preferRelativeResize="0"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7818" y="1747777"/>
            <a:ext cx="6017358" cy="3275636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1498AD-5306-4E9B-17C7-315253CE559B}"/>
              </a:ext>
            </a:extLst>
          </p:cNvPr>
          <p:cNvSpPr txBox="1"/>
          <p:nvPr/>
        </p:nvSpPr>
        <p:spPr>
          <a:xfrm>
            <a:off x="633593" y="1728555"/>
            <a:ext cx="4840010" cy="10957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highlight>
                  <a:schemeClr val="lt1"/>
                </a:highlight>
                <a:sym typeface="Lora"/>
              </a:rPr>
              <a:t>What causes some people to be vulnerable to power attempts?</a:t>
            </a:r>
            <a:endParaRPr lang="en-US" sz="3200" dirty="0"/>
          </a:p>
        </p:txBody>
      </p:sp>
      <p:sp>
        <p:nvSpPr>
          <p:cNvPr id="16" name="Google Shape;184;ge69c430548_0_3">
            <a:extLst>
              <a:ext uri="{FF2B5EF4-FFF2-40B4-BE49-F238E27FC236}">
                <a16:creationId xmlns:a16="http://schemas.microsoft.com/office/drawing/2014/main" id="{D08AA658-6A63-E3DC-6450-BB8127EE4F17}"/>
              </a:ext>
            </a:extLst>
          </p:cNvPr>
          <p:cNvSpPr txBox="1">
            <a:spLocks/>
          </p:cNvSpPr>
          <p:nvPr/>
        </p:nvSpPr>
        <p:spPr>
          <a:xfrm>
            <a:off x="2083073" y="3047320"/>
            <a:ext cx="3424839" cy="70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>
              <a:defRPr lang="en-US"/>
            </a:defPPr>
            <a:lvl1pPr marL="10160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None/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r"/>
            <a:r>
              <a:rPr lang="en-US" b="1" dirty="0">
                <a:solidFill>
                  <a:schemeClr val="accent4"/>
                </a:solidFill>
              </a:rPr>
              <a:t>Counterpower</a:t>
            </a:r>
          </a:p>
        </p:txBody>
      </p:sp>
      <p:sp>
        <p:nvSpPr>
          <p:cNvPr id="18" name="Google Shape;185;ge69c430548_0_3">
            <a:extLst>
              <a:ext uri="{FF2B5EF4-FFF2-40B4-BE49-F238E27FC236}">
                <a16:creationId xmlns:a16="http://schemas.microsoft.com/office/drawing/2014/main" id="{6CD737ED-4D58-EAB5-05B6-C505126985D4}"/>
              </a:ext>
            </a:extLst>
          </p:cNvPr>
          <p:cNvSpPr txBox="1">
            <a:spLocks/>
          </p:cNvSpPr>
          <p:nvPr/>
        </p:nvSpPr>
        <p:spPr>
          <a:xfrm>
            <a:off x="667903" y="3696898"/>
            <a:ext cx="4840010" cy="25221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2800" dirty="0"/>
              <a:t>B has other sources of power to buffer the effects of A’s power. For example, if B is unionized, the union’s power may serve to negate A’s influence attempts.</a:t>
            </a:r>
          </a:p>
        </p:txBody>
      </p:sp>
    </p:spTree>
    <p:extLst>
      <p:ext uri="{BB962C8B-B14F-4D97-AF65-F5344CB8AC3E}">
        <p14:creationId xmlns:p14="http://schemas.microsoft.com/office/powerpoint/2010/main" val="335293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 descr="Low angle view of lightning against cloudy sky at dusk">
            <a:extLst>
              <a:ext uri="{FF2B5EF4-FFF2-40B4-BE49-F238E27FC236}">
                <a16:creationId xmlns:a16="http://schemas.microsoft.com/office/drawing/2014/main" id="{317853D2-F5DD-DF18-BD91-CF0D366D54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1" t="8123" b="700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210;p12">
            <a:extLst>
              <a:ext uri="{FF2B5EF4-FFF2-40B4-BE49-F238E27FC236}">
                <a16:creationId xmlns:a16="http://schemas.microsoft.com/office/drawing/2014/main" id="{50599208-FFB7-D2A5-F612-B6ED0D1CB99C}"/>
              </a:ext>
            </a:extLst>
          </p:cNvPr>
          <p:cNvSpPr txBox="1">
            <a:spLocks/>
          </p:cNvSpPr>
          <p:nvPr/>
        </p:nvSpPr>
        <p:spPr>
          <a:xfrm>
            <a:off x="6215604" y="365125"/>
            <a:ext cx="5034987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  <a:buClr>
                <a:srgbClr val="FFFFFF"/>
              </a:buClr>
              <a:buSzPts val="3600"/>
            </a:pPr>
            <a:r>
              <a:rPr lang="en-US" sz="3200" b="1" dirty="0"/>
              <a:t>Uses of Power: Common </a:t>
            </a:r>
            <a:r>
              <a:rPr lang="en-US" sz="3200" b="1" dirty="0">
                <a:solidFill>
                  <a:srgbClr val="7030A0"/>
                </a:solidFill>
              </a:rPr>
              <a:t>Power Tactics in Organizations </a:t>
            </a:r>
            <a:endParaRPr lang="en-US" sz="32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" name="Google Shape;211;p12">
            <a:extLst>
              <a:ext uri="{FF2B5EF4-FFF2-40B4-BE49-F238E27FC236}">
                <a16:creationId xmlns:a16="http://schemas.microsoft.com/office/drawing/2014/main" id="{E01806DB-61F6-4725-012E-9EAF782AA3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953351"/>
              </p:ext>
            </p:extLst>
          </p:nvPr>
        </p:nvGraphicFramePr>
        <p:xfrm>
          <a:off x="5803739" y="1825625"/>
          <a:ext cx="544685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258C7CD-E417-B66F-D450-E204A61D3B7C}"/>
              </a:ext>
            </a:extLst>
          </p:cNvPr>
          <p:cNvSpPr txBox="1"/>
          <p:nvPr/>
        </p:nvSpPr>
        <p:spPr>
          <a:xfrm>
            <a:off x="628902" y="1690688"/>
            <a:ext cx="4823749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5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It is easy to see manifestations of power almost anywhere. In fact, there are a wide variety of power-based methods used to influence others.</a:t>
            </a:r>
          </a:p>
          <a:p>
            <a:pPr algn="r"/>
            <a:endParaRPr lang="en-US" sz="2500" b="0" i="0" u="none" strike="noStrike" baseline="0" dirty="0">
              <a:solidFill>
                <a:srgbClr val="000000"/>
              </a:solidFill>
              <a:latin typeface="Lora" pitchFamily="2" charset="0"/>
            </a:endParaRPr>
          </a:p>
          <a:p>
            <a:pPr algn="r"/>
            <a:r>
              <a:rPr lang="en-US" sz="2500" dirty="0">
                <a:solidFill>
                  <a:srgbClr val="000000"/>
                </a:solidFill>
                <a:latin typeface="Lora" pitchFamily="2" charset="0"/>
              </a:rPr>
              <a:t>W</a:t>
            </a:r>
            <a:r>
              <a:rPr lang="en-US" sz="25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e will </a:t>
            </a:r>
            <a:r>
              <a:rPr lang="en-US" sz="25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Lora" pitchFamily="2" charset="0"/>
              </a:rPr>
              <a:t>examine two aspects of the use of power: </a:t>
            </a:r>
            <a:r>
              <a:rPr lang="en-US" sz="25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commonly used </a:t>
            </a:r>
            <a:r>
              <a:rPr lang="en-US" sz="2500" b="1" i="0" u="none" strike="noStrike" baseline="0" dirty="0">
                <a:solidFill>
                  <a:srgbClr val="000000"/>
                </a:solidFill>
                <a:latin typeface="Lora" pitchFamily="2" charset="0"/>
              </a:rPr>
              <a:t>power tactics </a:t>
            </a:r>
            <a:r>
              <a:rPr lang="en-US" sz="25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and the </a:t>
            </a:r>
            <a:r>
              <a:rPr lang="en-US" sz="2500" b="1" i="0" u="none" strike="noStrike" baseline="0" dirty="0">
                <a:solidFill>
                  <a:srgbClr val="000000"/>
                </a:solidFill>
                <a:latin typeface="Lora" pitchFamily="2" charset="0"/>
              </a:rPr>
              <a:t>ethical use of power</a:t>
            </a:r>
            <a:r>
              <a:rPr lang="en-US" sz="25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. 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78546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5A905DA-B0C1-474D-9EE2-28CBEAD58D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graphicEl>
                                              <a:dgm id="{D5A905DA-B0C1-474D-9EE2-28CBEAD58D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graphicEl>
                                              <a:dgm id="{D5A905DA-B0C1-474D-9EE2-28CBEAD58D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graphicEl>
                                              <a:dgm id="{D5A905DA-B0C1-474D-9EE2-28CBEAD58D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01B40ED-FFBC-4CCA-ACD6-2A5011F9D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graphicEl>
                                              <a:dgm id="{801B40ED-FFBC-4CCA-ACD6-2A5011F9D1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graphicEl>
                                              <a:dgm id="{801B40ED-FFBC-4CCA-ACD6-2A5011F9D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>
                                            <p:graphicEl>
                                              <a:dgm id="{801B40ED-FFBC-4CCA-ACD6-2A5011F9D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A0578CE-DD0E-40AF-B451-0B7533BE95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>
                                            <p:graphicEl>
                                              <a:dgm id="{FA0578CE-DD0E-40AF-B451-0B7533BE95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graphicEl>
                                              <a:dgm id="{FA0578CE-DD0E-40AF-B451-0B7533BE95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graphicEl>
                                              <a:dgm id="{FA0578CE-DD0E-40AF-B451-0B7533BE95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E181C41-7ED5-45E9-9725-FC08027341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graphicEl>
                                              <a:dgm id="{4E181C41-7ED5-45E9-9725-FC08027341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graphicEl>
                                              <a:dgm id="{4E181C41-7ED5-45E9-9725-FC08027341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graphicEl>
                                              <a:dgm id="{4E181C41-7ED5-45E9-9725-FC08027341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1E55351-FEAC-437E-9EC2-0F1BFB3C70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>
                                            <p:graphicEl>
                                              <a:dgm id="{71E55351-FEAC-437E-9EC2-0F1BFB3C70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graphicEl>
                                              <a:dgm id="{71E55351-FEAC-437E-9EC2-0F1BFB3C70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graphicEl>
                                              <a:dgm id="{71E55351-FEAC-437E-9EC2-0F1BFB3C70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4124AFD-1FA6-4E0D-8328-081613D85E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graphicEl>
                                              <a:dgm id="{44124AFD-1FA6-4E0D-8328-081613D85E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graphicEl>
                                              <a:dgm id="{44124AFD-1FA6-4E0D-8328-081613D85E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graphicEl>
                                              <a:dgm id="{44124AFD-1FA6-4E0D-8328-081613D85E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AD4E6A1-FF5E-498D-9C89-EEB746E051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>
                                            <p:graphicEl>
                                              <a:dgm id="{8AD4E6A1-FF5E-498D-9C89-EEB746E051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graphicEl>
                                              <a:dgm id="{8AD4E6A1-FF5E-498D-9C89-EEB746E051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graphicEl>
                                              <a:dgm id="{8AD4E6A1-FF5E-498D-9C89-EEB746E051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CF1B511-D69F-4EF3-8720-9A8D886C6C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>
                                            <p:graphicEl>
                                              <a:dgm id="{0CF1B511-D69F-4EF3-8720-9A8D886C6C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>
                                            <p:graphicEl>
                                              <a:dgm id="{0CF1B511-D69F-4EF3-8720-9A8D886C6C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graphicEl>
                                              <a:dgm id="{0CF1B511-D69F-4EF3-8720-9A8D886C6C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6C8702E-E99D-430C-8D00-62F81C31C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>
                                            <p:graphicEl>
                                              <a:dgm id="{96C8702E-E99D-430C-8D00-62F81C31CD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>
                                            <p:graphicEl>
                                              <a:dgm id="{96C8702E-E99D-430C-8D00-62F81C31C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graphicEl>
                                              <a:dgm id="{96C8702E-E99D-430C-8D00-62F81C31C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CB6B298-4EF3-4B36-A597-66FC34307D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">
                                            <p:graphicEl>
                                              <a:dgm id="{DCB6B298-4EF3-4B36-A597-66FC34307D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>
                                            <p:graphicEl>
                                              <a:dgm id="{DCB6B298-4EF3-4B36-A597-66FC34307D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>
                                            <p:graphicEl>
                                              <a:dgm id="{DCB6B298-4EF3-4B36-A597-66FC34307D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2BE7E2B-7DB9-465F-BEB2-359D7F5D54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>
                                            <p:graphicEl>
                                              <a:dgm id="{E2BE7E2B-7DB9-465F-BEB2-359D7F5D54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>
                                            <p:graphicEl>
                                              <a:dgm id="{E2BE7E2B-7DB9-465F-BEB2-359D7F5D54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>
                                            <p:graphicEl>
                                              <a:dgm id="{E2BE7E2B-7DB9-465F-BEB2-359D7F5D54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9860E9A-65DE-4177-9C74-9E68FEBE82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9">
                                            <p:graphicEl>
                                              <a:dgm id="{09860E9A-65DE-4177-9C74-9E68FEBE82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">
                                            <p:graphicEl>
                                              <a:dgm id="{09860E9A-65DE-4177-9C74-9E68FEBE82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">
                                            <p:graphicEl>
                                              <a:dgm id="{09860E9A-65DE-4177-9C74-9E68FEBE82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6E6B5C5-E0A1-46BB-91F5-A3ECE9624A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9">
                                            <p:graphicEl>
                                              <a:dgm id="{26E6B5C5-E0A1-46BB-91F5-A3ECE9624A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>
                                            <p:graphicEl>
                                              <a:dgm id="{26E6B5C5-E0A1-46BB-91F5-A3ECE9624A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">
                                            <p:graphicEl>
                                              <a:dgm id="{26E6B5C5-E0A1-46BB-91F5-A3ECE9624A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11A9DD9-1954-4C8C-B76C-A883EF7E55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">
                                            <p:graphicEl>
                                              <a:dgm id="{D11A9DD9-1954-4C8C-B76C-A883EF7E55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">
                                            <p:graphicEl>
                                              <a:dgm id="{D11A9DD9-1954-4C8C-B76C-A883EF7E55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">
                                            <p:graphicEl>
                                              <a:dgm id="{D11A9DD9-1954-4C8C-B76C-A883EF7E55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9" grpId="0">
        <p:bldSub>
          <a:bldDgm bld="lvl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16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16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22" name="Picture 2" descr="39 Logo Ideas | ? logo, logo design, graphic design logo">
            <a:extLst>
              <a:ext uri="{FF2B5EF4-FFF2-40B4-BE49-F238E27FC236}">
                <a16:creationId xmlns:a16="http://schemas.microsoft.com/office/drawing/2014/main" id="{C2C77578-BC41-42B3-887C-C80BDC296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8141" y="2453688"/>
            <a:ext cx="3629478" cy="2936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054FD28-23A8-4977-9351-B9685FA7684E}"/>
              </a:ext>
            </a:extLst>
          </p:cNvPr>
          <p:cNvSpPr txBox="1"/>
          <p:nvPr/>
        </p:nvSpPr>
        <p:spPr>
          <a:xfrm>
            <a:off x="4977114" y="2174333"/>
            <a:ext cx="68309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b="1" u="none" strike="noStrike" baseline="0" dirty="0">
                <a:solidFill>
                  <a:srgbClr val="000000"/>
                </a:solidFill>
                <a:latin typeface="Lora" pitchFamily="2" charset="0"/>
              </a:rPr>
              <a:t>Basis of power:</a:t>
            </a:r>
            <a:r>
              <a:rPr lang="en-US" sz="2800" b="1" dirty="0">
                <a:solidFill>
                  <a:srgbClr val="000000"/>
                </a:solidFill>
                <a:latin typeface="Lora" pitchFamily="2" charset="0"/>
              </a:rPr>
              <a:t> </a:t>
            </a:r>
            <a:r>
              <a:rPr lang="en-US" sz="2800" b="1" u="none" strike="noStrike" baseline="0" dirty="0">
                <a:solidFill>
                  <a:srgbClr val="7030A0"/>
                </a:solidFill>
                <a:latin typeface="Lora" pitchFamily="2" charset="0"/>
              </a:rPr>
              <a:t>Referent power	</a:t>
            </a:r>
          </a:p>
          <a:p>
            <a:pPr>
              <a:spcBef>
                <a:spcPts val="600"/>
              </a:spcBef>
            </a:pPr>
            <a:endParaRPr lang="en-US" sz="1200" b="1" i="1" u="none" strike="noStrike" baseline="0" dirty="0">
              <a:solidFill>
                <a:srgbClr val="000000"/>
              </a:solidFill>
              <a:latin typeface="Lora" pitchFamily="2" charset="0"/>
            </a:endParaRPr>
          </a:p>
          <a:p>
            <a:pPr>
              <a:spcBef>
                <a:spcPts val="600"/>
              </a:spcBef>
            </a:pPr>
            <a:r>
              <a:rPr lang="en-US" sz="2800" b="1" i="1" u="none" strike="noStrike" baseline="0" dirty="0">
                <a:solidFill>
                  <a:srgbClr val="000000"/>
                </a:solidFill>
                <a:latin typeface="Lora" pitchFamily="2" charset="0"/>
              </a:rPr>
              <a:t>Guidelines for Use: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	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Treat subordinates fairly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Defend subordinates’ interests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Be sensitive to subordinates’ needs, feelings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Select subordinates similar to oneself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Engage in role modeling </a:t>
            </a:r>
          </a:p>
          <a:p>
            <a:pPr>
              <a:spcBef>
                <a:spcPts val="600"/>
              </a:spcBef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	</a:t>
            </a:r>
          </a:p>
        </p:txBody>
      </p:sp>
      <p:sp>
        <p:nvSpPr>
          <p:cNvPr id="17" name="Google Shape;210;p12">
            <a:extLst>
              <a:ext uri="{FF2B5EF4-FFF2-40B4-BE49-F238E27FC236}">
                <a16:creationId xmlns:a16="http://schemas.microsoft.com/office/drawing/2014/main" id="{217E6CE9-B5BC-8AC1-783B-ADE6C0001C3F}"/>
              </a:ext>
            </a:extLst>
          </p:cNvPr>
          <p:cNvSpPr txBox="1">
            <a:spLocks/>
          </p:cNvSpPr>
          <p:nvPr/>
        </p:nvSpPr>
        <p:spPr>
          <a:xfrm>
            <a:off x="2523282" y="750032"/>
            <a:ext cx="7774332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buClr>
                <a:srgbClr val="FFFFFF"/>
              </a:buClr>
              <a:buSzPts val="3600"/>
            </a:pPr>
            <a:r>
              <a:rPr lang="en-US" sz="4000" b="1" dirty="0"/>
              <a:t>Uses of Power: Ethical Use of Power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16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16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054FD28-23A8-4977-9351-B9685FA7684E}"/>
              </a:ext>
            </a:extLst>
          </p:cNvPr>
          <p:cNvSpPr txBox="1"/>
          <p:nvPr/>
        </p:nvSpPr>
        <p:spPr>
          <a:xfrm>
            <a:off x="4769182" y="1976857"/>
            <a:ext cx="68309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b="1" u="none" strike="noStrike" baseline="0" dirty="0">
                <a:solidFill>
                  <a:srgbClr val="000000"/>
                </a:solidFill>
                <a:latin typeface="Lora" pitchFamily="2" charset="0"/>
              </a:rPr>
              <a:t>Basis of power: </a:t>
            </a:r>
            <a:r>
              <a:rPr lang="en-US" sz="2800" b="1" dirty="0">
                <a:solidFill>
                  <a:srgbClr val="7030A0"/>
                </a:solidFill>
                <a:latin typeface="Lora" pitchFamily="2" charset="0"/>
              </a:rPr>
              <a:t>Expert power </a:t>
            </a:r>
            <a:r>
              <a:rPr lang="en-US" sz="1800" b="0" i="0" u="none" strike="noStrike" baseline="0" dirty="0">
                <a:solidFill>
                  <a:srgbClr val="7030A0"/>
                </a:solidFill>
                <a:latin typeface="Lora" pitchFamily="2" charset="0"/>
              </a:rPr>
              <a:t>	</a:t>
            </a:r>
          </a:p>
          <a:p>
            <a:pPr>
              <a:spcBef>
                <a:spcPts val="600"/>
              </a:spcBef>
            </a:pPr>
            <a:endParaRPr lang="en-US" sz="1400" b="1" i="1" u="none" strike="noStrike" baseline="0" dirty="0">
              <a:solidFill>
                <a:srgbClr val="000000"/>
              </a:solidFill>
              <a:latin typeface="Lora" pitchFamily="2" charset="0"/>
            </a:endParaRPr>
          </a:p>
          <a:p>
            <a:pPr>
              <a:spcBef>
                <a:spcPts val="600"/>
              </a:spcBef>
            </a:pPr>
            <a:r>
              <a:rPr lang="en-US" sz="2800" b="1" i="1" u="none" strike="noStrike" baseline="0" dirty="0">
                <a:solidFill>
                  <a:srgbClr val="000000"/>
                </a:solidFill>
                <a:latin typeface="Lora" pitchFamily="2" charset="0"/>
              </a:rPr>
              <a:t>Guidelines for Use</a:t>
            </a:r>
            <a:endParaRPr lang="en-US" sz="2000" b="0" i="0" u="none" strike="noStrike" baseline="0" dirty="0">
              <a:latin typeface="Lora" pitchFamily="2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Promote the image of expertise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Maintain credibility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Act confident and decisive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Keep informed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Recognize employee concerns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Avoid threatening subordinates’ self-esteem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	</a:t>
            </a:r>
          </a:p>
        </p:txBody>
      </p:sp>
      <p:sp>
        <p:nvSpPr>
          <p:cNvPr id="19" name="Google Shape;210;p12">
            <a:extLst>
              <a:ext uri="{FF2B5EF4-FFF2-40B4-BE49-F238E27FC236}">
                <a16:creationId xmlns:a16="http://schemas.microsoft.com/office/drawing/2014/main" id="{296940EC-38DB-563C-5B2B-71F831DDDB83}"/>
              </a:ext>
            </a:extLst>
          </p:cNvPr>
          <p:cNvSpPr txBox="1">
            <a:spLocks/>
          </p:cNvSpPr>
          <p:nvPr/>
        </p:nvSpPr>
        <p:spPr>
          <a:xfrm>
            <a:off x="2523282" y="750032"/>
            <a:ext cx="7774332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buClr>
                <a:srgbClr val="FFFFFF"/>
              </a:buClr>
              <a:buSzPts val="3600"/>
            </a:pPr>
            <a:r>
              <a:rPr lang="en-US" sz="4000" b="1" dirty="0"/>
              <a:t>Uses of Power: Ethical Use of Power</a:t>
            </a:r>
          </a:p>
        </p:txBody>
      </p:sp>
      <p:pic>
        <p:nvPicPr>
          <p:cNvPr id="18" name="Picture 2" descr="39 Logo Ideas | ? logo, logo design, graphic design logo">
            <a:extLst>
              <a:ext uri="{FF2B5EF4-FFF2-40B4-BE49-F238E27FC236}">
                <a16:creationId xmlns:a16="http://schemas.microsoft.com/office/drawing/2014/main" id="{ECB06B93-F72C-90A9-40AF-F92EC9BFC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1140" y="3043050"/>
            <a:ext cx="2815092" cy="227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836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16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16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054FD28-23A8-4977-9351-B9685FA7684E}"/>
              </a:ext>
            </a:extLst>
          </p:cNvPr>
          <p:cNvSpPr txBox="1"/>
          <p:nvPr/>
        </p:nvSpPr>
        <p:spPr>
          <a:xfrm>
            <a:off x="4427074" y="1773609"/>
            <a:ext cx="712059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b="1" u="none" strike="noStrike" baseline="0" dirty="0">
                <a:solidFill>
                  <a:srgbClr val="000000"/>
                </a:solidFill>
                <a:latin typeface="Lora" pitchFamily="2" charset="0"/>
              </a:rPr>
              <a:t>Basis of power: </a:t>
            </a:r>
            <a:r>
              <a:rPr lang="en-US" sz="2800" b="1" dirty="0">
                <a:solidFill>
                  <a:srgbClr val="7030A0"/>
                </a:solidFill>
                <a:latin typeface="Lora" pitchFamily="2" charset="0"/>
              </a:rPr>
              <a:t>Legitimate power</a:t>
            </a:r>
            <a:r>
              <a:rPr lang="en-US" b="0" u="none" strike="noStrike" baseline="0" dirty="0">
                <a:solidFill>
                  <a:srgbClr val="000000"/>
                </a:solidFill>
                <a:latin typeface="Lora" pitchFamily="2" charset="0"/>
              </a:rPr>
              <a:t>	</a:t>
            </a:r>
          </a:p>
          <a:p>
            <a:pPr>
              <a:spcBef>
                <a:spcPts val="600"/>
              </a:spcBef>
            </a:pPr>
            <a:endParaRPr lang="en-US" sz="1200" b="1" u="none" strike="noStrike" baseline="0" dirty="0">
              <a:solidFill>
                <a:srgbClr val="000000"/>
              </a:solidFill>
              <a:latin typeface="Lora" pitchFamily="2" charset="0"/>
            </a:endParaRPr>
          </a:p>
          <a:p>
            <a:r>
              <a:rPr lang="en-US" sz="2800" b="1" u="none" strike="noStrike" baseline="0" dirty="0">
                <a:solidFill>
                  <a:srgbClr val="000000"/>
                </a:solidFill>
                <a:latin typeface="Lora" pitchFamily="2" charset="0"/>
              </a:rPr>
              <a:t>Guidelines for Use</a:t>
            </a:r>
            <a:endParaRPr lang="en-US" sz="1100" b="0" i="0" u="none" strike="noStrike" baseline="0" dirty="0">
              <a:solidFill>
                <a:srgbClr val="000000"/>
              </a:solidFill>
              <a:latin typeface="Lor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Be cordial and polite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Be confident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Be clear and follow up to verify understanding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Make sure request is appropriate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Explain reasons for request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Follow proper channels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Exercise power regularly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Enforce compliance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Be sensitive to subordinates’ concerns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Lora" pitchFamily="2" charset="0"/>
              </a:rPr>
              <a:t>	</a:t>
            </a:r>
          </a:p>
        </p:txBody>
      </p:sp>
      <p:sp>
        <p:nvSpPr>
          <p:cNvPr id="18" name="Google Shape;210;p12">
            <a:extLst>
              <a:ext uri="{FF2B5EF4-FFF2-40B4-BE49-F238E27FC236}">
                <a16:creationId xmlns:a16="http://schemas.microsoft.com/office/drawing/2014/main" id="{10A7DCD3-EB08-6627-EF52-755D418CB603}"/>
              </a:ext>
            </a:extLst>
          </p:cNvPr>
          <p:cNvSpPr txBox="1">
            <a:spLocks/>
          </p:cNvSpPr>
          <p:nvPr/>
        </p:nvSpPr>
        <p:spPr>
          <a:xfrm>
            <a:off x="2523282" y="670199"/>
            <a:ext cx="7774332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buClr>
                <a:srgbClr val="FFFFFF"/>
              </a:buClr>
              <a:buSzPts val="3600"/>
            </a:pPr>
            <a:r>
              <a:rPr lang="en-US" sz="4000" b="1" dirty="0"/>
              <a:t>Uses of Power: Ethical Use of Power</a:t>
            </a:r>
          </a:p>
        </p:txBody>
      </p:sp>
      <p:pic>
        <p:nvPicPr>
          <p:cNvPr id="19" name="Picture 2" descr="39 Logo Ideas | ? logo, logo design, graphic design logo">
            <a:extLst>
              <a:ext uri="{FF2B5EF4-FFF2-40B4-BE49-F238E27FC236}">
                <a16:creationId xmlns:a16="http://schemas.microsoft.com/office/drawing/2014/main" id="{DC1E2AEB-6873-13A7-D5AC-611CA849D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1140" y="3043050"/>
            <a:ext cx="2815092" cy="227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25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16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16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054FD28-23A8-4977-9351-B9685FA7684E}"/>
              </a:ext>
            </a:extLst>
          </p:cNvPr>
          <p:cNvSpPr txBox="1"/>
          <p:nvPr/>
        </p:nvSpPr>
        <p:spPr>
          <a:xfrm>
            <a:off x="4852335" y="2164482"/>
            <a:ext cx="683095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b="1" u="none" strike="noStrike" baseline="0" dirty="0">
                <a:solidFill>
                  <a:srgbClr val="000000"/>
                </a:solidFill>
                <a:latin typeface="Lora" pitchFamily="2" charset="0"/>
              </a:rPr>
              <a:t>Basis of power: </a:t>
            </a:r>
            <a:r>
              <a:rPr lang="en-US" sz="2800" b="1" dirty="0">
                <a:solidFill>
                  <a:srgbClr val="7030A0"/>
                </a:solidFill>
                <a:latin typeface="Lora" pitchFamily="2" charset="0"/>
              </a:rPr>
              <a:t>	Reward power</a:t>
            </a:r>
          </a:p>
          <a:p>
            <a:pPr>
              <a:spcBef>
                <a:spcPts val="600"/>
              </a:spcBef>
            </a:pPr>
            <a:endParaRPr lang="en-US" sz="1100" b="0" u="none" strike="noStrike" baseline="0" dirty="0">
              <a:solidFill>
                <a:srgbClr val="000000"/>
              </a:solidFill>
              <a:latin typeface="Lora" pitchFamily="2" charset="0"/>
            </a:endParaRPr>
          </a:p>
          <a:p>
            <a:pPr>
              <a:spcBef>
                <a:spcPts val="600"/>
              </a:spcBef>
            </a:pPr>
            <a:r>
              <a:rPr lang="en-US" sz="2800" b="1" u="none" strike="noStrike" baseline="0" dirty="0">
                <a:solidFill>
                  <a:srgbClr val="000000"/>
                </a:solidFill>
                <a:latin typeface="Lora" pitchFamily="2" charset="0"/>
              </a:rPr>
              <a:t>Guidelines for Use</a:t>
            </a:r>
            <a:endParaRPr lang="en-US" sz="1800" b="0" u="none" strike="noStrike" baseline="0" dirty="0">
              <a:latin typeface="Lora" pitchFamily="2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Verify compliance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Make feasible, reasonable requests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Make only ethical, proper requests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Offer rewards desired by subordinates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Offer only credible rewards</a:t>
            </a:r>
            <a:r>
              <a:rPr lang="en-US" sz="2400" b="0" u="none" strike="noStrike" baseline="0" dirty="0">
                <a:solidFill>
                  <a:srgbClr val="000000"/>
                </a:solidFill>
                <a:latin typeface="Lora" pitchFamily="2" charset="0"/>
              </a:rPr>
              <a:t>	</a:t>
            </a:r>
          </a:p>
        </p:txBody>
      </p:sp>
      <p:sp>
        <p:nvSpPr>
          <p:cNvPr id="19" name="Google Shape;210;p12">
            <a:extLst>
              <a:ext uri="{FF2B5EF4-FFF2-40B4-BE49-F238E27FC236}">
                <a16:creationId xmlns:a16="http://schemas.microsoft.com/office/drawing/2014/main" id="{73D5D8D2-71FB-AEB8-178D-3368211C161E}"/>
              </a:ext>
            </a:extLst>
          </p:cNvPr>
          <p:cNvSpPr txBox="1">
            <a:spLocks/>
          </p:cNvSpPr>
          <p:nvPr/>
        </p:nvSpPr>
        <p:spPr>
          <a:xfrm>
            <a:off x="2523282" y="750032"/>
            <a:ext cx="7774332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buClr>
                <a:srgbClr val="FFFFFF"/>
              </a:buClr>
              <a:buSzPts val="3600"/>
            </a:pPr>
            <a:r>
              <a:rPr lang="en-US" sz="4000" b="1" dirty="0"/>
              <a:t>Uses of Power: Ethical Use of Power</a:t>
            </a:r>
          </a:p>
        </p:txBody>
      </p:sp>
      <p:pic>
        <p:nvPicPr>
          <p:cNvPr id="17" name="Picture 2" descr="39 Logo Ideas | ? logo, logo design, graphic design logo">
            <a:extLst>
              <a:ext uri="{FF2B5EF4-FFF2-40B4-BE49-F238E27FC236}">
                <a16:creationId xmlns:a16="http://schemas.microsoft.com/office/drawing/2014/main" id="{E8A61EF3-2859-DB39-4236-2DCBCE280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1140" y="3043050"/>
            <a:ext cx="2815092" cy="227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08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16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16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054FD28-23A8-4977-9351-B9685FA7684E}"/>
              </a:ext>
            </a:extLst>
          </p:cNvPr>
          <p:cNvSpPr txBox="1"/>
          <p:nvPr/>
        </p:nvSpPr>
        <p:spPr>
          <a:xfrm>
            <a:off x="4693837" y="1598403"/>
            <a:ext cx="6830950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b="1" u="none" strike="noStrike" baseline="0" dirty="0">
                <a:solidFill>
                  <a:srgbClr val="000000"/>
                </a:solidFill>
                <a:latin typeface="Lora" pitchFamily="2" charset="0"/>
              </a:rPr>
              <a:t>Basis of Power: </a:t>
            </a:r>
            <a:r>
              <a:rPr lang="en-US" sz="2800" b="1" dirty="0">
                <a:solidFill>
                  <a:srgbClr val="000000"/>
                </a:solidFill>
                <a:latin typeface="Lora" pitchFamily="2" charset="0"/>
              </a:rPr>
              <a:t>	</a:t>
            </a:r>
            <a:r>
              <a:rPr lang="en-US" sz="2800" b="1" dirty="0">
                <a:solidFill>
                  <a:srgbClr val="7030A0"/>
                </a:solidFill>
                <a:latin typeface="Lora" pitchFamily="2" charset="0"/>
              </a:rPr>
              <a:t>Coercive power </a:t>
            </a:r>
            <a:r>
              <a:rPr lang="en-US" sz="2800" b="1" dirty="0">
                <a:solidFill>
                  <a:srgbClr val="000000"/>
                </a:solidFill>
                <a:latin typeface="Lora" pitchFamily="2" charset="0"/>
              </a:rPr>
              <a:t>	</a:t>
            </a:r>
          </a:p>
          <a:p>
            <a:pPr>
              <a:spcBef>
                <a:spcPts val="600"/>
              </a:spcBef>
            </a:pPr>
            <a:endParaRPr lang="en-US" sz="1200" b="1" u="none" strike="noStrike" baseline="0" dirty="0">
              <a:solidFill>
                <a:srgbClr val="000000"/>
              </a:solidFill>
              <a:latin typeface="Lora" pitchFamily="2" charset="0"/>
            </a:endParaRPr>
          </a:p>
          <a:p>
            <a:pPr>
              <a:spcBef>
                <a:spcPts val="600"/>
              </a:spcBef>
            </a:pPr>
            <a:r>
              <a:rPr lang="en-US" sz="2800" b="1" u="none" strike="noStrike" baseline="0" dirty="0">
                <a:solidFill>
                  <a:srgbClr val="000000"/>
                </a:solidFill>
                <a:latin typeface="Lora" pitchFamily="2" charset="0"/>
              </a:rPr>
              <a:t>Guidelines for Use:</a:t>
            </a:r>
            <a:endParaRPr lang="en-US" sz="1800" b="0" u="none" strike="noStrike" baseline="0" dirty="0">
              <a:latin typeface="Lora" pitchFamily="2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Inform subordinates of rules and penalties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Warn before punishing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Administer punishment consistently and uniformly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Understand the situation before acting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Maintain credibility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Fit punishment to the infraction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Lora" pitchFamily="2" charset="0"/>
              </a:rPr>
              <a:t>Punish in private</a:t>
            </a:r>
          </a:p>
        </p:txBody>
      </p:sp>
      <p:sp>
        <p:nvSpPr>
          <p:cNvPr id="17" name="Google Shape;210;p12">
            <a:extLst>
              <a:ext uri="{FF2B5EF4-FFF2-40B4-BE49-F238E27FC236}">
                <a16:creationId xmlns:a16="http://schemas.microsoft.com/office/drawing/2014/main" id="{5C23D866-145B-2EAE-4410-57B2709D24DF}"/>
              </a:ext>
            </a:extLst>
          </p:cNvPr>
          <p:cNvSpPr txBox="1">
            <a:spLocks/>
          </p:cNvSpPr>
          <p:nvPr/>
        </p:nvSpPr>
        <p:spPr>
          <a:xfrm>
            <a:off x="2523282" y="442894"/>
            <a:ext cx="7774332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buClr>
                <a:srgbClr val="FFFFFF"/>
              </a:buClr>
              <a:buSzPts val="3600"/>
            </a:pPr>
            <a:r>
              <a:rPr lang="en-US" sz="4000" b="1" dirty="0"/>
              <a:t>Uses of Power: Ethical Use of Power</a:t>
            </a:r>
          </a:p>
        </p:txBody>
      </p:sp>
      <p:pic>
        <p:nvPicPr>
          <p:cNvPr id="21" name="Picture 2" descr="39 Logo Ideas | ? logo, logo design, graphic design logo">
            <a:extLst>
              <a:ext uri="{FF2B5EF4-FFF2-40B4-BE49-F238E27FC236}">
                <a16:creationId xmlns:a16="http://schemas.microsoft.com/office/drawing/2014/main" id="{A61A66BF-E336-70E6-E6C1-2C95786A6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1140" y="3043050"/>
            <a:ext cx="2815092" cy="227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91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0" name="Rectangle 17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Google Shape;236;ge7b2696bf1_0_8"/>
          <p:cNvSpPr txBox="1">
            <a:spLocks noGrp="1"/>
          </p:cNvSpPr>
          <p:nvPr>
            <p:ph type="title"/>
          </p:nvPr>
        </p:nvSpPr>
        <p:spPr>
          <a:xfrm>
            <a:off x="1120953" y="388274"/>
            <a:ext cx="5251316" cy="1807305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ym typeface="Lora"/>
              </a:rPr>
              <a:t>Reflection Question</a:t>
            </a:r>
            <a:endParaRPr lang="en-US" b="1" dirty="0"/>
          </a:p>
        </p:txBody>
      </p:sp>
      <p:sp>
        <p:nvSpPr>
          <p:cNvPr id="237" name="Google Shape;237;ge7b2696bf1_0_8"/>
          <p:cNvSpPr txBox="1">
            <a:spLocks noGrp="1"/>
          </p:cNvSpPr>
          <p:nvPr>
            <p:ph idx="1"/>
          </p:nvPr>
        </p:nvSpPr>
        <p:spPr>
          <a:xfrm>
            <a:off x="409484" y="1940977"/>
            <a:ext cx="5962785" cy="3843666"/>
          </a:xfrm>
          <a:prstGeom prst="rect">
            <a:avLst/>
          </a:prstGeom>
        </p:spPr>
        <p:txBody>
          <a:bodyPr spcFirstLastPara="1" lIns="91425" tIns="45700" rIns="91425" bIns="45700" anchorCtr="0">
            <a:normAutofit fontScale="92500"/>
          </a:bodyPr>
          <a:lstStyle/>
          <a:p>
            <a:pPr marL="457200" lvl="0" indent="0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  <a:sym typeface="Lora"/>
              </a:rPr>
              <a:t>When you first joined your group,</a:t>
            </a:r>
          </a:p>
          <a:p>
            <a:pPr marL="1028700" lvl="0" indent="-571500" rtl="0">
              <a:spcBef>
                <a:spcPts val="1400"/>
              </a:spcBef>
              <a:spcAft>
                <a:spcPts val="0"/>
              </a:spcAft>
              <a:buFontTx/>
              <a:buChar char="-"/>
            </a:pPr>
            <a:r>
              <a:rPr lang="en-US" sz="3600" dirty="0">
                <a:latin typeface="+mj-lt"/>
                <a:sym typeface="Lora"/>
              </a:rPr>
              <a:t>What assumptions did you make about the status of different members?</a:t>
            </a:r>
          </a:p>
          <a:p>
            <a:pPr marL="1028700" lvl="0" indent="-571500" rtl="0">
              <a:spcBef>
                <a:spcPts val="1400"/>
              </a:spcBef>
              <a:spcAft>
                <a:spcPts val="0"/>
              </a:spcAft>
              <a:buFontTx/>
              <a:buChar char="-"/>
            </a:pPr>
            <a:r>
              <a:rPr lang="en-US" sz="3600" dirty="0">
                <a:latin typeface="+mj-lt"/>
                <a:sym typeface="Lora"/>
              </a:rPr>
              <a:t>Where did those assumptions come from?</a:t>
            </a:r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None/>
            </a:pPr>
            <a:endParaRPr lang="en-US" sz="3600" dirty="0">
              <a:latin typeface="+mj-lt"/>
            </a:endParaRPr>
          </a:p>
        </p:txBody>
      </p:sp>
      <p:pic>
        <p:nvPicPr>
          <p:cNvPr id="239" name="Picture 238" descr="Different coloured question marks">
            <a:extLst>
              <a:ext uri="{FF2B5EF4-FFF2-40B4-BE49-F238E27FC236}">
                <a16:creationId xmlns:a16="http://schemas.microsoft.com/office/drawing/2014/main" id="{63727528-43EE-4341-85BD-0D1B49B044E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583" r="24685" b="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Q&amp;A, Part 6">
            <a:extLst>
              <a:ext uri="{FF2B5EF4-FFF2-40B4-BE49-F238E27FC236}">
                <a16:creationId xmlns:a16="http://schemas.microsoft.com/office/drawing/2014/main" id="{3A0C96E0-B42D-765B-7F78-DB6452C26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51" r="-1" b="11502"/>
          <a:stretch/>
        </p:blipFill>
        <p:spPr bwMode="auto">
          <a:xfrm>
            <a:off x="1669474" y="10"/>
            <a:ext cx="10522527" cy="6857990"/>
          </a:xfrm>
          <a:custGeom>
            <a:avLst/>
            <a:gdLst/>
            <a:ahLst/>
            <a:cxnLst/>
            <a:rect l="l" t="t" r="r" b="b"/>
            <a:pathLst>
              <a:path w="10522527" h="6858000">
                <a:moveTo>
                  <a:pt x="2882142" y="0"/>
                </a:moveTo>
                <a:lnTo>
                  <a:pt x="10522527" y="0"/>
                </a:lnTo>
                <a:lnTo>
                  <a:pt x="10522527" y="6858000"/>
                </a:lnTo>
                <a:lnTo>
                  <a:pt x="80697" y="6858000"/>
                </a:lnTo>
                <a:lnTo>
                  <a:pt x="37339" y="6516785"/>
                </a:lnTo>
                <a:cubicBezTo>
                  <a:pt x="12648" y="6273664"/>
                  <a:pt x="0" y="6026982"/>
                  <a:pt x="0" y="5777347"/>
                </a:cubicBezTo>
                <a:cubicBezTo>
                  <a:pt x="0" y="3530630"/>
                  <a:pt x="1024495" y="1523197"/>
                  <a:pt x="2631803" y="19672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4" name="Arc 72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5" name="Oval 74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77221-9B7F-A1DA-E62E-E2CB160B787D}"/>
              </a:ext>
            </a:extLst>
          </p:cNvPr>
          <p:cNvSpPr txBox="1"/>
          <p:nvPr/>
        </p:nvSpPr>
        <p:spPr>
          <a:xfrm>
            <a:off x="190297" y="702885"/>
            <a:ext cx="29583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Q&amp;A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9F66C4-6400-F811-CA40-9A3F60AF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24238"/>
              </p:ext>
            </p:extLst>
          </p:nvPr>
        </p:nvGraphicFramePr>
        <p:xfrm>
          <a:off x="1129652" y="643467"/>
          <a:ext cx="10132515" cy="557106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132515">
                  <a:extLst>
                    <a:ext uri="{9D8B030D-6E8A-4147-A177-3AD203B41FA5}">
                      <a16:colId xmlns:a16="http://schemas.microsoft.com/office/drawing/2014/main" val="2243976760"/>
                    </a:ext>
                  </a:extLst>
                </a:gridCol>
              </a:tblGrid>
              <a:tr h="17644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4000" b="1" cap="none" spc="0" dirty="0">
                          <a:solidFill>
                            <a:schemeClr val="tx1"/>
                          </a:solidFill>
                          <a:effectLst/>
                        </a:rPr>
                        <a:t>When does a person obtain the expert power?</a:t>
                      </a:r>
                      <a:endParaRPr lang="en-US" sz="4000" b="1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61193" marR="183900" marT="46055" marB="34541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911596"/>
                  </a:ext>
                </a:extLst>
              </a:tr>
              <a:tr h="9516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000" cap="none" spc="0" dirty="0">
                          <a:solidFill>
                            <a:schemeClr val="tx1"/>
                          </a:solidFill>
                          <a:effectLst/>
                        </a:rPr>
                        <a:t>A. Person A has higher status than person B</a:t>
                      </a:r>
                      <a:endParaRPr lang="en-US" sz="30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61193" marR="183900" marT="46055" marB="34541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300645"/>
                  </a:ext>
                </a:extLst>
              </a:tr>
              <a:tr h="9516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000" cap="none" spc="0" dirty="0">
                          <a:solidFill>
                            <a:schemeClr val="tx1"/>
                          </a:solidFill>
                          <a:effectLst/>
                        </a:rPr>
                        <a:t>B. Person A has more expertise knowledge than person B</a:t>
                      </a:r>
                      <a:endParaRPr lang="en-US" sz="30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61193" marR="183900" marT="46055" marB="34541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254142"/>
                  </a:ext>
                </a:extLst>
              </a:tr>
              <a:tr h="9516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000" cap="none" spc="0" dirty="0">
                          <a:solidFill>
                            <a:schemeClr val="tx1"/>
                          </a:solidFill>
                          <a:effectLst/>
                        </a:rPr>
                        <a:t>C. Person A group is bigger than person B</a:t>
                      </a:r>
                      <a:endParaRPr lang="en-US" sz="30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61193" marR="183900" marT="46055" marB="34541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474922"/>
                  </a:ext>
                </a:extLst>
              </a:tr>
              <a:tr h="9516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000" cap="none" spc="0" dirty="0">
                          <a:solidFill>
                            <a:schemeClr val="tx1"/>
                          </a:solidFill>
                          <a:effectLst/>
                        </a:rPr>
                        <a:t>D. Person A has more friend than person B</a:t>
                      </a:r>
                      <a:endParaRPr lang="en-US" sz="30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61193" marR="183900" marT="46055" marB="345413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870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8965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8CCDA0-94A4-60AB-33E0-1EB2A355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31033"/>
              </p:ext>
            </p:extLst>
          </p:nvPr>
        </p:nvGraphicFramePr>
        <p:xfrm>
          <a:off x="643467" y="731801"/>
          <a:ext cx="10905066" cy="53944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905066">
                  <a:extLst>
                    <a:ext uri="{9D8B030D-6E8A-4147-A177-3AD203B41FA5}">
                      <a16:colId xmlns:a16="http://schemas.microsoft.com/office/drawing/2014/main" val="1511627096"/>
                    </a:ext>
                  </a:extLst>
                </a:gridCol>
              </a:tblGrid>
              <a:tr h="14497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b="1" cap="none" spc="0" dirty="0">
                          <a:solidFill>
                            <a:schemeClr val="tx1"/>
                          </a:solidFill>
                          <a:effectLst/>
                        </a:rPr>
                        <a:t>Which of the following idioms can be used to describe the relationship between power and oppression.</a:t>
                      </a:r>
                      <a:endParaRPr lang="en-US" sz="2800" b="1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129994" marT="51998" marB="389982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710254"/>
                  </a:ext>
                </a:extLst>
              </a:tr>
              <a:tr h="986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cap="none" spc="0" dirty="0">
                          <a:solidFill>
                            <a:schemeClr val="tx1"/>
                          </a:solidFill>
                          <a:effectLst/>
                        </a:rPr>
                        <a:t>A. A blessing in disguise	</a:t>
                      </a:r>
                      <a:endParaRPr lang="en-US" sz="28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129994" marT="51998" marB="3899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430400"/>
                  </a:ext>
                </a:extLst>
              </a:tr>
              <a:tr h="986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cap="none" spc="0" dirty="0">
                          <a:solidFill>
                            <a:schemeClr val="tx1"/>
                          </a:solidFill>
                          <a:effectLst/>
                        </a:rPr>
                        <a:t>B.The best of both worlds</a:t>
                      </a:r>
                      <a:endParaRPr lang="en-US" sz="28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129994" marT="51998" marB="3899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754739"/>
                  </a:ext>
                </a:extLst>
              </a:tr>
              <a:tr h="986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cap="none" spc="0" dirty="0">
                          <a:solidFill>
                            <a:schemeClr val="tx1"/>
                          </a:solidFill>
                          <a:effectLst/>
                        </a:rPr>
                        <a:t>C. Get out of hand</a:t>
                      </a:r>
                      <a:endParaRPr lang="en-US" sz="28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129994" marT="51998" marB="3899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05890"/>
                  </a:ext>
                </a:extLst>
              </a:tr>
              <a:tr h="986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cap="none" spc="0" dirty="0">
                          <a:solidFill>
                            <a:schemeClr val="tx1"/>
                          </a:solidFill>
                          <a:effectLst/>
                        </a:rPr>
                        <a:t>D. Two sides of the same coin</a:t>
                      </a:r>
                      <a:endParaRPr lang="en-US" sz="28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129994" marT="51998" marB="38998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13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5136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8CCDA0-94A4-60AB-33E0-1EB2A355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975230"/>
              </p:ext>
            </p:extLst>
          </p:nvPr>
        </p:nvGraphicFramePr>
        <p:xfrm>
          <a:off x="643467" y="731801"/>
          <a:ext cx="10905066" cy="572313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905066">
                  <a:extLst>
                    <a:ext uri="{9D8B030D-6E8A-4147-A177-3AD203B41FA5}">
                      <a16:colId xmlns:a16="http://schemas.microsoft.com/office/drawing/2014/main" val="1511627096"/>
                    </a:ext>
                  </a:extLst>
                </a:gridCol>
              </a:tblGrid>
              <a:tr h="14497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“Arises from our sense of connection, our bonding with other human beings, and with the environment” can be used to describe which type of power.</a:t>
                      </a:r>
                      <a:endParaRPr lang="vi-VN" sz="44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129994" marT="51998" marB="389982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710254"/>
                  </a:ext>
                </a:extLst>
              </a:tr>
              <a:tr h="98615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3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A. Power-from-within</a:t>
                      </a:r>
                      <a:endParaRPr lang="vi-VN" sz="5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19" marR="200819" marT="26194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430400"/>
                  </a:ext>
                </a:extLst>
              </a:tr>
              <a:tr h="98615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3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B. Power-with</a:t>
                      </a:r>
                      <a:endParaRPr lang="vi-VN" sz="5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19" marR="200819" marT="26194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754739"/>
                  </a:ext>
                </a:extLst>
              </a:tr>
              <a:tr h="98615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3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C. Power-over</a:t>
                      </a:r>
                      <a:endParaRPr lang="vi-VN" sz="5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19" marR="200819" marT="26194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05890"/>
                  </a:ext>
                </a:extLst>
              </a:tr>
              <a:tr h="986151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3300" b="0" i="0" u="none" strike="noStrik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D. None of these answers</a:t>
                      </a:r>
                      <a:endParaRPr lang="vi-VN" sz="5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19" marR="200819" marT="26194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13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0420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E92ED-A789-04EC-82C3-A70FF9950CC5}"/>
              </a:ext>
            </a:extLst>
          </p:cNvPr>
          <p:cNvSpPr txBox="1"/>
          <p:nvPr/>
        </p:nvSpPr>
        <p:spPr>
          <a:xfrm>
            <a:off x="400291" y="327830"/>
            <a:ext cx="11169409" cy="6202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i="1" dirty="0">
                <a:solidFill>
                  <a:srgbClr val="000000"/>
                </a:solidFill>
                <a:effectLst/>
                <a:latin typeface="Alegreya Sans"/>
              </a:rPr>
              <a:t>QUESTION :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/>
              </a:rPr>
              <a:t> You are the Project Manager of a project involving building a computer. Your team members follow what you tell them because you have the authority to provide negative feedback in their performance appraisal. This is an example of which type of power?</a:t>
            </a:r>
            <a:endParaRPr lang="vi-VN" sz="2800" b="1" i="0" dirty="0">
              <a:solidFill>
                <a:srgbClr val="000000"/>
              </a:solidFill>
              <a:effectLst/>
              <a:latin typeface="Quicksand"/>
            </a:endParaRPr>
          </a:p>
          <a:p>
            <a:pPr algn="l">
              <a:lnSpc>
                <a:spcPct val="150000"/>
              </a:lnSpc>
            </a:pPr>
            <a:endParaRPr lang="en-US" sz="2800" b="1" i="0" dirty="0">
              <a:solidFill>
                <a:srgbClr val="000000"/>
              </a:solidFill>
              <a:effectLst/>
              <a:latin typeface="Quicksand"/>
            </a:endParaRPr>
          </a:p>
          <a:p>
            <a:pPr algn="l">
              <a:lnSpc>
                <a:spcPct val="150000"/>
              </a:lnSpc>
            </a:pPr>
            <a:r>
              <a:rPr lang="en-US" sz="3200" b="0" i="0" dirty="0">
                <a:solidFill>
                  <a:srgbClr val="000000"/>
                </a:solidFill>
                <a:effectLst/>
                <a:latin typeface="Quicksand"/>
              </a:rPr>
              <a:t>A. </a:t>
            </a:r>
            <a:r>
              <a:rPr lang="vi-VN" sz="3200" b="0" i="0" dirty="0">
                <a:solidFill>
                  <a:srgbClr val="000000"/>
                </a:solidFill>
                <a:effectLst/>
                <a:latin typeface="Quicksand"/>
              </a:rPr>
              <a:t>Legitimate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Quicksand"/>
              </a:rPr>
            </a:br>
            <a:r>
              <a:rPr lang="en-US" sz="3200" b="0" i="0" dirty="0">
                <a:solidFill>
                  <a:srgbClr val="000000"/>
                </a:solidFill>
                <a:effectLst/>
                <a:latin typeface="Quicksand"/>
              </a:rPr>
              <a:t>B. Referent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Quicksand"/>
              </a:rPr>
            </a:br>
            <a:r>
              <a:rPr lang="en-US" sz="3200" b="0" i="0" dirty="0">
                <a:solidFill>
                  <a:srgbClr val="000000"/>
                </a:solidFill>
                <a:effectLst/>
                <a:latin typeface="Quicksand"/>
              </a:rPr>
              <a:t>C. </a:t>
            </a:r>
            <a:r>
              <a:rPr lang="vi-VN" sz="3200" b="0" i="0" dirty="0">
                <a:solidFill>
                  <a:srgbClr val="000000"/>
                </a:solidFill>
                <a:effectLst/>
                <a:latin typeface="Quicksand"/>
              </a:rPr>
              <a:t>Coercive</a:t>
            </a:r>
            <a:br>
              <a:rPr lang="en-US" sz="3200" b="0" i="0" dirty="0">
                <a:solidFill>
                  <a:srgbClr val="000000"/>
                </a:solidFill>
                <a:effectLst/>
                <a:latin typeface="Quicksand"/>
              </a:rPr>
            </a:br>
            <a:r>
              <a:rPr lang="en-US" sz="3200" b="0" i="0" dirty="0">
                <a:solidFill>
                  <a:srgbClr val="000000"/>
                </a:solidFill>
                <a:effectLst/>
                <a:latin typeface="Quicksand"/>
              </a:rPr>
              <a:t>D. Reward</a:t>
            </a:r>
          </a:p>
        </p:txBody>
      </p:sp>
    </p:spTree>
    <p:extLst>
      <p:ext uri="{BB962C8B-B14F-4D97-AF65-F5344CB8AC3E}">
        <p14:creationId xmlns:p14="http://schemas.microsoft.com/office/powerpoint/2010/main" val="3966277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</TotalTime>
  <Words>1642</Words>
  <Application>Microsoft Office PowerPoint</Application>
  <PresentationFormat>Widescreen</PresentationFormat>
  <Paragraphs>191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Alegreya Sans</vt:lpstr>
      <vt:lpstr>cabr</vt:lpstr>
      <vt:lpstr>Calibri (Body)</vt:lpstr>
      <vt:lpstr>Noto Sans Symbols</vt:lpstr>
      <vt:lpstr>Quicksand</vt:lpstr>
      <vt:lpstr>Arial</vt:lpstr>
      <vt:lpstr>Calibri</vt:lpstr>
      <vt:lpstr>Calibri Light</vt:lpstr>
      <vt:lpstr>Lora</vt:lpstr>
      <vt:lpstr>Times New Roman</vt:lpstr>
      <vt:lpstr>Tw Cen MT</vt:lpstr>
      <vt:lpstr>Office Theme</vt:lpstr>
      <vt:lpstr>1_Office Theme</vt:lpstr>
      <vt:lpstr>Group &amp; Team Theory</vt:lpstr>
      <vt:lpstr>PowerPoint Presentation</vt:lpstr>
      <vt:lpstr>Learning Objectives</vt:lpstr>
      <vt:lpstr>Learning Objectives</vt:lpstr>
      <vt:lpstr>Power in Teams and Groups</vt:lpstr>
      <vt:lpstr> Defining Power </vt:lpstr>
      <vt:lpstr> Defining Power </vt:lpstr>
      <vt:lpstr> Defining Power </vt:lpstr>
      <vt:lpstr> Defining Power </vt:lpstr>
      <vt:lpstr>PowerPoint Presentation</vt:lpstr>
      <vt:lpstr>UNDERSTANDING POWER AND OPPRESSION </vt:lpstr>
      <vt:lpstr>Relationship between Power and Status </vt:lpstr>
      <vt:lpstr>BASES OF POWER IN GROUPS</vt:lpstr>
      <vt:lpstr>Bases of Power in Groups</vt:lpstr>
      <vt:lpstr>Bases of Power in Groups</vt:lpstr>
      <vt:lpstr>PowerPoint Presentation</vt:lpstr>
      <vt:lpstr>PowerPoint Presentation</vt:lpstr>
      <vt:lpstr>PowerPoint Presentation</vt:lpstr>
      <vt:lpstr>Consequences of Power</vt:lpstr>
      <vt:lpstr>PowerPoint Presentation</vt:lpstr>
      <vt:lpstr>PowerPoint Presentation</vt:lpstr>
      <vt:lpstr>What causes some people to be vulnerable to power attempts?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Reflection Question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&amp; Team Theory</dc:title>
  <dc:creator>Admin</dc:creator>
  <cp:lastModifiedBy>Nguyen Nam Anh Tran</cp:lastModifiedBy>
  <cp:revision>96</cp:revision>
  <dcterms:created xsi:type="dcterms:W3CDTF">2021-08-02T08:42:03Z</dcterms:created>
  <dcterms:modified xsi:type="dcterms:W3CDTF">2023-02-17T01:14:05Z</dcterms:modified>
</cp:coreProperties>
</file>