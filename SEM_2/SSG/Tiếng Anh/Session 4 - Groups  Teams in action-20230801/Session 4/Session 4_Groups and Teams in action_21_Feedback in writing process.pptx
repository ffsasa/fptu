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54" r:id="rId1"/>
  </p:sldMasterIdLst>
  <p:notesMasterIdLst>
    <p:notesMasterId r:id="rId17"/>
  </p:notesMasterIdLst>
  <p:sldIdLst>
    <p:sldId id="256" r:id="rId2"/>
    <p:sldId id="257" r:id="rId3"/>
    <p:sldId id="258" r:id="rId4"/>
    <p:sldId id="296" r:id="rId5"/>
    <p:sldId id="297" r:id="rId6"/>
    <p:sldId id="279" r:id="rId7"/>
    <p:sldId id="298" r:id="rId8"/>
    <p:sldId id="299" r:id="rId9"/>
    <p:sldId id="283" r:id="rId10"/>
    <p:sldId id="284" r:id="rId11"/>
    <p:sldId id="293" r:id="rId12"/>
    <p:sldId id="294" r:id="rId13"/>
    <p:sldId id="291" r:id="rId14"/>
    <p:sldId id="292" r:id="rId15"/>
    <p:sldId id="30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71EC5C-6CEC-6035-6456-95E87C306E27}" v="208" dt="2022-05-28T09:24:36.8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647" autoAdjust="0"/>
    <p:restoredTop sz="94660"/>
  </p:normalViewPr>
  <p:slideViewPr>
    <p:cSldViewPr snapToGrid="0">
      <p:cViewPr>
        <p:scale>
          <a:sx n="104" d="100"/>
          <a:sy n="104" d="100"/>
        </p:scale>
        <p:origin x="-40" y="5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697043-FC59-4E79-A3B6-E27557991424}" type="datetimeFigureOut">
              <a:rPr lang="en-US" smtClean="0"/>
              <a:t>5/28/2022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697409-EE2C-45E2-80EA-ECDFE69860F1}" type="slidenum">
              <a:rPr lang="en-US" smtClean="0"/>
              <a:t>‹#›</a:t>
            </a:fld>
            <a:endParaRPr lang="en-US"/>
          </a:p>
        </p:txBody>
      </p:sp>
    </p:spTree>
    <p:extLst>
      <p:ext uri="{BB962C8B-B14F-4D97-AF65-F5344CB8AC3E}">
        <p14:creationId xmlns:p14="http://schemas.microsoft.com/office/powerpoint/2010/main" val="1724373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5/28/2022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244688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5/28/2022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6301210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5/28/2022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441756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764DE79-268F-4C1A-8933-263129D2AF90}" type="datetimeFigureOut">
              <a:rPr lang="en-US" dirty="0"/>
              <a:t>5/28/2022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576605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764DE79-268F-4C1A-8933-263129D2AF90}" type="datetimeFigureOut">
              <a:rPr lang="en-US" dirty="0"/>
              <a:t>5/28/2022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40271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5/28/2022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47375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5/28/2022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78106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5/28/2022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69463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5/28/2022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878821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5/28/2022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50587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5/28/2022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006635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5/28/2022</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018363509"/>
      </p:ext>
    </p:extLst>
  </p:cSld>
  <p:clrMap bg1="lt1" tx1="dk1" bg2="lt2" tx2="dk2" accent1="accent1" accent2="accent2" accent3="accent3" accent4="accent4" accent5="accent5" accent6="accent6" hlink="hlink" folHlink="folHlink"/>
  <p:sldLayoutIdLst>
    <p:sldLayoutId id="2147484055" r:id="rId1"/>
    <p:sldLayoutId id="2147484056" r:id="rId2"/>
    <p:sldLayoutId id="2147484057" r:id="rId3"/>
    <p:sldLayoutId id="2147484058" r:id="rId4"/>
    <p:sldLayoutId id="2147484059" r:id="rId5"/>
    <p:sldLayoutId id="2147484060" r:id="rId6"/>
    <p:sldLayoutId id="2147484061" r:id="rId7"/>
    <p:sldLayoutId id="2147484062" r:id="rId8"/>
    <p:sldLayoutId id="2147484063" r:id="rId9"/>
    <p:sldLayoutId id="2147484064" r:id="rId10"/>
    <p:sldLayoutId id="214748406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open.lib.umn.edu/publicspeaking/chapter/12-2-types-of-outlines/" TargetMode="External"/><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picpedia.org/post-it-note/o/objectives.html" TargetMode="External"/><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blogs.ed.ac.uk/annabel-treshansky/2020/04/29/discussion-assessment-and-feedback/" TargetMode="External"/><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pressenza.com/2020/06/crisis-means-danger-and-opportunity/" TargetMode="External"/><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pressenza.com/2020/06/crisis-means-danger-and-opportunity/" TargetMode="External"/><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464614" y="1783959"/>
            <a:ext cx="4087306" cy="2889114"/>
          </a:xfrm>
        </p:spPr>
        <p:txBody>
          <a:bodyPr anchor="b">
            <a:normAutofit/>
          </a:bodyPr>
          <a:lstStyle/>
          <a:p>
            <a:pPr algn="l"/>
            <a:r>
              <a:rPr lang="en-US" sz="5400"/>
              <a:t>Feedback </a:t>
            </a:r>
            <a:br>
              <a:rPr lang="en-US" sz="5400"/>
            </a:br>
            <a:r>
              <a:rPr lang="en-US" sz="5400"/>
              <a:t>in Writing Process </a:t>
            </a:r>
          </a:p>
        </p:txBody>
      </p:sp>
      <p:sp>
        <p:nvSpPr>
          <p:cNvPr id="3" name="Subtitle 2"/>
          <p:cNvSpPr>
            <a:spLocks noGrp="1"/>
          </p:cNvSpPr>
          <p:nvPr>
            <p:ph type="subTitle" idx="1"/>
          </p:nvPr>
        </p:nvSpPr>
        <p:spPr>
          <a:xfrm>
            <a:off x="7464612" y="4750893"/>
            <a:ext cx="4087305" cy="1147863"/>
          </a:xfrm>
        </p:spPr>
        <p:txBody>
          <a:bodyPr anchor="t">
            <a:normAutofit/>
          </a:bodyPr>
          <a:lstStyle/>
          <a:p>
            <a:pPr lvl="0" algn="l"/>
            <a:r>
              <a:rPr lang="en-US" sz="1800" dirty="0"/>
              <a:t>Session IV: Groups &amp; Teams (In) Action</a:t>
            </a:r>
            <a:endParaRPr lang="en-US" sz="1800" dirty="0">
              <a:cs typeface="Calibri"/>
            </a:endParaRPr>
          </a:p>
          <a:p>
            <a:pPr algn="l"/>
            <a:endParaRPr lang="en-US" sz="1800" dirty="0">
              <a:cs typeface="Calibri"/>
            </a:endParaRPr>
          </a:p>
        </p:txBody>
      </p:sp>
      <p:sp>
        <p:nvSpPr>
          <p:cNvPr id="9" name="Freeform: Shape 8">
            <a:extLst>
              <a:ext uri="{FF2B5EF4-FFF2-40B4-BE49-F238E27FC236}">
                <a16:creationId xmlns:a16="http://schemas.microsoft.com/office/drawing/2014/main" id="{E49CC64F-7275-4E33-961B-0C5CDC43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0"/>
            <a:ext cx="7188051" cy="6858000"/>
          </a:xfrm>
          <a:custGeom>
            <a:avLst/>
            <a:gdLst>
              <a:gd name="connsiteX0" fmla="*/ 7188051 w 7188051"/>
              <a:gd name="connsiteY0" fmla="*/ 6858000 h 6858000"/>
              <a:gd name="connsiteX1" fmla="*/ 108694 w 7188051"/>
              <a:gd name="connsiteY1" fmla="*/ 6858000 h 6858000"/>
              <a:gd name="connsiteX2" fmla="*/ 79127 w 7188051"/>
              <a:gd name="connsiteY2" fmla="*/ 6681235 h 6858000"/>
              <a:gd name="connsiteX3" fmla="*/ 0 w 7188051"/>
              <a:gd name="connsiteY3" fmla="*/ 5565888 h 6858000"/>
              <a:gd name="connsiteX4" fmla="*/ 2190696 w 7188051"/>
              <a:gd name="connsiteY4" fmla="*/ 145339 h 6858000"/>
              <a:gd name="connsiteX5" fmla="*/ 2339431 w 7188051"/>
              <a:gd name="connsiteY5" fmla="*/ 0 h 6858000"/>
              <a:gd name="connsiteX6" fmla="*/ 7188051 w 7188051"/>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88051" h="6858000">
                <a:moveTo>
                  <a:pt x="7188051" y="6858000"/>
                </a:moveTo>
                <a:lnTo>
                  <a:pt x="108694" y="6858000"/>
                </a:lnTo>
                <a:lnTo>
                  <a:pt x="79127" y="6681235"/>
                </a:lnTo>
                <a:cubicBezTo>
                  <a:pt x="26981" y="6316967"/>
                  <a:pt x="0" y="5944579"/>
                  <a:pt x="0" y="5565888"/>
                </a:cubicBezTo>
                <a:cubicBezTo>
                  <a:pt x="0" y="3459953"/>
                  <a:pt x="834428" y="1548908"/>
                  <a:pt x="2190696" y="145339"/>
                </a:cubicBezTo>
                <a:lnTo>
                  <a:pt x="2339431" y="0"/>
                </a:lnTo>
                <a:lnTo>
                  <a:pt x="7188051"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Person writing on a notepad">
            <a:extLst>
              <a:ext uri="{FF2B5EF4-FFF2-40B4-BE49-F238E27FC236}">
                <a16:creationId xmlns:a16="http://schemas.microsoft.com/office/drawing/2014/main" id="{129A5BE8-F9E6-92AD-0B7B-E530224D2C8E}"/>
              </a:ext>
            </a:extLst>
          </p:cNvPr>
          <p:cNvPicPr>
            <a:picLocks noChangeAspect="1"/>
          </p:cNvPicPr>
          <p:nvPr/>
        </p:nvPicPr>
        <p:blipFill rotWithShape="1">
          <a:blip r:embed="rId2"/>
          <a:srcRect l="12195" r="6481" b="-7"/>
          <a:stretch/>
        </p:blipFill>
        <p:spPr>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pic>
        <p:nvPicPr>
          <p:cNvPr id="6" name="Picture 6" descr="Logo&#10;&#10;Description automatically generated">
            <a:extLst>
              <a:ext uri="{FF2B5EF4-FFF2-40B4-BE49-F238E27FC236}">
                <a16:creationId xmlns:a16="http://schemas.microsoft.com/office/drawing/2014/main" id="{FA82896F-6C53-D07D-7834-2B684D37E8B0}"/>
              </a:ext>
            </a:extLst>
          </p:cNvPr>
          <p:cNvPicPr>
            <a:picLocks noChangeAspect="1"/>
          </p:cNvPicPr>
          <p:nvPr/>
        </p:nvPicPr>
        <p:blipFill>
          <a:blip r:embed="rId3"/>
          <a:stretch>
            <a:fillRect/>
          </a:stretch>
        </p:blipFill>
        <p:spPr>
          <a:xfrm>
            <a:off x="7547708" y="70348"/>
            <a:ext cx="1736970" cy="875303"/>
          </a:xfrm>
          <a:prstGeom prst="rect">
            <a:avLst/>
          </a:prstGeom>
        </p:spPr>
      </p:pic>
    </p:spTree>
    <p:extLst>
      <p:ext uri="{BB962C8B-B14F-4D97-AF65-F5344CB8AC3E}">
        <p14:creationId xmlns:p14="http://schemas.microsoft.com/office/powerpoint/2010/main" val="305131739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a:extLst>
              <a:ext uri="{FF2B5EF4-FFF2-40B4-BE49-F238E27FC236}">
                <a16:creationId xmlns:a16="http://schemas.microsoft.com/office/drawing/2014/main" id="{D96E7CB9-A65C-1064-1CB6-8F4BE0516C2B}"/>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r="5882" b="-1"/>
          <a:stretch/>
        </p:blipFill>
        <p:spPr>
          <a:xfrm>
            <a:off x="1" y="10"/>
            <a:ext cx="9669642" cy="6857990"/>
          </a:xfrm>
          <a:prstGeom prst="rect">
            <a:avLst/>
          </a:prstGeom>
        </p:spPr>
      </p:pic>
      <p:sp>
        <p:nvSpPr>
          <p:cNvPr id="12" name="Rectangle 11">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p:nvPr>
        </p:nvSpPr>
        <p:spPr>
          <a:xfrm>
            <a:off x="2138994" y="1310739"/>
            <a:ext cx="5463419" cy="1759608"/>
          </a:xfrm>
        </p:spPr>
        <p:txBody>
          <a:bodyPr vert="horz" lIns="91440" tIns="45720" rIns="91440" bIns="45720" rtlCol="0" anchor="t">
            <a:normAutofit/>
          </a:bodyPr>
          <a:lstStyle/>
          <a:p>
            <a:pPr marL="0" indent="0">
              <a:buNone/>
            </a:pPr>
            <a:r>
              <a:rPr lang="en-US" sz="2400" b="1" dirty="0">
                <a:ea typeface="+mn-lt"/>
                <a:cs typeface="+mn-lt"/>
              </a:rPr>
              <a:t>Chapter outlines </a:t>
            </a:r>
            <a:endParaRPr lang="en-US" sz="2400">
              <a:cs typeface="Calibri"/>
            </a:endParaRPr>
          </a:p>
          <a:p>
            <a:pPr marL="457200" indent="-457200">
              <a:buAutoNum type="arabicPeriod"/>
            </a:pPr>
            <a:r>
              <a:rPr lang="en-US" sz="2400" dirty="0"/>
              <a:t>Diverse Forms of Feedback</a:t>
            </a:r>
            <a:endParaRPr lang="en-US" sz="2400">
              <a:cs typeface="Calibri" panose="020F0502020204030204"/>
            </a:endParaRPr>
          </a:p>
          <a:p>
            <a:pPr marL="457200" indent="-457200">
              <a:buFont typeface="+mj-lt"/>
              <a:buAutoNum type="arabicPeriod"/>
            </a:pPr>
            <a:r>
              <a:rPr lang="en-US" sz="2400" dirty="0"/>
              <a:t>Feedback as an Opportunity </a:t>
            </a:r>
            <a:endParaRPr lang="en-US" sz="2400">
              <a:cs typeface="Calibri"/>
            </a:endParaRPr>
          </a:p>
        </p:txBody>
      </p:sp>
    </p:spTree>
    <p:extLst>
      <p:ext uri="{BB962C8B-B14F-4D97-AF65-F5344CB8AC3E}">
        <p14:creationId xmlns:p14="http://schemas.microsoft.com/office/powerpoint/2010/main" val="2070269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89560" y="856180"/>
            <a:ext cx="4560584" cy="1128068"/>
          </a:xfrm>
        </p:spPr>
        <p:txBody>
          <a:bodyPr anchor="ctr">
            <a:normAutofit/>
          </a:bodyPr>
          <a:lstStyle/>
          <a:p>
            <a:r>
              <a:rPr lang="en-US" sz="3700" b="1"/>
              <a:t>LEARNING OBJECTIVES</a:t>
            </a:r>
            <a:endParaRPr lang="en-US" sz="3700"/>
          </a:p>
        </p:txBody>
      </p:sp>
      <p:grpSp>
        <p:nvGrpSpPr>
          <p:cNvPr id="11" name="Group 1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90719" y="2330505"/>
            <a:ext cx="4559425" cy="3979585"/>
          </a:xfrm>
        </p:spPr>
        <p:txBody>
          <a:bodyPr vert="horz" lIns="91440" tIns="45720" rIns="91440" bIns="45720" rtlCol="0" anchor="ctr">
            <a:noAutofit/>
          </a:bodyPr>
          <a:lstStyle/>
          <a:p>
            <a:pPr marL="0" indent="0">
              <a:lnSpc>
                <a:spcPct val="150000"/>
              </a:lnSpc>
              <a:buNone/>
            </a:pPr>
            <a:r>
              <a:rPr lang="en-US" sz="1800" b="1" dirty="0"/>
              <a:t>By the end of this section, you will be able to:</a:t>
            </a:r>
            <a:endParaRPr lang="en-US" sz="1800">
              <a:cs typeface="Calibri" panose="020F0502020204030204"/>
            </a:endParaRPr>
          </a:p>
          <a:p>
            <a:pPr marL="0" indent="0">
              <a:lnSpc>
                <a:spcPct val="150000"/>
              </a:lnSpc>
              <a:buNone/>
            </a:pPr>
            <a:r>
              <a:rPr lang="en-US" sz="1800" dirty="0"/>
              <a:t>1. Describe feedback as part of the writing process. </a:t>
            </a:r>
            <a:endParaRPr lang="en-US" sz="1800">
              <a:cs typeface="Calibri" panose="020F0502020204030204"/>
            </a:endParaRPr>
          </a:p>
          <a:p>
            <a:pPr marL="0" indent="0">
              <a:lnSpc>
                <a:spcPct val="150000"/>
              </a:lnSpc>
              <a:buNone/>
            </a:pPr>
            <a:r>
              <a:rPr lang="en-US" sz="1800" dirty="0"/>
              <a:t>2. Compare and contrast indirect and direct feedback. </a:t>
            </a:r>
            <a:endParaRPr lang="en-US" sz="1800">
              <a:cs typeface="Calibri" panose="020F0502020204030204"/>
            </a:endParaRPr>
          </a:p>
          <a:p>
            <a:pPr marL="0" indent="0">
              <a:lnSpc>
                <a:spcPct val="150000"/>
              </a:lnSpc>
              <a:buNone/>
            </a:pPr>
            <a:r>
              <a:rPr lang="en-US" sz="1800" dirty="0"/>
              <a:t>3. Understand internal and external feedback. </a:t>
            </a:r>
            <a:endParaRPr lang="en-US" sz="1800">
              <a:cs typeface="Calibri" panose="020F0502020204030204"/>
            </a:endParaRPr>
          </a:p>
          <a:p>
            <a:pPr marL="0" indent="0">
              <a:lnSpc>
                <a:spcPct val="150000"/>
              </a:lnSpc>
              <a:buNone/>
            </a:pPr>
            <a:r>
              <a:rPr lang="en-US" sz="1800" dirty="0"/>
              <a:t>4. Discuss diverse forms of feedback.</a:t>
            </a:r>
            <a:endParaRPr lang="en-US" sz="1800">
              <a:cs typeface="Calibri" panose="020F0502020204030204"/>
            </a:endParaRPr>
          </a:p>
          <a:p>
            <a:pPr marL="0" indent="0">
              <a:lnSpc>
                <a:spcPct val="150000"/>
              </a:lnSpc>
              <a:buNone/>
            </a:pPr>
            <a:r>
              <a:rPr lang="en-US" sz="1800" dirty="0"/>
              <a:t>5. Describe the five types of feedback identified by Carl Rogers.</a:t>
            </a:r>
            <a:endParaRPr lang="en-US" sz="1800">
              <a:cs typeface="Calibri" panose="020F0502020204030204"/>
            </a:endParaRPr>
          </a:p>
        </p:txBody>
      </p:sp>
      <p:sp>
        <p:nvSpPr>
          <p:cNvPr id="17" name="Rectangle 1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a:extLst>
              <a:ext uri="{FF2B5EF4-FFF2-40B4-BE49-F238E27FC236}">
                <a16:creationId xmlns:a16="http://schemas.microsoft.com/office/drawing/2014/main" id="{AA46D435-6967-8998-8F89-97DDC47669EA}"/>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l="20215" r="10927" b="1"/>
          <a:stretch/>
        </p:blipFill>
        <p:spPr>
          <a:xfrm>
            <a:off x="5977788" y="799352"/>
            <a:ext cx="5425410" cy="5259296"/>
          </a:xfrm>
          <a:prstGeom prst="rect">
            <a:avLst/>
          </a:prstGeom>
        </p:spPr>
      </p:pic>
    </p:spTree>
    <p:extLst>
      <p:ext uri="{BB962C8B-B14F-4D97-AF65-F5344CB8AC3E}">
        <p14:creationId xmlns:p14="http://schemas.microsoft.com/office/powerpoint/2010/main" val="2528530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4FB4001-4919-70D1-63ED-421089FED149}"/>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3600" kern="1200" dirty="0">
                <a:latin typeface="+mj-lt"/>
                <a:ea typeface="+mj-ea"/>
                <a:cs typeface="+mj-cs"/>
              </a:rPr>
              <a:t>Criticism may not be agreeable, but it is necessary. It fulfills the same function as pain in the human body. It calls attention to an unhealthy state of things. </a:t>
            </a:r>
            <a:br>
              <a:rPr lang="en-US" sz="3400" kern="1200" dirty="0"/>
            </a:br>
            <a:r>
              <a:rPr lang="en-US" sz="1600" kern="1200" dirty="0">
                <a:latin typeface="+mj-lt"/>
                <a:ea typeface="+mj-ea"/>
                <a:cs typeface="+mj-cs"/>
              </a:rPr>
              <a:t>(Winston </a:t>
            </a:r>
            <a:r>
              <a:rPr lang="en-US" sz="1600" kern="1200" dirty="0" err="1">
                <a:latin typeface="+mj-lt"/>
                <a:ea typeface="+mj-ea"/>
                <a:cs typeface="+mj-cs"/>
              </a:rPr>
              <a:t>Churchil</a:t>
            </a:r>
            <a:r>
              <a:rPr lang="en-US" sz="1600" kern="1200" dirty="0">
                <a:latin typeface="+mj-lt"/>
                <a:ea typeface="+mj-ea"/>
                <a:cs typeface="+mj-cs"/>
              </a:rPr>
              <a:t>) </a:t>
            </a:r>
            <a:endParaRPr lang="en-US" sz="1600" kern="1200">
              <a:latin typeface="+mj-lt"/>
              <a:cs typeface="Calibri Light"/>
            </a:endParaRP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5877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4FB4001-4919-70D1-63ED-421089FED149}"/>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3600" dirty="0">
                <a:ea typeface="+mj-lt"/>
                <a:cs typeface="+mj-lt"/>
              </a:rPr>
              <a:t>Any fool can criticize, condemn</a:t>
            </a:r>
            <a:r>
              <a:rPr lang="en-US" sz="3600" kern="1200" dirty="0">
                <a:ea typeface="+mj-lt"/>
                <a:cs typeface="+mj-lt"/>
              </a:rPr>
              <a:t>, </a:t>
            </a:r>
            <a:r>
              <a:rPr lang="en-US" sz="3600" dirty="0">
                <a:ea typeface="+mj-lt"/>
                <a:cs typeface="+mj-lt"/>
              </a:rPr>
              <a:t>and complain </a:t>
            </a:r>
            <a:r>
              <a:rPr lang="en-US" sz="3600" kern="1200" dirty="0">
                <a:ea typeface="+mj-lt"/>
                <a:cs typeface="+mj-lt"/>
              </a:rPr>
              <a:t>but it </a:t>
            </a:r>
            <a:r>
              <a:rPr lang="en-US" sz="3600" dirty="0">
                <a:ea typeface="+mj-lt"/>
                <a:cs typeface="+mj-lt"/>
              </a:rPr>
              <a:t>takes character and self control </a:t>
            </a:r>
            <a:r>
              <a:rPr lang="en-US" sz="3600" kern="1200" dirty="0">
                <a:ea typeface="+mj-lt"/>
                <a:cs typeface="+mj-lt"/>
              </a:rPr>
              <a:t>to </a:t>
            </a:r>
            <a:r>
              <a:rPr lang="en-US" sz="3600" dirty="0">
                <a:ea typeface="+mj-lt"/>
                <a:cs typeface="+mj-lt"/>
              </a:rPr>
              <a:t>be understanding and forgiving</a:t>
            </a:r>
            <a:r>
              <a:rPr lang="en-US" sz="3600" kern="1200" dirty="0">
                <a:ea typeface="+mj-lt"/>
                <a:cs typeface="+mj-lt"/>
              </a:rPr>
              <a:t>. </a:t>
            </a:r>
            <a:br>
              <a:rPr lang="en-US" sz="1600" dirty="0">
                <a:ea typeface="+mj-lt"/>
                <a:cs typeface="+mj-lt"/>
              </a:rPr>
            </a:br>
            <a:r>
              <a:rPr lang="en-US" sz="1600" dirty="0">
                <a:ea typeface="+mj-lt"/>
                <a:cs typeface="+mj-lt"/>
              </a:rPr>
              <a:t>Dale Carnegie </a:t>
            </a:r>
            <a:endParaRPr lang="en-US" dirty="0"/>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32523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4279383" cy="5495925"/>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41247" y="978619"/>
            <a:ext cx="3410712" cy="1106424"/>
          </a:xfrm>
        </p:spPr>
        <p:txBody>
          <a:bodyPr>
            <a:normAutofit/>
          </a:bodyPr>
          <a:lstStyle/>
          <a:p>
            <a:r>
              <a:rPr lang="en-US" sz="2800" dirty="0"/>
              <a:t>1. Diverse Forms </a:t>
            </a:r>
            <a:br>
              <a:rPr lang="en-US" sz="2800" dirty="0"/>
            </a:br>
            <a:r>
              <a:rPr lang="en-US" sz="2800" dirty="0"/>
              <a:t>of Feedback</a:t>
            </a:r>
          </a:p>
        </p:txBody>
      </p:sp>
      <p:sp>
        <p:nvSpPr>
          <p:cNvPr id="13" name="Rectangle 12">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9" y="2093976"/>
            <a:ext cx="3328416"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idx="1"/>
          </p:nvPr>
        </p:nvSpPr>
        <p:spPr>
          <a:xfrm>
            <a:off x="841248" y="2252870"/>
            <a:ext cx="3412219" cy="3560251"/>
          </a:xfrm>
        </p:spPr>
        <p:txBody>
          <a:bodyPr vert="horz" lIns="91440" tIns="45720" rIns="91440" bIns="45720" rtlCol="0" anchor="t">
            <a:normAutofit/>
          </a:bodyPr>
          <a:lstStyle/>
          <a:p>
            <a:pPr marL="0" indent="0">
              <a:lnSpc>
                <a:spcPct val="150000"/>
              </a:lnSpc>
              <a:buNone/>
            </a:pPr>
            <a:r>
              <a:rPr lang="en-US" sz="1700" dirty="0"/>
              <a:t>Feedback is defined as a receiver’s response to a source, and can come in many forms. Feedback can be both verbal and nonverbal, and it may involve signs, symbols, words, or sounds that are unclear or difficult to understand. </a:t>
            </a:r>
            <a:endParaRPr lang="en-US" sz="1700" dirty="0">
              <a:cs typeface="Calibri" panose="020F0502020204030204"/>
            </a:endParaRPr>
          </a:p>
          <a:p>
            <a:pPr>
              <a:lnSpc>
                <a:spcPct val="150000"/>
              </a:lnSpc>
            </a:pPr>
            <a:endParaRPr lang="en-US" sz="1700">
              <a:cs typeface="Calibri" panose="020F0502020204030204"/>
            </a:endParaRPr>
          </a:p>
        </p:txBody>
      </p:sp>
      <p:pic>
        <p:nvPicPr>
          <p:cNvPr id="4" name="Picture 4" descr="Free illustration: Feedback, Men, Talk, Communication - Free Image on ...">
            <a:extLst>
              <a:ext uri="{FF2B5EF4-FFF2-40B4-BE49-F238E27FC236}">
                <a16:creationId xmlns:a16="http://schemas.microsoft.com/office/drawing/2014/main" id="{1C28F965-4830-01B5-96A7-67061C8333A6}"/>
              </a:ext>
            </a:extLst>
          </p:cNvPr>
          <p:cNvPicPr>
            <a:picLocks noChangeAspect="1"/>
          </p:cNvPicPr>
          <p:nvPr/>
        </p:nvPicPr>
        <p:blipFill>
          <a:blip r:embed="rId2"/>
          <a:stretch>
            <a:fillRect/>
          </a:stretch>
        </p:blipFill>
        <p:spPr>
          <a:xfrm>
            <a:off x="5120640" y="1023854"/>
            <a:ext cx="6656832" cy="4709708"/>
          </a:xfrm>
          <a:prstGeom prst="rect">
            <a:avLst/>
          </a:prstGeom>
        </p:spPr>
      </p:pic>
    </p:spTree>
    <p:extLst>
      <p:ext uri="{BB962C8B-B14F-4D97-AF65-F5344CB8AC3E}">
        <p14:creationId xmlns:p14="http://schemas.microsoft.com/office/powerpoint/2010/main" val="1742827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60AFAAC-EA6C-45A9-9E03-C9C9F0193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5" descr="Diagram, engineering drawing&#10;&#10;Description automatically generated">
            <a:extLst>
              <a:ext uri="{FF2B5EF4-FFF2-40B4-BE49-F238E27FC236}">
                <a16:creationId xmlns:a16="http://schemas.microsoft.com/office/drawing/2014/main" id="{87FF3589-8770-00D3-DC41-E73A99822509}"/>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l="13650" r="15210" b="-1"/>
          <a:stretch/>
        </p:blipFill>
        <p:spPr>
          <a:xfrm>
            <a:off x="4883022" y="10"/>
            <a:ext cx="7308978" cy="6857990"/>
          </a:xfrm>
          <a:custGeom>
            <a:avLst/>
            <a:gdLst/>
            <a:ahLst/>
            <a:cxnLst/>
            <a:rect l="l" t="t" r="r" b="b"/>
            <a:pathLst>
              <a:path w="7308978" h="6858000">
                <a:moveTo>
                  <a:pt x="0" y="0"/>
                </a:moveTo>
                <a:lnTo>
                  <a:pt x="7308978" y="0"/>
                </a:lnTo>
                <a:lnTo>
                  <a:pt x="7308978" y="6858000"/>
                </a:lnTo>
                <a:lnTo>
                  <a:pt x="0" y="6858000"/>
                </a:lnTo>
                <a:lnTo>
                  <a:pt x="62983" y="6788730"/>
                </a:lnTo>
                <a:cubicBezTo>
                  <a:pt x="773509" y="5928900"/>
                  <a:pt x="1212978" y="4741056"/>
                  <a:pt x="1212978" y="3429000"/>
                </a:cubicBezTo>
                <a:cubicBezTo>
                  <a:pt x="1212978" y="2116944"/>
                  <a:pt x="773509" y="929100"/>
                  <a:pt x="62983" y="69271"/>
                </a:cubicBezTo>
                <a:close/>
              </a:path>
            </a:pathLst>
          </a:custGeom>
        </p:spPr>
      </p:pic>
      <p:sp useBgFill="1">
        <p:nvSpPr>
          <p:cNvPr id="24" name="Freeform: Shape 23">
            <a:extLst>
              <a:ext uri="{FF2B5EF4-FFF2-40B4-BE49-F238E27FC236}">
                <a16:creationId xmlns:a16="http://schemas.microsoft.com/office/drawing/2014/main" id="{83549E37-C86B-4401-90BD-D8BF83859F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1" cy="6858000"/>
          </a:xfrm>
          <a:custGeom>
            <a:avLst/>
            <a:gdLst>
              <a:gd name="connsiteX0" fmla="*/ 0 w 6096001"/>
              <a:gd name="connsiteY0" fmla="*/ 0 h 6858000"/>
              <a:gd name="connsiteX1" fmla="*/ 4883023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3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3" y="0"/>
                </a:lnTo>
                <a:lnTo>
                  <a:pt x="4946006" y="69271"/>
                </a:lnTo>
                <a:cubicBezTo>
                  <a:pt x="5656532" y="929100"/>
                  <a:pt x="6096001" y="2116944"/>
                  <a:pt x="6096001" y="3429000"/>
                </a:cubicBezTo>
                <a:cubicBezTo>
                  <a:pt x="6096001" y="4741056"/>
                  <a:pt x="5656532" y="5928900"/>
                  <a:pt x="4946006" y="6788730"/>
                </a:cubicBezTo>
                <a:lnTo>
                  <a:pt x="4883023"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6" name="Freeform: Shape 25">
            <a:extLst>
              <a:ext uri="{FF2B5EF4-FFF2-40B4-BE49-F238E27FC236}">
                <a16:creationId xmlns:a16="http://schemas.microsoft.com/office/drawing/2014/main" id="{8A17784E-76D8-4521-A77D-0D2EBB9230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6857" cy="6858000"/>
          </a:xfrm>
          <a:custGeom>
            <a:avLst/>
            <a:gdLst>
              <a:gd name="connsiteX0" fmla="*/ 0 w 6086857"/>
              <a:gd name="connsiteY0" fmla="*/ 0 h 6858000"/>
              <a:gd name="connsiteX1" fmla="*/ 4873879 w 6086857"/>
              <a:gd name="connsiteY1" fmla="*/ 0 h 6858000"/>
              <a:gd name="connsiteX2" fmla="*/ 4936862 w 6086857"/>
              <a:gd name="connsiteY2" fmla="*/ 69271 h 6858000"/>
              <a:gd name="connsiteX3" fmla="*/ 6086857 w 6086857"/>
              <a:gd name="connsiteY3" fmla="*/ 3429000 h 6858000"/>
              <a:gd name="connsiteX4" fmla="*/ 4936862 w 6086857"/>
              <a:gd name="connsiteY4" fmla="*/ 6788730 h 6858000"/>
              <a:gd name="connsiteX5" fmla="*/ 4873879 w 6086857"/>
              <a:gd name="connsiteY5" fmla="*/ 6858000 h 6858000"/>
              <a:gd name="connsiteX6" fmla="*/ 0 w 608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6857" h="6858000">
                <a:moveTo>
                  <a:pt x="0" y="0"/>
                </a:moveTo>
                <a:lnTo>
                  <a:pt x="4873879" y="0"/>
                </a:lnTo>
                <a:lnTo>
                  <a:pt x="4936862" y="69271"/>
                </a:lnTo>
                <a:cubicBezTo>
                  <a:pt x="5647388" y="929100"/>
                  <a:pt x="6086857" y="2116944"/>
                  <a:pt x="6086857" y="3429000"/>
                </a:cubicBezTo>
                <a:cubicBezTo>
                  <a:pt x="6086857" y="4741056"/>
                  <a:pt x="5647388" y="5928900"/>
                  <a:pt x="4936862" y="6788730"/>
                </a:cubicBezTo>
                <a:lnTo>
                  <a:pt x="487387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374904" y="856488"/>
            <a:ext cx="4992624" cy="1243584"/>
          </a:xfrm>
        </p:spPr>
        <p:txBody>
          <a:bodyPr anchor="ctr">
            <a:normAutofit/>
          </a:bodyPr>
          <a:lstStyle/>
          <a:p>
            <a:r>
              <a:rPr lang="en-US" sz="3400" dirty="0"/>
              <a:t>Indirect Feedback </a:t>
            </a:r>
            <a:br>
              <a:rPr lang="en-US" sz="3400" dirty="0"/>
            </a:br>
            <a:r>
              <a:rPr lang="en-US" sz="3400" dirty="0"/>
              <a:t>&amp; </a:t>
            </a:r>
            <a:r>
              <a:rPr lang="en-US" sz="3400" dirty="0">
                <a:ea typeface="+mj-lt"/>
                <a:cs typeface="+mj-lt"/>
              </a:rPr>
              <a:t>Direct Feedback</a:t>
            </a:r>
          </a:p>
        </p:txBody>
      </p:sp>
      <p:sp>
        <p:nvSpPr>
          <p:cNvPr id="28" name="Rectangle 27">
            <a:extLst>
              <a:ext uri="{FF2B5EF4-FFF2-40B4-BE49-F238E27FC236}">
                <a16:creationId xmlns:a16="http://schemas.microsoft.com/office/drawing/2014/main" id="{C0036C6B-F09C-4EAB-AE02-8D056EE748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24325"/>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 name="Rectangle 29">
            <a:extLst>
              <a:ext uri="{FF2B5EF4-FFF2-40B4-BE49-F238E27FC236}">
                <a16:creationId xmlns:a16="http://schemas.microsoft.com/office/drawing/2014/main" id="{FC8D5885-2804-4D3C-BE31-902E4D327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7769" y="2195336"/>
            <a:ext cx="49834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idx="1"/>
          </p:nvPr>
        </p:nvSpPr>
        <p:spPr>
          <a:xfrm>
            <a:off x="374904" y="2522949"/>
            <a:ext cx="5065776" cy="3402363"/>
          </a:xfrm>
        </p:spPr>
        <p:txBody>
          <a:bodyPr vert="horz" lIns="91440" tIns="45720" rIns="91440" bIns="45720" rtlCol="0" anchor="t">
            <a:normAutofit/>
          </a:bodyPr>
          <a:lstStyle/>
          <a:p>
            <a:pPr marL="0" indent="0">
              <a:lnSpc>
                <a:spcPct val="150000"/>
              </a:lnSpc>
              <a:buNone/>
            </a:pPr>
            <a:r>
              <a:rPr lang="en-US" dirty="0"/>
              <a:t>Indirect feedback is a response that does not directly come from the receiver or source</a:t>
            </a:r>
            <a:endParaRPr lang="en-US" sz="3600">
              <a:cs typeface="Calibri"/>
            </a:endParaRPr>
          </a:p>
          <a:p>
            <a:pPr marL="0" indent="0">
              <a:lnSpc>
                <a:spcPct val="150000"/>
              </a:lnSpc>
              <a:buNone/>
            </a:pPr>
            <a:r>
              <a:rPr lang="en-US" dirty="0">
                <a:ea typeface="+mn-lt"/>
                <a:cs typeface="+mn-lt"/>
              </a:rPr>
              <a:t>Direct feedback is a response that comes from the receiver. </a:t>
            </a:r>
          </a:p>
        </p:txBody>
      </p:sp>
    </p:spTree>
    <p:extLst>
      <p:ext uri="{BB962C8B-B14F-4D97-AF65-F5344CB8AC3E}">
        <p14:creationId xmlns:p14="http://schemas.microsoft.com/office/powerpoint/2010/main" val="1004690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5C9B446A-6343-4E56-90BA-061E4DDF0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0" name="Freeform: Shape 49">
            <a:extLst>
              <a:ext uri="{FF2B5EF4-FFF2-40B4-BE49-F238E27FC236}">
                <a16:creationId xmlns:a16="http://schemas.microsoft.com/office/drawing/2014/main" id="{3EC72A1B-03D3-499C-B4BF-AC68EEC22B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2" name="Freeform: Shape 51">
            <a:extLst>
              <a:ext uri="{FF2B5EF4-FFF2-40B4-BE49-F238E27FC236}">
                <a16:creationId xmlns:a16="http://schemas.microsoft.com/office/drawing/2014/main" id="{216322C2-3CF0-4D33-BF90-3F384CF6D2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371094" y="1161288"/>
            <a:ext cx="3438144" cy="1124712"/>
          </a:xfrm>
        </p:spPr>
        <p:txBody>
          <a:bodyPr anchor="b">
            <a:normAutofit/>
          </a:bodyPr>
          <a:lstStyle/>
          <a:p>
            <a:r>
              <a:rPr lang="en-US" sz="2800">
                <a:ea typeface="+mj-lt"/>
                <a:cs typeface="+mj-lt"/>
              </a:rPr>
              <a:t>Internal Feedback (intrinsic) </a:t>
            </a:r>
            <a:endParaRPr lang="en-US" sz="2800"/>
          </a:p>
        </p:txBody>
      </p:sp>
      <p:sp>
        <p:nvSpPr>
          <p:cNvPr id="54" name="Rectangle 53">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6" name="Rectangle 55">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375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idx="1"/>
          </p:nvPr>
        </p:nvSpPr>
        <p:spPr>
          <a:xfrm>
            <a:off x="371094" y="2718054"/>
            <a:ext cx="3390060" cy="3207258"/>
          </a:xfrm>
        </p:spPr>
        <p:txBody>
          <a:bodyPr vert="horz" lIns="91440" tIns="45720" rIns="91440" bIns="45720" rtlCol="0" anchor="t">
            <a:normAutofit fontScale="77500" lnSpcReduction="20000"/>
          </a:bodyPr>
          <a:lstStyle/>
          <a:p>
            <a:pPr marL="0" indent="0" algn="just">
              <a:lnSpc>
                <a:spcPct val="150000"/>
              </a:lnSpc>
              <a:buNone/>
            </a:pPr>
            <a:r>
              <a:rPr lang="en-US" sz="2000" dirty="0">
                <a:ea typeface="+mn-lt"/>
                <a:cs typeface="+mn-lt"/>
              </a:rPr>
              <a:t>Internal feedback come from yourself. </a:t>
            </a:r>
            <a:endParaRPr lang="en-US" sz="2000">
              <a:cs typeface="Calibri" panose="020F0502020204030204"/>
            </a:endParaRPr>
          </a:p>
          <a:p>
            <a:pPr algn="just">
              <a:lnSpc>
                <a:spcPct val="150000"/>
              </a:lnSpc>
              <a:buNone/>
            </a:pPr>
            <a:r>
              <a:rPr lang="en-US" sz="2000" dirty="0">
                <a:ea typeface="+mn-lt"/>
                <a:cs typeface="+mn-lt"/>
              </a:rPr>
              <a:t>As the author, it is your responsibility to ensure your content is: </a:t>
            </a:r>
            <a:endParaRPr lang="en-US" sz="2000">
              <a:cs typeface="Calibri" panose="020F0502020204030204"/>
            </a:endParaRPr>
          </a:p>
          <a:p>
            <a:pPr algn="just">
              <a:lnSpc>
                <a:spcPct val="150000"/>
              </a:lnSpc>
              <a:buNone/>
            </a:pPr>
            <a:r>
              <a:rPr lang="en-US" sz="2000" dirty="0">
                <a:ea typeface="+mn-lt"/>
                <a:cs typeface="+mn-lt"/>
              </a:rPr>
              <a:t>• correct </a:t>
            </a:r>
            <a:endParaRPr lang="en-US" sz="2000">
              <a:cs typeface="Calibri" panose="020F0502020204030204"/>
            </a:endParaRPr>
          </a:p>
          <a:p>
            <a:pPr algn="just">
              <a:lnSpc>
                <a:spcPct val="150000"/>
              </a:lnSpc>
              <a:buNone/>
            </a:pPr>
            <a:r>
              <a:rPr lang="en-US" sz="2000" dirty="0">
                <a:ea typeface="+mn-lt"/>
                <a:cs typeface="+mn-lt"/>
              </a:rPr>
              <a:t>• clear </a:t>
            </a:r>
            <a:endParaRPr lang="en-US" sz="2000">
              <a:cs typeface="Calibri" panose="020F0502020204030204"/>
            </a:endParaRPr>
          </a:p>
          <a:p>
            <a:pPr algn="just">
              <a:lnSpc>
                <a:spcPct val="150000"/>
              </a:lnSpc>
              <a:buNone/>
            </a:pPr>
            <a:r>
              <a:rPr lang="en-US" sz="2000" dirty="0">
                <a:ea typeface="+mn-lt"/>
                <a:cs typeface="+mn-lt"/>
              </a:rPr>
              <a:t>• concise </a:t>
            </a:r>
            <a:endParaRPr lang="en-US" sz="2000">
              <a:cs typeface="Calibri" panose="020F0502020204030204"/>
            </a:endParaRPr>
          </a:p>
          <a:p>
            <a:pPr marL="0" indent="0" algn="just">
              <a:lnSpc>
                <a:spcPct val="150000"/>
              </a:lnSpc>
              <a:buNone/>
            </a:pPr>
            <a:r>
              <a:rPr lang="en-US" sz="2000" dirty="0">
                <a:ea typeface="+mn-lt"/>
                <a:cs typeface="+mn-lt"/>
              </a:rPr>
              <a:t>• ethical </a:t>
            </a:r>
          </a:p>
        </p:txBody>
      </p:sp>
      <p:pic>
        <p:nvPicPr>
          <p:cNvPr id="6" name="Picture 6" descr="Serve Yourself Vintage Sign Free Stock Photo - Public Domain Pictures">
            <a:extLst>
              <a:ext uri="{FF2B5EF4-FFF2-40B4-BE49-F238E27FC236}">
                <a16:creationId xmlns:a16="http://schemas.microsoft.com/office/drawing/2014/main" id="{B5EB3EDF-5369-F6DE-E689-299B09E9A2E6}"/>
              </a:ext>
            </a:extLst>
          </p:cNvPr>
          <p:cNvPicPr>
            <a:picLocks noChangeAspect="1"/>
          </p:cNvPicPr>
          <p:nvPr/>
        </p:nvPicPr>
        <p:blipFill>
          <a:blip r:embed="rId2"/>
          <a:stretch>
            <a:fillRect/>
          </a:stretch>
        </p:blipFill>
        <p:spPr>
          <a:xfrm>
            <a:off x="4898967" y="1458953"/>
            <a:ext cx="6921940" cy="4049334"/>
          </a:xfrm>
          <a:prstGeom prst="rect">
            <a:avLst/>
          </a:prstGeom>
        </p:spPr>
      </p:pic>
    </p:spTree>
    <p:extLst>
      <p:ext uri="{BB962C8B-B14F-4D97-AF65-F5344CB8AC3E}">
        <p14:creationId xmlns:p14="http://schemas.microsoft.com/office/powerpoint/2010/main" val="745694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DF40726-9B19-4165-9C26-757D16E19E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199" y="564211"/>
            <a:ext cx="4571999" cy="1165002"/>
          </a:xfrm>
        </p:spPr>
        <p:txBody>
          <a:bodyPr anchor="b">
            <a:normAutofit/>
          </a:bodyPr>
          <a:lstStyle/>
          <a:p>
            <a:r>
              <a:rPr lang="en-US" sz="3600"/>
              <a:t>External Feedback (extrinsic)</a:t>
            </a:r>
          </a:p>
        </p:txBody>
      </p:sp>
      <p:sp>
        <p:nvSpPr>
          <p:cNvPr id="6" name="Content Placeholder 5"/>
          <p:cNvSpPr>
            <a:spLocks noGrp="1"/>
          </p:cNvSpPr>
          <p:nvPr>
            <p:ph idx="1"/>
          </p:nvPr>
        </p:nvSpPr>
        <p:spPr>
          <a:xfrm>
            <a:off x="838199" y="2055327"/>
            <a:ext cx="4571999" cy="3776975"/>
          </a:xfrm>
        </p:spPr>
        <p:txBody>
          <a:bodyPr vert="horz" lIns="91440" tIns="45720" rIns="91440" bIns="45720" rtlCol="0" anchor="t">
            <a:normAutofit lnSpcReduction="10000"/>
          </a:bodyPr>
          <a:lstStyle/>
          <a:p>
            <a:pPr>
              <a:lnSpc>
                <a:spcPct val="150000"/>
              </a:lnSpc>
              <a:buFont typeface="Wingdings" panose="05000000000000000000" pitchFamily="2" charset="2"/>
              <a:buChar char="v"/>
            </a:pPr>
            <a:r>
              <a:rPr lang="en-US" sz="1800" dirty="0"/>
              <a:t>External feedback involves a response from the receiver. </a:t>
            </a:r>
            <a:endParaRPr lang="en-US"/>
          </a:p>
          <a:p>
            <a:pPr>
              <a:lnSpc>
                <a:spcPct val="150000"/>
              </a:lnSpc>
              <a:buFont typeface="Wingdings" panose="05000000000000000000" pitchFamily="2" charset="2"/>
              <a:buChar char="v"/>
            </a:pPr>
            <a:r>
              <a:rPr lang="en-US" sz="1800" dirty="0"/>
              <a:t>External feedback comes from external source (teammate, instructors, opponent, etc.). </a:t>
            </a:r>
            <a:endParaRPr lang="en-US" sz="1800">
              <a:cs typeface="Calibri" panose="020F0502020204030204"/>
            </a:endParaRPr>
          </a:p>
          <a:p>
            <a:pPr>
              <a:lnSpc>
                <a:spcPct val="150000"/>
              </a:lnSpc>
              <a:buFont typeface="Wingdings" panose="05000000000000000000" pitchFamily="2" charset="2"/>
              <a:buChar char="v"/>
            </a:pPr>
            <a:r>
              <a:rPr lang="en-US" sz="1800" dirty="0"/>
              <a:t>Attention to the channel they use (how they communicate feedback), nonverbal aspects like time (when they send it), can serve you on this and future documents.</a:t>
            </a:r>
            <a:endParaRPr lang="en-US" sz="1800" dirty="0">
              <a:cs typeface="Calibri" panose="020F0502020204030204"/>
            </a:endParaRPr>
          </a:p>
        </p:txBody>
      </p:sp>
      <p:pic>
        <p:nvPicPr>
          <p:cNvPr id="3" name="Picture 3" descr="A picture containing text&#10;&#10;Description automatically generated">
            <a:extLst>
              <a:ext uri="{FF2B5EF4-FFF2-40B4-BE49-F238E27FC236}">
                <a16:creationId xmlns:a16="http://schemas.microsoft.com/office/drawing/2014/main" id="{3829DFDB-E655-A00B-3BEA-F7AEEF02742B}"/>
              </a:ext>
            </a:extLst>
          </p:cNvPr>
          <p:cNvPicPr>
            <a:picLocks noChangeAspect="1"/>
          </p:cNvPicPr>
          <p:nvPr/>
        </p:nvPicPr>
        <p:blipFill rotWithShape="1">
          <a:blip r:embed="rId2"/>
          <a:srcRect l="16656" r="18536" b="-1"/>
          <a:stretch/>
        </p:blipFill>
        <p:spPr>
          <a:xfrm>
            <a:off x="6190488" y="566928"/>
            <a:ext cx="5157216" cy="5286197"/>
          </a:xfrm>
          <a:prstGeom prst="rect">
            <a:avLst/>
          </a:prstGeom>
        </p:spPr>
      </p:pic>
      <p:sp>
        <p:nvSpPr>
          <p:cNvPr id="13" name="Rectangle 12">
            <a:extLst>
              <a:ext uri="{FF2B5EF4-FFF2-40B4-BE49-F238E27FC236}">
                <a16:creationId xmlns:a16="http://schemas.microsoft.com/office/drawing/2014/main" id="{2089CB41-F399-4AEB-980C-5BFB1049C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6112341"/>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1BFC967B-3DD6-463D-9DB9-6E4419AE0D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096768" y="3817404"/>
            <a:ext cx="54864" cy="45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Tree>
    <p:extLst>
      <p:ext uri="{BB962C8B-B14F-4D97-AF65-F5344CB8AC3E}">
        <p14:creationId xmlns:p14="http://schemas.microsoft.com/office/powerpoint/2010/main" val="4201478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08D317-7CBD-4897-BD1F-959436D2A3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255564" y="834888"/>
            <a:ext cx="4314645" cy="1268958"/>
          </a:xfrm>
        </p:spPr>
        <p:txBody>
          <a:bodyPr anchor="b">
            <a:normAutofit/>
          </a:bodyPr>
          <a:lstStyle/>
          <a:p>
            <a:r>
              <a:rPr lang="en-US" sz="3200"/>
              <a:t>The other feedback type</a:t>
            </a:r>
          </a:p>
        </p:txBody>
      </p:sp>
      <p:pic>
        <p:nvPicPr>
          <p:cNvPr id="5" name="Picture 4">
            <a:extLst>
              <a:ext uri="{FF2B5EF4-FFF2-40B4-BE49-F238E27FC236}">
                <a16:creationId xmlns:a16="http://schemas.microsoft.com/office/drawing/2014/main" id="{7472A93E-DDAA-B83C-1114-9B3816CF69CA}"/>
              </a:ext>
            </a:extLst>
          </p:cNvPr>
          <p:cNvPicPr>
            <a:picLocks noChangeAspect="1"/>
          </p:cNvPicPr>
          <p:nvPr/>
        </p:nvPicPr>
        <p:blipFill rotWithShape="1">
          <a:blip r:embed="rId2"/>
          <a:srcRect l="10226" r="38120" b="6250"/>
          <a:stretch/>
        </p:blipFill>
        <p:spPr>
          <a:xfrm>
            <a:off x="20" y="10"/>
            <a:ext cx="6717436" cy="6857990"/>
          </a:xfrm>
          <a:custGeom>
            <a:avLst/>
            <a:gdLst/>
            <a:ahLst/>
            <a:cxnLst/>
            <a:rect l="l" t="t" r="r" b="b"/>
            <a:pathLst>
              <a:path w="6717456" h="6858000">
                <a:moveTo>
                  <a:pt x="0" y="0"/>
                </a:moveTo>
                <a:lnTo>
                  <a:pt x="6149468" y="0"/>
                </a:lnTo>
                <a:lnTo>
                  <a:pt x="6202448" y="162605"/>
                </a:lnTo>
                <a:cubicBezTo>
                  <a:pt x="6535625" y="1263763"/>
                  <a:pt x="6717456" y="2453207"/>
                  <a:pt x="6717456" y="3694043"/>
                </a:cubicBezTo>
                <a:cubicBezTo>
                  <a:pt x="6717456" y="4757617"/>
                  <a:pt x="6583866" y="5783433"/>
                  <a:pt x="6335883" y="6748259"/>
                </a:cubicBezTo>
                <a:lnTo>
                  <a:pt x="6305198" y="6858000"/>
                </a:lnTo>
                <a:lnTo>
                  <a:pt x="0" y="6858000"/>
                </a:lnTo>
                <a:close/>
              </a:path>
            </a:pathLst>
          </a:custGeom>
          <a:effectLst>
            <a:outerShdw blurRad="50800" dist="38100" algn="l" rotWithShape="0">
              <a:schemeClr val="bg1">
                <a:lumMod val="85000"/>
                <a:alpha val="30000"/>
              </a:schemeClr>
            </a:outerShdw>
          </a:effectLst>
        </p:spPr>
      </p:pic>
      <p:sp>
        <p:nvSpPr>
          <p:cNvPr id="11" name="Rectangle 10">
            <a:extLst>
              <a:ext uri="{FF2B5EF4-FFF2-40B4-BE49-F238E27FC236}">
                <a16:creationId xmlns:a16="http://schemas.microsoft.com/office/drawing/2014/main" id="{D6297641-8B9F-4767-9606-8A1131322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89864"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D8F3CA65-EA00-46B4-9616-39E6853F7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36172" y="2240371"/>
            <a:ext cx="42062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idx="1"/>
          </p:nvPr>
        </p:nvSpPr>
        <p:spPr>
          <a:xfrm>
            <a:off x="7255563" y="2557587"/>
            <a:ext cx="4314645" cy="3717317"/>
          </a:xfrm>
        </p:spPr>
        <p:txBody>
          <a:bodyPr anchor="t">
            <a:normAutofit fontScale="92500"/>
          </a:bodyPr>
          <a:lstStyle/>
          <a:p>
            <a:pPr>
              <a:lnSpc>
                <a:spcPct val="150000"/>
              </a:lnSpc>
              <a:buFont typeface="Wingdings" panose="05000000000000000000" pitchFamily="2" charset="2"/>
              <a:buChar char="v"/>
            </a:pPr>
            <a:r>
              <a:rPr lang="en-US" sz="1800" dirty="0"/>
              <a:t>Hard Copy Documents and External Feedback</a:t>
            </a:r>
            <a:endParaRPr lang="en-US" dirty="0"/>
          </a:p>
          <a:p>
            <a:pPr>
              <a:lnSpc>
                <a:spcPct val="150000"/>
              </a:lnSpc>
              <a:buFont typeface="Wingdings" panose="05000000000000000000" pitchFamily="2" charset="2"/>
              <a:buChar char="v"/>
            </a:pPr>
            <a:r>
              <a:rPr lang="en-US" sz="1800" dirty="0"/>
              <a:t>External Feedback in a Virtual Environment</a:t>
            </a:r>
            <a:endParaRPr lang="en-US" sz="1800" dirty="0">
              <a:cs typeface="Calibri" panose="020F0502020204030204"/>
            </a:endParaRPr>
          </a:p>
          <a:p>
            <a:pPr>
              <a:lnSpc>
                <a:spcPct val="150000"/>
              </a:lnSpc>
              <a:buFont typeface="Wingdings" panose="05000000000000000000" pitchFamily="2" charset="2"/>
              <a:buChar char="v"/>
            </a:pPr>
            <a:r>
              <a:rPr lang="en-US" sz="1800" dirty="0"/>
              <a:t>User-Generated Feedback</a:t>
            </a:r>
            <a:endParaRPr lang="en-US" sz="1800" dirty="0">
              <a:cs typeface="Calibri" panose="020F0502020204030204"/>
            </a:endParaRPr>
          </a:p>
          <a:p>
            <a:pPr>
              <a:lnSpc>
                <a:spcPct val="150000"/>
              </a:lnSpc>
              <a:buFont typeface="Wingdings" panose="05000000000000000000" pitchFamily="2" charset="2"/>
              <a:buChar char="v"/>
            </a:pPr>
            <a:r>
              <a:rPr lang="en-US" sz="1800" dirty="0"/>
              <a:t>Interviews</a:t>
            </a:r>
            <a:endParaRPr lang="en-US" sz="1800" dirty="0">
              <a:cs typeface="Calibri" panose="020F0502020204030204"/>
            </a:endParaRPr>
          </a:p>
          <a:p>
            <a:pPr>
              <a:lnSpc>
                <a:spcPct val="150000"/>
              </a:lnSpc>
              <a:buFont typeface="Wingdings" panose="05000000000000000000" pitchFamily="2" charset="2"/>
              <a:buChar char="v"/>
            </a:pPr>
            <a:r>
              <a:rPr lang="en-US" sz="1800" dirty="0"/>
              <a:t>Surveys </a:t>
            </a:r>
            <a:endParaRPr lang="en-US" sz="1800">
              <a:cs typeface="Calibri" panose="020F0502020204030204"/>
            </a:endParaRPr>
          </a:p>
          <a:p>
            <a:pPr>
              <a:lnSpc>
                <a:spcPct val="150000"/>
              </a:lnSpc>
              <a:buFont typeface="Wingdings" panose="05000000000000000000" pitchFamily="2" charset="2"/>
              <a:buChar char="v"/>
            </a:pPr>
            <a:r>
              <a:rPr lang="en-US" sz="1800" dirty="0"/>
              <a:t>Focus Groups</a:t>
            </a:r>
            <a:endParaRPr lang="en-US" sz="1800" dirty="0">
              <a:cs typeface="Calibri" panose="020F0502020204030204"/>
            </a:endParaRPr>
          </a:p>
          <a:p>
            <a:pPr>
              <a:lnSpc>
                <a:spcPct val="150000"/>
              </a:lnSpc>
              <a:buFont typeface="Wingdings" panose="05000000000000000000" pitchFamily="2" charset="2"/>
              <a:buChar char="v"/>
            </a:pPr>
            <a:endParaRPr lang="en-US" sz="1800">
              <a:cs typeface="Calibri" panose="020F0502020204030204"/>
            </a:endParaRPr>
          </a:p>
        </p:txBody>
      </p:sp>
    </p:spTree>
    <p:extLst>
      <p:ext uri="{BB962C8B-B14F-4D97-AF65-F5344CB8AC3E}">
        <p14:creationId xmlns:p14="http://schemas.microsoft.com/office/powerpoint/2010/main" val="1184009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7">
            <a:extLst>
              <a:ext uri="{FF2B5EF4-FFF2-40B4-BE49-F238E27FC236}">
                <a16:creationId xmlns:a16="http://schemas.microsoft.com/office/drawing/2014/main" id="{B0CCB9D9-B88B-7E20-A038-E3053F06DD76}"/>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r="24000" b="-1"/>
          <a:stretch/>
        </p:blipFill>
        <p:spPr>
          <a:xfrm>
            <a:off x="-1" y="10"/>
            <a:ext cx="12192000" cy="6857990"/>
          </a:xfrm>
          <a:prstGeom prst="rect">
            <a:avLst/>
          </a:prstGeom>
        </p:spPr>
      </p:pic>
      <p:sp>
        <p:nvSpPr>
          <p:cNvPr id="12" name="Freeform 5">
            <a:extLst>
              <a:ext uri="{FF2B5EF4-FFF2-40B4-BE49-F238E27FC236}">
                <a16:creationId xmlns:a16="http://schemas.microsoft.com/office/drawing/2014/main" id="{3CD9DF72-87A3-404E-A828-84CBF11A83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flipH="1">
            <a:off x="0" y="998175"/>
            <a:ext cx="6017172" cy="5859825"/>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5000"/>
            </a:schemeClr>
          </a:solidFill>
          <a:ln w="50800" cap="sq" cmpd="dbl">
            <a:noFill/>
            <a:miter lim="800000"/>
          </a:ln>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Title 1"/>
          <p:cNvSpPr>
            <a:spLocks noGrp="1"/>
          </p:cNvSpPr>
          <p:nvPr>
            <p:ph type="title"/>
          </p:nvPr>
        </p:nvSpPr>
        <p:spPr>
          <a:xfrm>
            <a:off x="709448" y="1913950"/>
            <a:ext cx="4204137" cy="1342754"/>
          </a:xfrm>
        </p:spPr>
        <p:txBody>
          <a:bodyPr>
            <a:normAutofit/>
          </a:bodyPr>
          <a:lstStyle/>
          <a:p>
            <a:pPr algn="ctr"/>
            <a:r>
              <a:rPr lang="en-US" sz="3600"/>
              <a:t>2. Feedback as an Opportunity </a:t>
            </a:r>
          </a:p>
        </p:txBody>
      </p:sp>
      <p:cxnSp>
        <p:nvCxnSpPr>
          <p:cNvPr id="14" name="Straight Connector 13">
            <a:extLst>
              <a:ext uri="{FF2B5EF4-FFF2-40B4-BE49-F238E27FC236}">
                <a16:creationId xmlns:a16="http://schemas.microsoft.com/office/drawing/2014/main" id="{20E3A342-4D61-4E3F-AF90-1AB42AEB96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87051" y="3337139"/>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525516" y="3417573"/>
            <a:ext cx="4593021" cy="2619839"/>
          </a:xfrm>
        </p:spPr>
        <p:txBody>
          <a:bodyPr vert="horz" lIns="91440" tIns="45720" rIns="91440" bIns="45720" rtlCol="0" anchor="ctr">
            <a:normAutofit/>
          </a:bodyPr>
          <a:lstStyle/>
          <a:p>
            <a:pPr marL="0" indent="0">
              <a:buNone/>
            </a:pPr>
            <a:r>
              <a:rPr lang="en-US" sz="1700" b="1"/>
              <a:t>Carl Rogers, the famous humanistic psychologist, divides feedback into five categories</a:t>
            </a:r>
            <a:r>
              <a:rPr lang="en-US" sz="1700"/>
              <a:t>: </a:t>
            </a:r>
          </a:p>
          <a:p>
            <a:pPr marL="0" indent="0">
              <a:buNone/>
            </a:pPr>
            <a:r>
              <a:rPr lang="en-US" sz="1700"/>
              <a:t>1. Evaluative </a:t>
            </a:r>
            <a:endParaRPr lang="en-US" sz="1700">
              <a:cs typeface="Calibri" panose="020F0502020204030204"/>
            </a:endParaRPr>
          </a:p>
          <a:p>
            <a:pPr marL="0" indent="0">
              <a:buNone/>
            </a:pPr>
            <a:r>
              <a:rPr lang="en-US" sz="1700"/>
              <a:t>2. Interpretive </a:t>
            </a:r>
            <a:endParaRPr lang="en-US" sz="1700">
              <a:cs typeface="Calibri" panose="020F0502020204030204"/>
            </a:endParaRPr>
          </a:p>
          <a:p>
            <a:pPr marL="0" indent="0">
              <a:buNone/>
            </a:pPr>
            <a:r>
              <a:rPr lang="en-US" sz="1700"/>
              <a:t>3. Supportive </a:t>
            </a:r>
            <a:endParaRPr lang="en-US" sz="1700">
              <a:cs typeface="Calibri" panose="020F0502020204030204"/>
            </a:endParaRPr>
          </a:p>
          <a:p>
            <a:pPr marL="0" indent="0">
              <a:buNone/>
            </a:pPr>
            <a:r>
              <a:rPr lang="en-US" sz="1700"/>
              <a:t>4. Probing </a:t>
            </a:r>
            <a:endParaRPr lang="en-US" sz="1700">
              <a:cs typeface="Calibri" panose="020F0502020204030204"/>
            </a:endParaRPr>
          </a:p>
          <a:p>
            <a:pPr marL="0" indent="0">
              <a:buNone/>
            </a:pPr>
            <a:r>
              <a:rPr lang="en-US" sz="1700"/>
              <a:t>5. Understanding</a:t>
            </a:r>
            <a:endParaRPr lang="en-US" sz="1700">
              <a:cs typeface="Calibri" panose="020F0502020204030204"/>
            </a:endParaRPr>
          </a:p>
        </p:txBody>
      </p:sp>
    </p:spTree>
    <p:extLst>
      <p:ext uri="{BB962C8B-B14F-4D97-AF65-F5344CB8AC3E}">
        <p14:creationId xmlns:p14="http://schemas.microsoft.com/office/powerpoint/2010/main" val="3146086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7">
            <a:extLst>
              <a:ext uri="{FF2B5EF4-FFF2-40B4-BE49-F238E27FC236}">
                <a16:creationId xmlns:a16="http://schemas.microsoft.com/office/drawing/2014/main" id="{03743FB0-6CF1-2041-6D73-790E6DBB1967}"/>
              </a:ext>
            </a:extLst>
          </p:cNvPr>
          <p:cNvPicPr>
            <a:picLocks noChangeAspect="1"/>
          </p:cNvPicPr>
          <p:nvPr/>
        </p:nvPicPr>
        <p:blipFill rotWithShape="1">
          <a:blip r:embed="rId2">
            <a:alphaModFix amt="35000"/>
            <a:extLst>
              <a:ext uri="{837473B0-CC2E-450A-ABE3-18F120FF3D39}">
                <a1611:picAttrSrcUrl xmlns:a1611="http://schemas.microsoft.com/office/drawing/2016/11/main" r:id="rId3"/>
              </a:ext>
            </a:extLst>
          </a:blip>
          <a:srcRect r="24000" b="-1"/>
          <a:stretch/>
        </p:blipFill>
        <p:spPr>
          <a:xfrm>
            <a:off x="-1" y="10"/>
            <a:ext cx="12192000" cy="6857990"/>
          </a:xfrm>
          <a:prstGeom prst="rect">
            <a:avLst/>
          </a:prstGeom>
        </p:spPr>
      </p:pic>
      <p:sp>
        <p:nvSpPr>
          <p:cNvPr id="2" name="Title 1"/>
          <p:cNvSpPr>
            <a:spLocks noGrp="1"/>
          </p:cNvSpPr>
          <p:nvPr>
            <p:ph type="title"/>
          </p:nvPr>
        </p:nvSpPr>
        <p:spPr>
          <a:xfrm>
            <a:off x="838200" y="365125"/>
            <a:ext cx="10515600" cy="1325563"/>
          </a:xfrm>
        </p:spPr>
        <p:txBody>
          <a:bodyPr>
            <a:normAutofit/>
          </a:bodyPr>
          <a:lstStyle/>
          <a:p>
            <a:r>
              <a:rPr lang="en-US">
                <a:solidFill>
                  <a:srgbClr val="FFFFFF"/>
                </a:solidFill>
              </a:rPr>
              <a:t>Five types of feedback</a:t>
            </a:r>
          </a:p>
        </p:txBody>
      </p:sp>
      <p:sp>
        <p:nvSpPr>
          <p:cNvPr id="3" name="Content Placeholder 2"/>
          <p:cNvSpPr>
            <a:spLocks noGrp="1"/>
          </p:cNvSpPr>
          <p:nvPr>
            <p:ph idx="1"/>
          </p:nvPr>
        </p:nvSpPr>
        <p:spPr>
          <a:xfrm>
            <a:off x="838200" y="1825625"/>
            <a:ext cx="10515600" cy="4351338"/>
          </a:xfrm>
        </p:spPr>
        <p:txBody>
          <a:bodyPr>
            <a:normAutofit/>
          </a:bodyPr>
          <a:lstStyle/>
          <a:p>
            <a:pPr marL="457200" indent="-457200">
              <a:buFont typeface="+mj-lt"/>
              <a:buAutoNum type="arabicPeriod"/>
            </a:pPr>
            <a:r>
              <a:rPr lang="en-US" sz="2600">
                <a:solidFill>
                  <a:srgbClr val="FFFFFF"/>
                </a:solidFill>
              </a:rPr>
              <a:t>Evaluative feedback often involves judgment of the writer and his or her ethos (or credibility).</a:t>
            </a:r>
          </a:p>
          <a:p>
            <a:pPr marL="457200" indent="-457200">
              <a:buFont typeface="+mj-lt"/>
              <a:buAutoNum type="arabicPeriod"/>
            </a:pPr>
            <a:r>
              <a:rPr lang="en-US" sz="2600">
                <a:solidFill>
                  <a:srgbClr val="FFFFFF"/>
                </a:solidFill>
              </a:rPr>
              <a:t>Interpretive feedback requests confirmation or clarification of a message, and is often expressed in the form of a question.</a:t>
            </a:r>
          </a:p>
          <a:p>
            <a:pPr marL="457200" indent="-457200">
              <a:buFont typeface="+mj-lt"/>
              <a:buAutoNum type="arabicPeriod"/>
            </a:pPr>
            <a:r>
              <a:rPr lang="en-US" sz="2600">
                <a:solidFill>
                  <a:srgbClr val="FFFFFF"/>
                </a:solidFill>
              </a:rPr>
              <a:t>Supportive feedback communicates encouragement in response to a message</a:t>
            </a:r>
          </a:p>
          <a:p>
            <a:pPr marL="457200" indent="-457200">
              <a:buFont typeface="+mj-lt"/>
              <a:buAutoNum type="arabicPeriod"/>
            </a:pPr>
            <a:r>
              <a:rPr lang="en-US" sz="2600">
                <a:solidFill>
                  <a:srgbClr val="FFFFFF"/>
                </a:solidFill>
              </a:rPr>
              <a:t>Probing Feedback: communicates targeted requests for specific information</a:t>
            </a:r>
          </a:p>
          <a:p>
            <a:pPr marL="457200" indent="-457200">
              <a:buFont typeface="+mj-lt"/>
              <a:buAutoNum type="arabicPeriod"/>
            </a:pPr>
            <a:r>
              <a:rPr lang="en-US" sz="2600">
                <a:solidFill>
                  <a:srgbClr val="FFFFFF"/>
                </a:solidFill>
              </a:rPr>
              <a:t>Understanding Feedback: communicates sympathy and empathy for the source of the message</a:t>
            </a:r>
          </a:p>
        </p:txBody>
      </p:sp>
    </p:spTree>
    <p:extLst>
      <p:ext uri="{BB962C8B-B14F-4D97-AF65-F5344CB8AC3E}">
        <p14:creationId xmlns:p14="http://schemas.microsoft.com/office/powerpoint/2010/main" val="142634635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a:normAutofit/>
          </a:bodyPr>
          <a:lstStyle/>
          <a:p>
            <a:r>
              <a:rPr lang="en-US">
                <a:solidFill>
                  <a:srgbClr val="FFFFFF"/>
                </a:solidFill>
              </a:rPr>
              <a:t>Key Takeaway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4447308" y="591344"/>
            <a:ext cx="6906491" cy="5585619"/>
          </a:xfrm>
        </p:spPr>
        <p:txBody>
          <a:bodyPr anchor="ctr">
            <a:normAutofit fontScale="92500" lnSpcReduction="10000"/>
          </a:bodyPr>
          <a:lstStyle/>
          <a:p>
            <a:pPr marL="457200" indent="-457200">
              <a:lnSpc>
                <a:spcPct val="150000"/>
              </a:lnSpc>
              <a:buFont typeface="+mj-lt"/>
              <a:buAutoNum type="arabicPeriod"/>
            </a:pPr>
            <a:r>
              <a:rPr lang="en-US" dirty="0"/>
              <a:t>Feedback may be indirect or direct, internal or external, and may be mediated electronically in many different ways. </a:t>
            </a:r>
            <a:endParaRPr lang="en-US"/>
          </a:p>
          <a:p>
            <a:pPr marL="457200" indent="-457200">
              <a:lnSpc>
                <a:spcPct val="150000"/>
              </a:lnSpc>
              <a:buFont typeface="+mj-lt"/>
              <a:buAutoNum type="arabicPeriod"/>
            </a:pPr>
            <a:r>
              <a:rPr lang="en-US" dirty="0"/>
              <a:t>Those offering the feedback must have an understanding of what makes a successful performance. </a:t>
            </a:r>
            <a:endParaRPr lang="en-US" dirty="0">
              <a:cs typeface="Calibri"/>
            </a:endParaRPr>
          </a:p>
          <a:p>
            <a:pPr marL="457200" indent="-457200">
              <a:lnSpc>
                <a:spcPct val="150000"/>
              </a:lnSpc>
              <a:buFont typeface="+mj-lt"/>
              <a:buAutoNum type="arabicPeriod"/>
            </a:pPr>
            <a:r>
              <a:rPr lang="en-US" dirty="0"/>
              <a:t>Feedback may be evaluative, interpretive, supportive, probing, or understanding, and it is always an opportunity for growth.</a:t>
            </a:r>
            <a:endParaRPr lang="en-US" dirty="0">
              <a:cs typeface="Calibri"/>
            </a:endParaRPr>
          </a:p>
        </p:txBody>
      </p:sp>
    </p:spTree>
    <p:extLst>
      <p:ext uri="{BB962C8B-B14F-4D97-AF65-F5344CB8AC3E}">
        <p14:creationId xmlns:p14="http://schemas.microsoft.com/office/powerpoint/2010/main" val="10618430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5558489" cy="1325563"/>
          </a:xfrm>
        </p:spPr>
        <p:txBody>
          <a:bodyPr>
            <a:normAutofit/>
          </a:bodyPr>
          <a:lstStyle/>
          <a:p>
            <a:r>
              <a:rPr lang="en-US" dirty="0"/>
              <a:t>Activity </a:t>
            </a:r>
          </a:p>
        </p:txBody>
      </p:sp>
      <p:sp>
        <p:nvSpPr>
          <p:cNvPr id="10" name="Freeform: Shape 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p:cNvSpPr>
            <a:spLocks noGrp="1"/>
          </p:cNvSpPr>
          <p:nvPr>
            <p:ph idx="1"/>
          </p:nvPr>
        </p:nvSpPr>
        <p:spPr>
          <a:xfrm>
            <a:off x="838200" y="1825625"/>
            <a:ext cx="5558489" cy="4351338"/>
          </a:xfrm>
        </p:spPr>
        <p:txBody>
          <a:bodyPr vert="horz" lIns="91440" tIns="45720" rIns="91440" bIns="45720" rtlCol="0" anchor="t">
            <a:normAutofit fontScale="92500"/>
          </a:bodyPr>
          <a:lstStyle/>
          <a:p>
            <a:pPr marL="0" indent="0">
              <a:lnSpc>
                <a:spcPct val="150000"/>
              </a:lnSpc>
              <a:buNone/>
            </a:pPr>
            <a:r>
              <a:rPr lang="en-US" dirty="0"/>
              <a:t>Find a blog or online article with comments posted after the document. Choose one example of feedback from the comments and share it with your classmates. Note any trends or themes that present themselves as you explore the comments. </a:t>
            </a:r>
            <a:endParaRPr lang="en-US"/>
          </a:p>
        </p:txBody>
      </p:sp>
      <p:sp>
        <p:nvSpPr>
          <p:cNvPr id="12" name="Oval 1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22927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1D7EC86-7CB9-431D-8AC3-8AAF0440B1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D4B9777F-B610-419B-9193-80306388F3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Arc">
            <a:extLst>
              <a:ext uri="{FF2B5EF4-FFF2-40B4-BE49-F238E27FC236}">
                <a16:creationId xmlns:a16="http://schemas.microsoft.com/office/drawing/2014/main" id="{311F016A-A753-449B-9EA6-322199B71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427715">
            <a:off x="1108520" y="775849"/>
            <a:ext cx="2987899" cy="2987899"/>
          </a:xfrm>
          <a:prstGeom prst="arc">
            <a:avLst>
              <a:gd name="adj1" fmla="val 16200000"/>
              <a:gd name="adj2" fmla="val 2287352"/>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A2C5053-26F2-2448-70A8-43222DDDF234}"/>
              </a:ext>
            </a:extLst>
          </p:cNvPr>
          <p:cNvSpPr>
            <a:spLocks noGrp="1"/>
          </p:cNvSpPr>
          <p:nvPr>
            <p:ph type="title"/>
          </p:nvPr>
        </p:nvSpPr>
        <p:spPr>
          <a:xfrm>
            <a:off x="860742" y="1124988"/>
            <a:ext cx="4425962" cy="2387600"/>
          </a:xfrm>
        </p:spPr>
        <p:txBody>
          <a:bodyPr vert="horz" lIns="91440" tIns="45720" rIns="91440" bIns="45720" rtlCol="0" anchor="b">
            <a:normAutofit/>
          </a:bodyPr>
          <a:lstStyle/>
          <a:p>
            <a:r>
              <a:rPr lang="en-US" sz="6000"/>
              <a:t>Q&amp;A</a:t>
            </a:r>
          </a:p>
        </p:txBody>
      </p:sp>
      <p:pic>
        <p:nvPicPr>
          <p:cNvPr id="4" name="Picture 3" descr="Question mark against red wall">
            <a:extLst>
              <a:ext uri="{FF2B5EF4-FFF2-40B4-BE49-F238E27FC236}">
                <a16:creationId xmlns:a16="http://schemas.microsoft.com/office/drawing/2014/main" id="{81E0746C-5C24-0394-5068-E8DCEB470BFA}"/>
              </a:ext>
            </a:extLst>
          </p:cNvPr>
          <p:cNvPicPr>
            <a:picLocks noChangeAspect="1"/>
          </p:cNvPicPr>
          <p:nvPr/>
        </p:nvPicPr>
        <p:blipFill rotWithShape="1">
          <a:blip r:embed="rId2"/>
          <a:srcRect l="43071" r="8" b="8"/>
          <a:stretch/>
        </p:blipFill>
        <p:spPr>
          <a:xfrm>
            <a:off x="5733768" y="-1"/>
            <a:ext cx="6458232" cy="6858001"/>
          </a:xfrm>
          <a:custGeom>
            <a:avLst/>
            <a:gdLst/>
            <a:ahLst/>
            <a:cxnLst/>
            <a:rect l="l" t="t" r="r" b="b"/>
            <a:pathLst>
              <a:path w="6458232" h="6858001">
                <a:moveTo>
                  <a:pt x="2209000" y="0"/>
                </a:moveTo>
                <a:lnTo>
                  <a:pt x="6458232" y="0"/>
                </a:lnTo>
                <a:lnTo>
                  <a:pt x="6458232" y="6858001"/>
                </a:lnTo>
                <a:lnTo>
                  <a:pt x="651045" y="6858001"/>
                </a:lnTo>
                <a:lnTo>
                  <a:pt x="635146" y="6830200"/>
                </a:lnTo>
                <a:cubicBezTo>
                  <a:pt x="230085" y="6080469"/>
                  <a:pt x="0" y="5221296"/>
                  <a:pt x="0" y="4308089"/>
                </a:cubicBezTo>
                <a:cubicBezTo>
                  <a:pt x="0" y="2572997"/>
                  <a:pt x="830606" y="1032965"/>
                  <a:pt x="2113832" y="68046"/>
                </a:cubicBezTo>
                <a:close/>
              </a:path>
            </a:pathLst>
          </a:custGeom>
        </p:spPr>
      </p:pic>
      <p:sp>
        <p:nvSpPr>
          <p:cNvPr id="14" name="!!Rectangle">
            <a:extLst>
              <a:ext uri="{FF2B5EF4-FFF2-40B4-BE49-F238E27FC236}">
                <a16:creationId xmlns:a16="http://schemas.microsoft.com/office/drawing/2014/main" id="{95106A28-883A-4993-BF9E-C403B81A8D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94269" y="4274457"/>
            <a:ext cx="825256" cy="825256"/>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6" name="!!Oval">
            <a:extLst>
              <a:ext uri="{FF2B5EF4-FFF2-40B4-BE49-F238E27FC236}">
                <a16:creationId xmlns:a16="http://schemas.microsoft.com/office/drawing/2014/main" id="{F5AE4E4F-9F4C-43ED-8299-9BD63B74E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742" y="5649686"/>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902544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414</TotalTime>
  <Words>558</Words>
  <Application>Microsoft Office PowerPoint</Application>
  <PresentationFormat>Widescreen</PresentationFormat>
  <Paragraphs>58</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Feedback  in Writing Process </vt:lpstr>
      <vt:lpstr>PowerPoint Presentation</vt:lpstr>
      <vt:lpstr>LEARNING OBJECTIVES</vt:lpstr>
      <vt:lpstr>Criticism may not be agreeable, but it is necessary. It fulfills the same function as pain in the human body. It calls attention to an unhealthy state of things.  (Winston Churchil) </vt:lpstr>
      <vt:lpstr>Any fool can criticize, condemn, and complain but it takes character and self control to be understanding and forgiving.  Dale Carnegie </vt:lpstr>
      <vt:lpstr>1. Diverse Forms  of Feedback</vt:lpstr>
      <vt:lpstr>Indirect Feedback  &amp; Direct Feedback</vt:lpstr>
      <vt:lpstr>Internal Feedback (intrinsic) </vt:lpstr>
      <vt:lpstr>External Feedback (extrinsic)</vt:lpstr>
      <vt:lpstr>The other feedback type</vt:lpstr>
      <vt:lpstr>2. Feedback as an Opportunity </vt:lpstr>
      <vt:lpstr>Five types of feedback</vt:lpstr>
      <vt:lpstr>Key Takeaway</vt:lpstr>
      <vt:lpstr>Activity </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21. Groups and meetings 22. Persuasive Presentations</dc:title>
  <dc:creator>Admin</dc:creator>
  <cp:lastModifiedBy>Microsoft Office User</cp:lastModifiedBy>
  <cp:revision>285</cp:revision>
  <dcterms:created xsi:type="dcterms:W3CDTF">2021-08-31T13:06:13Z</dcterms:created>
  <dcterms:modified xsi:type="dcterms:W3CDTF">2022-05-28T09:25:10Z</dcterms:modified>
</cp:coreProperties>
</file>