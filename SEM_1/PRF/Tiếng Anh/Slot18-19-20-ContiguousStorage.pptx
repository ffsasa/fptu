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56" r:id="rId2"/>
    <p:sldId id="269" r:id="rId3"/>
    <p:sldId id="257" r:id="rId4"/>
    <p:sldId id="258" r:id="rId5"/>
    <p:sldId id="271" r:id="rId6"/>
    <p:sldId id="259" r:id="rId7"/>
    <p:sldId id="318" r:id="rId8"/>
    <p:sldId id="265" r:id="rId9"/>
    <p:sldId id="319" r:id="rId10"/>
    <p:sldId id="266" r:id="rId11"/>
    <p:sldId id="267" r:id="rId12"/>
    <p:sldId id="268" r:id="rId13"/>
    <p:sldId id="260" r:id="rId14"/>
    <p:sldId id="272" r:id="rId15"/>
    <p:sldId id="273" r:id="rId16"/>
    <p:sldId id="274" r:id="rId17"/>
    <p:sldId id="275" r:id="rId18"/>
    <p:sldId id="290" r:id="rId19"/>
    <p:sldId id="291" r:id="rId20"/>
    <p:sldId id="302" r:id="rId21"/>
    <p:sldId id="287" r:id="rId22"/>
    <p:sldId id="288" r:id="rId23"/>
    <p:sldId id="289" r:id="rId24"/>
    <p:sldId id="279" r:id="rId25"/>
    <p:sldId id="270" r:id="rId26"/>
    <p:sldId id="281" r:id="rId27"/>
    <p:sldId id="280" r:id="rId28"/>
    <p:sldId id="282" r:id="rId29"/>
    <p:sldId id="261" r:id="rId30"/>
    <p:sldId id="283" r:id="rId31"/>
    <p:sldId id="284" r:id="rId32"/>
    <p:sldId id="285" r:id="rId33"/>
    <p:sldId id="286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292" r:id="rId47"/>
    <p:sldId id="293" r:id="rId48"/>
    <p:sldId id="262" r:id="rId49"/>
    <p:sldId id="303" r:id="rId50"/>
    <p:sldId id="263" r:id="rId51"/>
    <p:sldId id="316" r:id="rId52"/>
    <p:sldId id="317" r:id="rId53"/>
    <p:sldId id="264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99"/>
    <a:srgbClr val="FF9900"/>
    <a:srgbClr val="FF00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4" autoAdjust="0"/>
    <p:restoredTop sz="94689" autoAdjust="0"/>
  </p:normalViewPr>
  <p:slideViewPr>
    <p:cSldViewPr>
      <p:cViewPr varScale="1">
        <p:scale>
          <a:sx n="88" d="100"/>
          <a:sy n="88" d="100"/>
        </p:scale>
        <p:origin x="15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2T08:50:51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EAB8-7F95-40D5-8902-3F08DDE67104}" type="datetimeFigureOut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E8B4A-084A-481F-84C4-5EAB37F6094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Prepared by Thân</a:t>
            </a:r>
            <a:r>
              <a:rPr lang="en-US" baseline="0" dirty="0"/>
              <a:t> Văn Sử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E8B4A-084A-481F-84C4-5EAB37F6094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524288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E8B4A-084A-481F-84C4-5EAB37F609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6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C43C-A0BD-4C96-8A2F-954557194762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BB95-3FB1-4A7A-A630-AC8999A708CA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802C-FAC9-4055-A332-91D06C95087E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9A3C8-C3CE-4679-B200-64DC998F73EC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3351F-2DF9-473E-8A17-79DA29DDF5C6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2A5D-86EA-4CEE-955F-C4773BDD62D9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7645-7B51-4F66-8C41-889CB316E59F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89CB8-3239-4EBF-A751-941710EC9D69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DDEBF-809E-4A49-8284-90044BD41D25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F9CE-C29E-4624-8A59-0529ECBDE01E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9A59-DCA5-45E9-9CC5-5266C14D0C37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D54D7C35-941C-4437-BFC9-559A7AEAE745}" type="datetime1">
              <a:rPr lang="en-US" smtClean="0"/>
              <a:pPr/>
              <a:t>2/22/22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Contiguous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 userDrawn="1"/>
        </p:nvSpPr>
        <p:spPr>
          <a:xfrm>
            <a:off x="1143000" y="0"/>
            <a:ext cx="8001000" cy="3048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Programming</a:t>
            </a:r>
            <a:r>
              <a:rPr lang="en-US" b="1" baseline="0" dirty="0">
                <a:solidFill>
                  <a:srgbClr val="FF0000"/>
                </a:solidFill>
              </a:rPr>
              <a:t> Fundamentals using C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00FF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rgbClr val="0000FF"/>
                </a:solidFill>
              </a:rPr>
              <a:t>Contiguous Storage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/>
              <a:t>Module F: Arrays, Simple Data Structure</a:t>
            </a:r>
          </a:p>
          <a:p>
            <a:r>
              <a:rPr lang="en-US" b="1" dirty="0">
                <a:solidFill>
                  <a:schemeClr val="tx1"/>
                </a:solidFill>
              </a:rPr>
              <a:t>Contiguous Storage</a:t>
            </a:r>
          </a:p>
          <a:p>
            <a:r>
              <a:rPr lang="en-US" b="1" dirty="0"/>
              <a:t>Searching</a:t>
            </a:r>
          </a:p>
          <a:p>
            <a:r>
              <a:rPr lang="en-US" b="1" dirty="0">
                <a:solidFill>
                  <a:schemeClr val="tx1"/>
                </a:solidFill>
              </a:rPr>
              <a:t>Sorting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manage a group of data?</a:t>
            </a:r>
          </a:p>
          <a:p>
            <a:pPr lvl="1"/>
            <a:r>
              <a:rPr lang="en-US" dirty="0"/>
              <a:t>Store</a:t>
            </a:r>
          </a:p>
          <a:p>
            <a:pPr lvl="1"/>
            <a:r>
              <a:rPr lang="en-US" dirty="0"/>
              <a:t>Input</a:t>
            </a:r>
          </a:p>
          <a:p>
            <a:pPr lvl="1"/>
            <a:r>
              <a:rPr lang="en-US" dirty="0"/>
              <a:t>Output</a:t>
            </a:r>
          </a:p>
          <a:p>
            <a:pPr lvl="1"/>
            <a:r>
              <a:rPr lang="en-US" dirty="0"/>
              <a:t>Search</a:t>
            </a:r>
          </a:p>
          <a:p>
            <a:pPr lvl="1"/>
            <a:r>
              <a:rPr lang="en-US" dirty="0"/>
              <a:t>Sort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 to contiguous storage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One-dimensional Arrays</a:t>
            </a:r>
          </a:p>
          <a:p>
            <a:pPr lvl="1"/>
            <a:r>
              <a:rPr lang="en-US" dirty="0"/>
              <a:t>Declaration</a:t>
            </a:r>
          </a:p>
          <a:p>
            <a:pPr lvl="1"/>
            <a:r>
              <a:rPr lang="en-US" dirty="0"/>
              <a:t>Memory Allocation</a:t>
            </a:r>
          </a:p>
          <a:p>
            <a:pPr lvl="1"/>
            <a:r>
              <a:rPr lang="en-US" dirty="0"/>
              <a:t>Initialization</a:t>
            </a:r>
          </a:p>
          <a:p>
            <a:pPr lvl="1"/>
            <a:r>
              <a:rPr lang="en-US" dirty="0"/>
              <a:t>Accessing elements</a:t>
            </a:r>
          </a:p>
          <a:p>
            <a:pPr lvl="1"/>
            <a:r>
              <a:rPr lang="en-US" dirty="0"/>
              <a:t>Traversing</a:t>
            </a:r>
          </a:p>
          <a:p>
            <a:pPr lvl="1"/>
            <a:r>
              <a:rPr lang="en-US" dirty="0"/>
              <a:t>1-D Arrays are parameters of functions</a:t>
            </a:r>
          </a:p>
          <a:p>
            <a:pPr lvl="1"/>
            <a:r>
              <a:rPr lang="en-US" dirty="0"/>
              <a:t>Searching</a:t>
            </a:r>
          </a:p>
          <a:p>
            <a:pPr lvl="1"/>
            <a:r>
              <a:rPr lang="en-US" dirty="0"/>
              <a:t>Sorting</a:t>
            </a:r>
          </a:p>
          <a:p>
            <a:r>
              <a:rPr lang="en-US" dirty="0"/>
              <a:t>2-D 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Contiguous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Commonly, a group of the same meaning elements are considered.</a:t>
            </a:r>
          </a:p>
          <a:p>
            <a:r>
              <a:rPr lang="en-US" dirty="0"/>
              <a:t>They are stored in a contiguous block of memory.</a:t>
            </a:r>
          </a:p>
          <a:p>
            <a:r>
              <a:rPr lang="en-US" dirty="0"/>
              <a:t>Ex:  Group of 10 int numbers </a:t>
            </a:r>
            <a:r>
              <a:rPr lang="en-US" dirty="0">
                <a:sym typeface="Wingdings" pitchFamily="2" charset="2"/>
              </a:rPr>
              <a:t> 40 bytes block is needed.</a:t>
            </a:r>
          </a:p>
          <a:p>
            <a:r>
              <a:rPr lang="en-US" dirty="0">
                <a:sym typeface="Wingdings" pitchFamily="2" charset="2"/>
              </a:rPr>
              <a:t>Data are considered can be a group of some items which belong to some different data types  Contiguous memory block is partitioned into some parts which have different size, one part for an item.</a:t>
            </a:r>
          </a:p>
          <a:p>
            <a:r>
              <a:rPr lang="en-US" dirty="0">
                <a:sym typeface="Wingdings" pitchFamily="2" charset="2"/>
              </a:rPr>
              <a:t>Data structure: A structure of data stored.</a:t>
            </a:r>
          </a:p>
          <a:p>
            <a:r>
              <a:rPr lang="en-US" dirty="0">
                <a:sym typeface="Wingdings" pitchFamily="2" charset="2"/>
              </a:rPr>
              <a:t>Array is the simplest data structure which contains some items which belong to the sane data type.</a:t>
            </a:r>
          </a:p>
          <a:p>
            <a:r>
              <a:rPr lang="en-US" dirty="0">
                <a:sym typeface="Wingdings" pitchFamily="2" charset="2"/>
              </a:rPr>
              <a:t>Common used operations on a group: Add, Search, Remove, Update, Sort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1"/>
            <a:ext cx="2286000" cy="30479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Array</a:t>
            </a:r>
            <a:r>
              <a:rPr lang="en-US" dirty="0"/>
              <a:t>: A group of elements which belong to the same data type. Each element is identified by it’s position (index).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419600"/>
            <a:ext cx="8458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1775" indent="-231775">
              <a:buFont typeface="Arial" pitchFamily="34" charset="0"/>
              <a:buChar char="•"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Dimension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Direction that is used to perform an action on array.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Number of dimensions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Number of indexes are used to specify an element.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Common arrays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1-D and 2-D arrays. 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Name of an 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 An array has it’s name.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438400" y="1371600"/>
            <a:ext cx="6629400" cy="2667000"/>
            <a:chOff x="2514600" y="1143000"/>
            <a:chExt cx="6629400" cy="2667000"/>
          </a:xfrm>
        </p:grpSpPr>
        <p:sp>
          <p:nvSpPr>
            <p:cNvPr id="6" name="Rectangle 16"/>
            <p:cNvSpPr>
              <a:spLocks noChangeArrowheads="1"/>
            </p:cNvSpPr>
            <p:nvPr/>
          </p:nvSpPr>
          <p:spPr bwMode="auto">
            <a:xfrm>
              <a:off x="3709086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5</a:t>
              </a:r>
            </a:p>
          </p:txBody>
        </p:sp>
        <p:sp>
          <p:nvSpPr>
            <p:cNvPr id="7" name="Rectangle 17"/>
            <p:cNvSpPr>
              <a:spLocks noChangeArrowheads="1"/>
            </p:cNvSpPr>
            <p:nvPr/>
          </p:nvSpPr>
          <p:spPr bwMode="auto">
            <a:xfrm>
              <a:off x="4246605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4</a:t>
              </a:r>
            </a:p>
          </p:txBody>
        </p:sp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4784124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8</a:t>
              </a:r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5321643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15</a:t>
              </a:r>
            </a:p>
          </p:txBody>
        </p:sp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5859162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90</a:t>
              </a:r>
            </a:p>
          </p:txBody>
        </p:sp>
        <p:sp>
          <p:nvSpPr>
            <p:cNvPr id="11" name="Rectangle 21"/>
            <p:cNvSpPr>
              <a:spLocks noChangeArrowheads="1"/>
            </p:cNvSpPr>
            <p:nvPr/>
          </p:nvSpPr>
          <p:spPr bwMode="auto">
            <a:xfrm>
              <a:off x="6396681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27</a:t>
              </a:r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6934200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34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7471719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21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8009238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152</a:t>
              </a:r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8546757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80</a:t>
              </a:r>
            </a:p>
          </p:txBody>
        </p:sp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2514600" y="1539240"/>
              <a:ext cx="716692" cy="237744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</a:t>
              </a:r>
            </a:p>
            <a:p>
              <a:pPr algn="ctr"/>
              <a:r>
                <a:rPr lang="en-US" b="1" dirty="0"/>
                <a:t>(array)</a:t>
              </a:r>
            </a:p>
          </p:txBody>
        </p:sp>
        <p:sp>
          <p:nvSpPr>
            <p:cNvPr id="17" name="Rectangle 27"/>
            <p:cNvSpPr>
              <a:spLocks noChangeArrowheads="1"/>
            </p:cNvSpPr>
            <p:nvPr/>
          </p:nvSpPr>
          <p:spPr bwMode="auto">
            <a:xfrm>
              <a:off x="5202195" y="1816608"/>
              <a:ext cx="836141" cy="545592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a[3]</a:t>
              </a:r>
            </a:p>
            <a:p>
              <a:pPr algn="ctr"/>
              <a:r>
                <a:rPr lang="en-US" b="1" dirty="0"/>
                <a:t>element</a:t>
              </a:r>
            </a:p>
          </p:txBody>
        </p:sp>
        <p:sp>
          <p:nvSpPr>
            <p:cNvPr id="18" name="Line 28"/>
            <p:cNvSpPr>
              <a:spLocks noChangeShapeType="1"/>
            </p:cNvSpPr>
            <p:nvPr/>
          </p:nvSpPr>
          <p:spPr bwMode="auto">
            <a:xfrm flipV="1">
              <a:off x="5620265" y="1658112"/>
              <a:ext cx="0" cy="158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Rectangle 30"/>
            <p:cNvSpPr>
              <a:spLocks noChangeArrowheads="1"/>
            </p:cNvSpPr>
            <p:nvPr/>
          </p:nvSpPr>
          <p:spPr bwMode="auto">
            <a:xfrm>
              <a:off x="3709086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0</a:t>
              </a:r>
            </a:p>
          </p:txBody>
        </p:sp>
        <p:sp>
          <p:nvSpPr>
            <p:cNvPr id="20" name="Rectangle 31"/>
            <p:cNvSpPr>
              <a:spLocks noChangeArrowheads="1"/>
            </p:cNvSpPr>
            <p:nvPr/>
          </p:nvSpPr>
          <p:spPr bwMode="auto">
            <a:xfrm>
              <a:off x="4246605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21" name="Rectangle 32"/>
            <p:cNvSpPr>
              <a:spLocks noChangeArrowheads="1"/>
            </p:cNvSpPr>
            <p:nvPr/>
          </p:nvSpPr>
          <p:spPr bwMode="auto">
            <a:xfrm>
              <a:off x="4784124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22" name="Rectangle 33"/>
            <p:cNvSpPr>
              <a:spLocks noChangeArrowheads="1"/>
            </p:cNvSpPr>
            <p:nvPr/>
          </p:nvSpPr>
          <p:spPr bwMode="auto">
            <a:xfrm>
              <a:off x="5321643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23" name="Rectangle 34"/>
            <p:cNvSpPr>
              <a:spLocks noChangeArrowheads="1"/>
            </p:cNvSpPr>
            <p:nvPr/>
          </p:nvSpPr>
          <p:spPr bwMode="auto">
            <a:xfrm>
              <a:off x="5859162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4</a:t>
              </a:r>
            </a:p>
          </p:txBody>
        </p:sp>
        <p:sp>
          <p:nvSpPr>
            <p:cNvPr id="24" name="Rectangle 35"/>
            <p:cNvSpPr>
              <a:spLocks noChangeArrowheads="1"/>
            </p:cNvSpPr>
            <p:nvPr/>
          </p:nvSpPr>
          <p:spPr bwMode="auto">
            <a:xfrm>
              <a:off x="6396681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5</a:t>
              </a:r>
            </a:p>
          </p:txBody>
        </p:sp>
        <p:sp>
          <p:nvSpPr>
            <p:cNvPr id="25" name="Rectangle 36"/>
            <p:cNvSpPr>
              <a:spLocks noChangeArrowheads="1"/>
            </p:cNvSpPr>
            <p:nvPr/>
          </p:nvSpPr>
          <p:spPr bwMode="auto">
            <a:xfrm>
              <a:off x="6934200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6</a:t>
              </a:r>
            </a:p>
          </p:txBody>
        </p:sp>
        <p:sp>
          <p:nvSpPr>
            <p:cNvPr id="26" name="Rectangle 37"/>
            <p:cNvSpPr>
              <a:spLocks noChangeArrowheads="1"/>
            </p:cNvSpPr>
            <p:nvPr/>
          </p:nvSpPr>
          <p:spPr bwMode="auto">
            <a:xfrm>
              <a:off x="7471719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7</a:t>
              </a:r>
            </a:p>
          </p:txBody>
        </p:sp>
        <p:sp>
          <p:nvSpPr>
            <p:cNvPr id="27" name="Rectangle 38"/>
            <p:cNvSpPr>
              <a:spLocks noChangeArrowheads="1"/>
            </p:cNvSpPr>
            <p:nvPr/>
          </p:nvSpPr>
          <p:spPr bwMode="auto">
            <a:xfrm>
              <a:off x="8009238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8</a:t>
              </a:r>
            </a:p>
          </p:txBody>
        </p:sp>
        <p:sp>
          <p:nvSpPr>
            <p:cNvPr id="28" name="Rectangle 39"/>
            <p:cNvSpPr>
              <a:spLocks noChangeArrowheads="1"/>
            </p:cNvSpPr>
            <p:nvPr/>
          </p:nvSpPr>
          <p:spPr bwMode="auto">
            <a:xfrm>
              <a:off x="8546757" y="1222248"/>
              <a:ext cx="537519" cy="19812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9</a:t>
              </a:r>
            </a:p>
          </p:txBody>
        </p:sp>
        <p:sp>
          <p:nvSpPr>
            <p:cNvPr id="29" name="AutoShape 42"/>
            <p:cNvSpPr>
              <a:spLocks noChangeArrowheads="1"/>
            </p:cNvSpPr>
            <p:nvPr/>
          </p:nvSpPr>
          <p:spPr bwMode="auto">
            <a:xfrm>
              <a:off x="3649362" y="1380744"/>
              <a:ext cx="5494638" cy="396240"/>
            </a:xfrm>
            <a:prstGeom prst="wedgeRectCallout">
              <a:avLst>
                <a:gd name="adj1" fmla="val -55750"/>
                <a:gd name="adj2" fmla="val 11042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30" name="Rectangle 43"/>
            <p:cNvSpPr>
              <a:spLocks noChangeArrowheads="1"/>
            </p:cNvSpPr>
            <p:nvPr/>
          </p:nvSpPr>
          <p:spPr bwMode="auto">
            <a:xfrm>
              <a:off x="2813222" y="1143000"/>
              <a:ext cx="716692" cy="237744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index</a:t>
              </a:r>
            </a:p>
          </p:txBody>
        </p:sp>
        <p:sp>
          <p:nvSpPr>
            <p:cNvPr id="31" name="Rectangle 47"/>
            <p:cNvSpPr>
              <a:spLocks noChangeArrowheads="1"/>
            </p:cNvSpPr>
            <p:nvPr/>
          </p:nvSpPr>
          <p:spPr bwMode="auto">
            <a:xfrm>
              <a:off x="6456405" y="1895856"/>
              <a:ext cx="1552832" cy="237744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a[i] is an integer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715000" y="2857500"/>
              <a:ext cx="1924050" cy="952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3" name="Rectangle 32"/>
            <p:cNvSpPr/>
            <p:nvPr/>
          </p:nvSpPr>
          <p:spPr>
            <a:xfrm>
              <a:off x="5410200" y="2781300"/>
              <a:ext cx="457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724400" y="3238500"/>
              <a:ext cx="838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row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48400" y="2552700"/>
              <a:ext cx="1219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column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48600" y="2857500"/>
              <a:ext cx="1066800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m[1][3]</a:t>
              </a:r>
            </a:p>
          </p:txBody>
        </p:sp>
        <p:cxnSp>
          <p:nvCxnSpPr>
            <p:cNvPr id="38" name="Straight Arrow Connector 37"/>
            <p:cNvCxnSpPr>
              <a:stCxn id="36" idx="1"/>
            </p:cNvCxnSpPr>
            <p:nvPr/>
          </p:nvCxnSpPr>
          <p:spPr>
            <a:xfrm rot="10800000" flipV="1">
              <a:off x="7239000" y="3009900"/>
              <a:ext cx="609600" cy="381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 One Dimensional  (1-D)Arrays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2666999"/>
          </a:xfrm>
        </p:spPr>
        <p:txBody>
          <a:bodyPr>
            <a:normAutofit fontScale="92500"/>
          </a:bodyPr>
          <a:lstStyle/>
          <a:p>
            <a:r>
              <a:rPr lang="en-US" dirty="0"/>
              <a:t>1-D array: a collection of items (elements, terms) which belong to the same data type and are stored contiguously in memory.</a:t>
            </a:r>
          </a:p>
          <a:p>
            <a:pPr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Each element is identified by a unique index of it’s position in the array (an integer from 0).</a:t>
            </a:r>
            <a:r>
              <a:rPr lang="en-US" dirty="0"/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" y="4114800"/>
            <a:ext cx="8458200" cy="1905000"/>
            <a:chOff x="228600" y="4114800"/>
            <a:chExt cx="8458200" cy="1905000"/>
          </a:xfrm>
        </p:grpSpPr>
        <p:sp>
          <p:nvSpPr>
            <p:cNvPr id="5" name="Rectangle 16"/>
            <p:cNvSpPr>
              <a:spLocks noChangeArrowheads="1"/>
            </p:cNvSpPr>
            <p:nvPr/>
          </p:nvSpPr>
          <p:spPr bwMode="auto">
            <a:xfrm>
              <a:off x="17526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5</a:t>
              </a:r>
            </a:p>
          </p:txBody>
        </p:sp>
        <p:sp>
          <p:nvSpPr>
            <p:cNvPr id="6" name="Rectangle 17"/>
            <p:cNvSpPr>
              <a:spLocks noChangeArrowheads="1"/>
            </p:cNvSpPr>
            <p:nvPr/>
          </p:nvSpPr>
          <p:spPr bwMode="auto">
            <a:xfrm>
              <a:off x="24384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4</a:t>
              </a:r>
            </a:p>
          </p:txBody>
        </p:sp>
        <p:sp>
          <p:nvSpPr>
            <p:cNvPr id="7" name="Rectangle 18"/>
            <p:cNvSpPr>
              <a:spLocks noChangeArrowheads="1"/>
            </p:cNvSpPr>
            <p:nvPr/>
          </p:nvSpPr>
          <p:spPr bwMode="auto">
            <a:xfrm>
              <a:off x="31242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8</a:t>
              </a:r>
            </a:p>
          </p:txBody>
        </p:sp>
        <p:sp>
          <p:nvSpPr>
            <p:cNvPr id="8" name="Rectangle 19"/>
            <p:cNvSpPr>
              <a:spLocks noChangeArrowheads="1"/>
            </p:cNvSpPr>
            <p:nvPr/>
          </p:nvSpPr>
          <p:spPr bwMode="auto">
            <a:xfrm>
              <a:off x="38100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15</a:t>
              </a:r>
            </a:p>
          </p:txBody>
        </p:sp>
        <p:sp>
          <p:nvSpPr>
            <p:cNvPr id="9" name="Rectangle 20"/>
            <p:cNvSpPr>
              <a:spLocks noChangeArrowheads="1"/>
            </p:cNvSpPr>
            <p:nvPr/>
          </p:nvSpPr>
          <p:spPr bwMode="auto">
            <a:xfrm>
              <a:off x="44958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90</a:t>
              </a:r>
            </a:p>
          </p:txBody>
        </p:sp>
        <p:sp>
          <p:nvSpPr>
            <p:cNvPr id="10" name="Rectangle 21"/>
            <p:cNvSpPr>
              <a:spLocks noChangeArrowheads="1"/>
            </p:cNvSpPr>
            <p:nvPr/>
          </p:nvSpPr>
          <p:spPr bwMode="auto">
            <a:xfrm>
              <a:off x="51816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27</a:t>
              </a:r>
            </a:p>
          </p:txBody>
        </p:sp>
        <p:sp>
          <p:nvSpPr>
            <p:cNvPr id="11" name="Rectangle 22"/>
            <p:cNvSpPr>
              <a:spLocks noChangeArrowheads="1"/>
            </p:cNvSpPr>
            <p:nvPr/>
          </p:nvSpPr>
          <p:spPr bwMode="auto">
            <a:xfrm>
              <a:off x="58674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34</a:t>
              </a:r>
            </a:p>
          </p:txBody>
        </p:sp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65532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21</a:t>
              </a:r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72390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152</a:t>
              </a:r>
            </a:p>
          </p:txBody>
        </p: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7924800" y="4648200"/>
              <a:ext cx="685800" cy="6096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80</a:t>
              </a: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228600" y="4876800"/>
              <a:ext cx="914400" cy="457200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</a:t>
              </a:r>
            </a:p>
            <a:p>
              <a:pPr algn="ctr"/>
              <a:r>
                <a:rPr lang="en-US" b="1" dirty="0"/>
                <a:t>(array)</a:t>
              </a:r>
            </a:p>
          </p:txBody>
        </p:sp>
        <p:sp>
          <p:nvSpPr>
            <p:cNvPr id="16" name="Rectangle 27"/>
            <p:cNvSpPr>
              <a:spLocks noChangeArrowheads="1"/>
            </p:cNvSpPr>
            <p:nvPr/>
          </p:nvSpPr>
          <p:spPr bwMode="auto">
            <a:xfrm>
              <a:off x="3657600" y="5410200"/>
              <a:ext cx="1066800" cy="457200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a[3]</a:t>
              </a:r>
            </a:p>
            <a:p>
              <a:pPr algn="ctr"/>
              <a:r>
                <a:rPr lang="en-US" b="1" dirty="0"/>
                <a:t>element</a:t>
              </a: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 flipV="1">
              <a:off x="4191000" y="51054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Rectangle 30"/>
            <p:cNvSpPr>
              <a:spLocks noChangeArrowheads="1"/>
            </p:cNvSpPr>
            <p:nvPr/>
          </p:nvSpPr>
          <p:spPr bwMode="auto">
            <a:xfrm>
              <a:off x="17526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0</a:t>
              </a:r>
            </a:p>
          </p:txBody>
        </p:sp>
        <p:sp>
          <p:nvSpPr>
            <p:cNvPr id="19" name="Rectangle 31"/>
            <p:cNvSpPr>
              <a:spLocks noChangeArrowheads="1"/>
            </p:cNvSpPr>
            <p:nvPr/>
          </p:nvSpPr>
          <p:spPr bwMode="auto">
            <a:xfrm>
              <a:off x="24384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20" name="Rectangle 32"/>
            <p:cNvSpPr>
              <a:spLocks noChangeArrowheads="1"/>
            </p:cNvSpPr>
            <p:nvPr/>
          </p:nvSpPr>
          <p:spPr bwMode="auto">
            <a:xfrm>
              <a:off x="31242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21" name="Rectangle 33"/>
            <p:cNvSpPr>
              <a:spLocks noChangeArrowheads="1"/>
            </p:cNvSpPr>
            <p:nvPr/>
          </p:nvSpPr>
          <p:spPr bwMode="auto">
            <a:xfrm>
              <a:off x="38100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22" name="Rectangle 34"/>
            <p:cNvSpPr>
              <a:spLocks noChangeArrowheads="1"/>
            </p:cNvSpPr>
            <p:nvPr/>
          </p:nvSpPr>
          <p:spPr bwMode="auto">
            <a:xfrm>
              <a:off x="44958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4</a:t>
              </a:r>
            </a:p>
          </p:txBody>
        </p:sp>
        <p:sp>
          <p:nvSpPr>
            <p:cNvPr id="23" name="Rectangle 35"/>
            <p:cNvSpPr>
              <a:spLocks noChangeArrowheads="1"/>
            </p:cNvSpPr>
            <p:nvPr/>
          </p:nvSpPr>
          <p:spPr bwMode="auto">
            <a:xfrm>
              <a:off x="51816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5</a:t>
              </a:r>
            </a:p>
          </p:txBody>
        </p:sp>
        <p:sp>
          <p:nvSpPr>
            <p:cNvPr id="24" name="Rectangle 36"/>
            <p:cNvSpPr>
              <a:spLocks noChangeArrowheads="1"/>
            </p:cNvSpPr>
            <p:nvPr/>
          </p:nvSpPr>
          <p:spPr bwMode="auto">
            <a:xfrm>
              <a:off x="58674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6</a:t>
              </a:r>
            </a:p>
          </p:txBody>
        </p:sp>
        <p:sp>
          <p:nvSpPr>
            <p:cNvPr id="25" name="Rectangle 37"/>
            <p:cNvSpPr>
              <a:spLocks noChangeArrowheads="1"/>
            </p:cNvSpPr>
            <p:nvPr/>
          </p:nvSpPr>
          <p:spPr bwMode="auto">
            <a:xfrm>
              <a:off x="65532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7</a:t>
              </a:r>
            </a:p>
          </p:txBody>
        </p:sp>
        <p:sp>
          <p:nvSpPr>
            <p:cNvPr id="26" name="Rectangle 38"/>
            <p:cNvSpPr>
              <a:spLocks noChangeArrowheads="1"/>
            </p:cNvSpPr>
            <p:nvPr/>
          </p:nvSpPr>
          <p:spPr bwMode="auto">
            <a:xfrm>
              <a:off x="72390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8</a:t>
              </a:r>
            </a:p>
          </p:txBody>
        </p:sp>
        <p:sp>
          <p:nvSpPr>
            <p:cNvPr id="27" name="Rectangle 39"/>
            <p:cNvSpPr>
              <a:spLocks noChangeArrowheads="1"/>
            </p:cNvSpPr>
            <p:nvPr/>
          </p:nvSpPr>
          <p:spPr bwMode="auto">
            <a:xfrm>
              <a:off x="7924800" y="4267200"/>
              <a:ext cx="685800" cy="3810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9</a:t>
              </a:r>
            </a:p>
          </p:txBody>
        </p:sp>
        <p:sp>
          <p:nvSpPr>
            <p:cNvPr id="28" name="AutoShape 42"/>
            <p:cNvSpPr>
              <a:spLocks noChangeArrowheads="1"/>
            </p:cNvSpPr>
            <p:nvPr/>
          </p:nvSpPr>
          <p:spPr bwMode="auto">
            <a:xfrm>
              <a:off x="1676400" y="4572000"/>
              <a:ext cx="7010400" cy="762000"/>
            </a:xfrm>
            <a:prstGeom prst="wedgeRectCallout">
              <a:avLst>
                <a:gd name="adj1" fmla="val -55750"/>
                <a:gd name="adj2" fmla="val 11042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29" name="Rectangle 43"/>
            <p:cNvSpPr>
              <a:spLocks noChangeArrowheads="1"/>
            </p:cNvSpPr>
            <p:nvPr/>
          </p:nvSpPr>
          <p:spPr bwMode="auto">
            <a:xfrm>
              <a:off x="609600" y="4114800"/>
              <a:ext cx="914400" cy="45720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index</a:t>
              </a: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5257800" y="5562600"/>
              <a:ext cx="1981200" cy="457200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a[i] is an integer</a:t>
              </a:r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FEBE-51F3-3046-BE22-2B4AA978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Declaration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34ED-42F7-1D40-8FD2-76D069117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Declaration: </a:t>
            </a:r>
            <a:r>
              <a:rPr lang="en-US" b="1" dirty="0" err="1"/>
              <a:t>i</a:t>
            </a:r>
            <a:r>
              <a:rPr lang="en-VN" b="1" dirty="0"/>
              <a:t>nt </a:t>
            </a:r>
            <a:r>
              <a:rPr lang="en-VN" dirty="0"/>
              <a:t>a[5];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VN" b="1" dirty="0"/>
              <a:t>int: </a:t>
            </a:r>
            <a:r>
              <a:rPr lang="en-VN" dirty="0"/>
              <a:t>data 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VN" dirty="0"/>
              <a:t>a: name of </a:t>
            </a:r>
            <a:r>
              <a:rPr lang="en-US" dirty="0"/>
              <a:t>the </a:t>
            </a:r>
            <a:r>
              <a:rPr lang="en-VN" dirty="0"/>
              <a:t>array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5</a:t>
            </a:r>
            <a:r>
              <a:rPr lang="en-VN" dirty="0"/>
              <a:t>: number of </a:t>
            </a:r>
            <a:r>
              <a:rPr lang="en-US" dirty="0"/>
              <a:t>elements in the array</a:t>
            </a:r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F930C-59FC-7845-8428-E5D16751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Contiguous Storage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120F8-5546-A249-85CA-169110B0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0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1"/>
            <a:ext cx="8763000" cy="2514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the array is stored in the stack segment </a:t>
            </a:r>
            <a:r>
              <a:rPr lang="en-US" dirty="0">
                <a:sym typeface="Wingdings" pitchFamily="2" charset="2"/>
              </a:rPr>
              <a:t> Use a STATIC array  The compiler will determine the array’s storage at compile-time.</a:t>
            </a:r>
          </a:p>
          <a:p>
            <a:r>
              <a:rPr lang="en-US" dirty="0"/>
              <a:t>If the array is stored in the heap </a:t>
            </a:r>
            <a:r>
              <a:rPr lang="en-US" dirty="0">
                <a:sym typeface="Wingdings" pitchFamily="2" charset="2"/>
              </a:rPr>
              <a:t> Use a pointer (DYNAMIC array)  The array’s storage will be allocated in the heap at run-time through memory allocating functions (malloc, calloc, realloc)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4800" y="3810000"/>
            <a:ext cx="7239000" cy="1676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DataType  ArrayName[NumberOfElements] ;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r>
              <a:rPr lang="en-US" dirty="0"/>
              <a:t>int  a1[5];</a:t>
            </a:r>
          </a:p>
          <a:p>
            <a:r>
              <a:rPr lang="en-US" dirty="0"/>
              <a:t>char  s[12];</a:t>
            </a:r>
          </a:p>
          <a:p>
            <a:r>
              <a:rPr lang="en-US" dirty="0"/>
              <a:t>double  a3[100];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8400" y="4114800"/>
            <a:ext cx="4953000" cy="1371600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</a:rPr>
              <a:t>How compilers can determine the memory size of an array?</a:t>
            </a:r>
          </a:p>
          <a:p>
            <a:r>
              <a:rPr lang="en-US" dirty="0">
                <a:solidFill>
                  <a:srgbClr val="0000FF"/>
                </a:solidFill>
              </a:rPr>
              <a:t>NumberOfElements * sizeof(dataType)</a:t>
            </a:r>
          </a:p>
          <a:p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 int  a1[5]  5 *sizeof(int) = 5*4 = 20 bytes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4800" y="5638800"/>
            <a:ext cx="7772400" cy="990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float  *a;</a:t>
            </a:r>
          </a:p>
          <a:p>
            <a:r>
              <a:rPr lang="en-US" dirty="0"/>
              <a:t>a = (float*)calloc (10, sizeof(float)); /* allocate a block of 10 float numbers */ 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rot="5400000">
            <a:off x="1447800" y="2514600"/>
            <a:ext cx="1828800" cy="7620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5400000">
            <a:off x="1181100" y="4229100"/>
            <a:ext cx="2514600" cy="7620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14DA-0658-C54E-A3E9-190A351A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Declaration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EA01B-BC1A-7445-B7F8-3370D8552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VN" sz="2800" dirty="0"/>
              <a:t>When us</a:t>
            </a:r>
            <a:r>
              <a:rPr lang="en-US" sz="2800" dirty="0" err="1"/>
              <a:t>ing</a:t>
            </a:r>
            <a:r>
              <a:rPr lang="en-VN" sz="2800" dirty="0"/>
              <a:t> dynamic memory allocation for array?</a:t>
            </a:r>
          </a:p>
          <a:p>
            <a:pPr marL="0" indent="0">
              <a:buNone/>
            </a:pPr>
            <a:r>
              <a:rPr lang="en-US" sz="2800" dirty="0"/>
              <a:t>Do not know the </a:t>
            </a:r>
            <a:r>
              <a:rPr lang="en-VN" sz="2800" dirty="0"/>
              <a:t>size of an array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Overcome maximum number of elements in a array: 64KB</a:t>
            </a:r>
            <a:endParaRPr lang="en-VN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78988-307E-9740-A3BA-AAEAA6D8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Contiguous Storage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44B62-6E74-B743-8BFA-C5BFE040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507EB-CBA1-3D48-93FA-010FE6248F2F}"/>
              </a:ext>
            </a:extLst>
          </p:cNvPr>
          <p:cNvSpPr/>
          <p:nvPr/>
        </p:nvSpPr>
        <p:spPr>
          <a:xfrm>
            <a:off x="364067" y="2453899"/>
            <a:ext cx="243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Menlo" panose="020B060903080402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n</a:t>
            </a:r>
            <a:r>
              <a:rPr lang="en-US">
                <a:solidFill>
                  <a:srgbClr val="EC5F66"/>
                </a:solidFill>
                <a:latin typeface="Menlo" panose="020B0609030804020204" pitchFamily="49" charset="0"/>
              </a:rPr>
              <a:t> = 2;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a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n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];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250062-33BC-DF4B-8EF5-4166BF6EE699}"/>
              </a:ext>
            </a:extLst>
          </p:cNvPr>
          <p:cNvSpPr/>
          <p:nvPr/>
        </p:nvSpPr>
        <p:spPr>
          <a:xfrm>
            <a:off x="3386667" y="2310935"/>
            <a:ext cx="5715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m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scanf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5FB4B4"/>
                </a:solidFill>
                <a:latin typeface="Menlo" panose="020B0609030804020204" pitchFamily="49" charset="0"/>
              </a:rPr>
              <a:t>"</a:t>
            </a:r>
            <a:r>
              <a:rPr lang="en-US" b="1" dirty="0">
                <a:solidFill>
                  <a:srgbClr val="D926D9"/>
                </a:solidFill>
                <a:latin typeface="Menlo" panose="020B0609030804020204" pitchFamily="49" charset="0"/>
              </a:rPr>
              <a:t>%d</a:t>
            </a:r>
            <a:r>
              <a:rPr lang="en-US" b="1" dirty="0">
                <a:solidFill>
                  <a:srgbClr val="5FB4B4"/>
                </a:solidFill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F97B58"/>
                </a:solidFill>
                <a:latin typeface="Menlo" panose="020B060903080402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m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F97B58"/>
                </a:solidFill>
                <a:latin typeface="Menlo" panose="020B060903080402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a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a </a:t>
            </a:r>
            <a:r>
              <a:rPr lang="en-US" dirty="0">
                <a:solidFill>
                  <a:srgbClr val="F97B58"/>
                </a:solidFill>
                <a:latin typeface="Menlo" panose="020B060903080402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F97B58"/>
                </a:solidFill>
                <a:latin typeface="Menlo" panose="020B0609030804020204" pitchFamily="49" charset="0"/>
              </a:rPr>
              <a:t>*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calloc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m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002BFF"/>
                </a:solidFill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EC5F66"/>
                </a:solidFill>
                <a:latin typeface="Menlo" panose="020B0609030804020204" pitchFamily="49" charset="0"/>
              </a:rPr>
              <a:t>));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367" y="5709946"/>
            <a:ext cx="614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524288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];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45AC39"/>
                </a:solidFill>
                <a:latin typeface="Consolas" panose="020B0609020204030204" pitchFamily="49" charset="0"/>
              </a:rPr>
              <a:t>b = 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%d</a:t>
            </a:r>
            <a:r>
              <a:rPr lang="en-US" b="1" dirty="0">
                <a:solidFill>
                  <a:srgbClr val="45AC39"/>
                </a:solidFill>
                <a:latin typeface="Consolas" panose="020B0609020204030204" pitchFamily="49" charset="0"/>
              </a:rPr>
              <a:t>, size of a: 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%d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2BFF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));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60133" y="3938301"/>
            <a:ext cx="63246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6ACB9"/>
                </a:solidFill>
                <a:latin typeface="Consolas" panose="020B0609020204030204" pitchFamily="49" charset="0"/>
              </a:rPr>
              <a:t>// m = 524288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%d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2BFF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));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45AC39"/>
                </a:solidFill>
                <a:latin typeface="Consolas" panose="020B0609020204030204" pitchFamily="49" charset="0"/>
              </a:rPr>
              <a:t>b = 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%d</a:t>
            </a:r>
            <a:r>
              <a:rPr lang="en-US" b="1" dirty="0">
                <a:solidFill>
                  <a:srgbClr val="45AC39"/>
                </a:solidFill>
                <a:latin typeface="Consolas" panose="020B0609020204030204" pitchFamily="49" charset="0"/>
              </a:rPr>
              <a:t>, size of a: 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%d\n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2BFF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));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45AC39"/>
                </a:solidFill>
                <a:latin typeface="Consolas" panose="020B0609020204030204" pitchFamily="49" charset="0"/>
              </a:rPr>
              <a:t>a[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%d</a:t>
            </a:r>
            <a:r>
              <a:rPr lang="en-US" b="1" dirty="0">
                <a:solidFill>
                  <a:srgbClr val="45AC39"/>
                </a:solidFill>
                <a:latin typeface="Consolas" panose="020B0609020204030204" pitchFamily="49" charset="0"/>
              </a:rPr>
              <a:t>] = </a:t>
            </a:r>
            <a:r>
              <a:rPr lang="en-US" b="1" dirty="0">
                <a:solidFill>
                  <a:srgbClr val="D926D9"/>
                </a:solidFill>
                <a:latin typeface="Consolas" panose="020B0609020204030204" pitchFamily="49" charset="0"/>
              </a:rPr>
              <a:t>%.1lf</a:t>
            </a:r>
            <a:r>
              <a:rPr lang="en-US" b="1" dirty="0">
                <a:solidFill>
                  <a:srgbClr val="5FB4B4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lang="en-US" dirty="0">
                <a:solidFill>
                  <a:srgbClr val="F97B58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F9AE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EC5F66"/>
                </a:solidFill>
                <a:latin typeface="Consolas" panose="020B0609020204030204" pitchFamily="49" charset="0"/>
              </a:rPr>
              <a:t>]);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41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6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Memory Allocation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219075" y="1066800"/>
            <a:ext cx="8467725" cy="5657850"/>
            <a:chOff x="219075" y="1066800"/>
            <a:chExt cx="8467725" cy="5657850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19075" y="3200400"/>
              <a:ext cx="7172325" cy="3524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7772400" y="1066800"/>
              <a:ext cx="9144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705600" y="106680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4202496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0" y="1371600"/>
              <a:ext cx="9144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705600" y="160020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4199056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772400" y="3429000"/>
              <a:ext cx="914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20</a:t>
              </a:r>
            </a:p>
            <a:p>
              <a:pPr algn="ctr"/>
              <a:r>
                <a:rPr lang="en-US" dirty="0"/>
                <a:t>bytes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53200" y="3733800"/>
              <a:ext cx="1219200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a1: 2293584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72400" y="1905000"/>
              <a:ext cx="914400" cy="1295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80</a:t>
              </a:r>
            </a:p>
            <a:p>
              <a:pPr algn="ctr"/>
              <a:r>
                <a:rPr lang="en-US" dirty="0"/>
                <a:t>bytes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05600" y="297180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4072496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1676400" y="1371600"/>
              <a:ext cx="5105400" cy="2362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41" idx="1"/>
            </p:cNvCxnSpPr>
            <p:nvPr/>
          </p:nvCxnSpPr>
          <p:spPr>
            <a:xfrm flipV="1">
              <a:off x="2743200" y="4114800"/>
              <a:ext cx="38100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1905000" y="3886200"/>
              <a:ext cx="48006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1600200" y="1828800"/>
              <a:ext cx="5257800" cy="2133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5410200" y="106680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Data segment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334000" y="160020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Code segment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34000" y="342900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Stack segment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10200" y="243840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Heap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772400" y="3962400"/>
              <a:ext cx="9144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4072496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553200" y="3962400"/>
              <a:ext cx="12954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a2:2293580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rot="16200000" flipH="1">
              <a:off x="7239000" y="3352800"/>
              <a:ext cx="762000" cy="457200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/>
          <p:cNvSpPr/>
          <p:nvPr/>
        </p:nvSpPr>
        <p:spPr>
          <a:xfrm>
            <a:off x="381000" y="1295400"/>
            <a:ext cx="3581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The name of the array is the address of the first element.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114800"/>
            <a:ext cx="16002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3048000" y="4343400"/>
            <a:ext cx="16764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249362"/>
          </a:xfrm>
        </p:spPr>
        <p:txBody>
          <a:bodyPr/>
          <a:lstStyle/>
          <a:p>
            <a:r>
              <a:rPr lang="en-US" dirty="0"/>
              <a:t>1-D Arrays: </a:t>
            </a:r>
            <a:br>
              <a:rPr lang="en-US" dirty="0"/>
            </a:br>
            <a:r>
              <a:rPr lang="en-US" dirty="0"/>
              <a:t>Initialization &amp; Accessing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33600"/>
            <a:ext cx="8534400" cy="3048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Initialize an array: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Type a[] = {val1, val2, … };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How to access the i</a:t>
            </a:r>
            <a:r>
              <a:rPr lang="en-US" b="1" baseline="30000" dirty="0"/>
              <a:t>th</a:t>
            </a:r>
            <a:r>
              <a:rPr lang="en-US" b="1" dirty="0"/>
              <a:t> element of the array a?  </a:t>
            </a:r>
          </a:p>
          <a:p>
            <a:r>
              <a:rPr lang="en-US" sz="2800" b="1" i="1" dirty="0">
                <a:sym typeface="Wingdings" pitchFamily="2" charset="2"/>
              </a:rPr>
              <a:t>a</a:t>
            </a:r>
            <a:r>
              <a:rPr lang="en-US" sz="2800" dirty="0">
                <a:sym typeface="Wingdings" pitchFamily="2" charset="2"/>
              </a:rPr>
              <a:t> is the address of the first element. Based on operation on pointers:</a:t>
            </a:r>
          </a:p>
          <a:p>
            <a:pPr lvl="1">
              <a:buFont typeface="Wingdings" pitchFamily="2" charset="2"/>
              <a:buChar char="à"/>
            </a:pPr>
            <a:r>
              <a:rPr lang="en-US" b="1" i="1" dirty="0">
                <a:sym typeface="Wingdings" pitchFamily="2" charset="2"/>
              </a:rPr>
              <a:t> a+i</a:t>
            </a:r>
            <a:r>
              <a:rPr lang="en-US" dirty="0">
                <a:sym typeface="Wingdings" pitchFamily="2" charset="2"/>
              </a:rPr>
              <a:t> : address of the i</a:t>
            </a:r>
            <a:r>
              <a:rPr lang="en-US" baseline="30000" dirty="0">
                <a:sym typeface="Wingdings" pitchFamily="2" charset="2"/>
              </a:rPr>
              <a:t>th</a:t>
            </a:r>
            <a:r>
              <a:rPr lang="en-US" dirty="0">
                <a:sym typeface="Wingdings" pitchFamily="2" charset="2"/>
              </a:rPr>
              <a:t> element, another way: </a:t>
            </a:r>
            <a:r>
              <a:rPr lang="en-US" b="1" i="1" dirty="0">
                <a:sym typeface="Wingdings" pitchFamily="2" charset="2"/>
              </a:rPr>
              <a:t>&amp;a[i]</a:t>
            </a:r>
          </a:p>
          <a:p>
            <a:pPr lvl="1">
              <a:buFont typeface="Wingdings" pitchFamily="2" charset="2"/>
              <a:buChar char="à"/>
            </a:pPr>
            <a:r>
              <a:rPr lang="en-US" b="1" i="1" dirty="0">
                <a:sym typeface="Wingdings" pitchFamily="2" charset="2"/>
              </a:rPr>
              <a:t>*(a+i)</a:t>
            </a:r>
            <a:r>
              <a:rPr lang="en-US" dirty="0">
                <a:sym typeface="Wingdings" pitchFamily="2" charset="2"/>
              </a:rPr>
              <a:t>: value of the i</a:t>
            </a:r>
            <a:r>
              <a:rPr lang="en-US" baseline="30000" dirty="0">
                <a:sym typeface="Wingdings" pitchFamily="2" charset="2"/>
              </a:rPr>
              <a:t>th</a:t>
            </a:r>
            <a:r>
              <a:rPr lang="en-US" dirty="0">
                <a:sym typeface="Wingdings" pitchFamily="2" charset="2"/>
              </a:rPr>
              <a:t> element, another way: </a:t>
            </a:r>
            <a:r>
              <a:rPr lang="en-US" b="1" i="1" dirty="0">
                <a:sym typeface="Wingdings" pitchFamily="2" charset="2"/>
              </a:rPr>
              <a:t>a[i]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6950" y="3657600"/>
            <a:ext cx="67246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1-D Arrays: Init. &amp; Accessing…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6950" y="838200"/>
            <a:ext cx="6724650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0" y="1066800"/>
            <a:ext cx="21336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 will automatically count number of initial values to determine the size of array memory</a:t>
            </a:r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 flipV="1">
            <a:off x="2133600" y="1905000"/>
            <a:ext cx="4572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2971800"/>
            <a:ext cx="21336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size of array memory is pre-defined.</a:t>
            </a:r>
          </a:p>
          <a:p>
            <a:pPr algn="ctr"/>
            <a:r>
              <a:rPr lang="en-US" dirty="0"/>
              <a:t>Compiler will fill 0 to elements which are not initialized.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057400" y="4495800"/>
            <a:ext cx="609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4876800"/>
            <a:ext cx="21336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  a[5];</a:t>
            </a:r>
          </a:p>
          <a:p>
            <a:pPr algn="ctr"/>
            <a:r>
              <a:rPr lang="en-US" dirty="0"/>
              <a:t>Elements contain un-predictable values because they are local variables.</a:t>
            </a:r>
          </a:p>
          <a:p>
            <a:pPr algn="ctr"/>
            <a:r>
              <a:rPr lang="en-US" dirty="0"/>
              <a:t>TEST IT !!!!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Traversing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way to visit each element of an array</a:t>
            </a:r>
          </a:p>
          <a:p>
            <a:r>
              <a:rPr lang="en-US" dirty="0"/>
              <a:t>Suppose that the 1-D array, named </a:t>
            </a:r>
            <a:r>
              <a:rPr lang="en-US" b="1" i="1" dirty="0"/>
              <a:t>a</a:t>
            </a:r>
            <a:r>
              <a:rPr lang="en-US" dirty="0"/>
              <a:t>, containing </a:t>
            </a:r>
            <a:r>
              <a:rPr lang="en-US" b="1" i="1" dirty="0"/>
              <a:t>n</a:t>
            </a:r>
            <a:r>
              <a:rPr lang="en-US" dirty="0"/>
              <a:t> elements.</a:t>
            </a:r>
          </a:p>
          <a:p>
            <a:r>
              <a:rPr lang="en-US" b="1" i="1" dirty="0"/>
              <a:t>Forward traversal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int i;</a:t>
            </a:r>
          </a:p>
          <a:p>
            <a:pPr>
              <a:buNone/>
            </a:pPr>
            <a:r>
              <a:rPr lang="en-US" dirty="0"/>
              <a:t>    for (i=0; i&lt;n; i++)</a:t>
            </a:r>
          </a:p>
          <a:p>
            <a:pPr>
              <a:buNone/>
            </a:pPr>
            <a:r>
              <a:rPr lang="en-US" dirty="0"/>
              <a:t>   {   </a:t>
            </a:r>
            <a:r>
              <a:rPr lang="en-US" dirty="0">
                <a:solidFill>
                  <a:srgbClr val="0000FF"/>
                </a:solidFill>
              </a:rPr>
              <a:t>[if (condition)] </a:t>
            </a:r>
            <a:r>
              <a:rPr lang="en-US" dirty="0"/>
              <a:t>Access a[i];</a:t>
            </a:r>
          </a:p>
          <a:p>
            <a:pPr>
              <a:buNone/>
            </a:pPr>
            <a:r>
              <a:rPr lang="en-US" dirty="0"/>
              <a:t>   }</a:t>
            </a:r>
          </a:p>
          <a:p>
            <a:r>
              <a:rPr lang="en-US" b="1" i="1" dirty="0"/>
              <a:t>Backward traversal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int i;</a:t>
            </a:r>
          </a:p>
          <a:p>
            <a:pPr>
              <a:buNone/>
            </a:pPr>
            <a:r>
              <a:rPr lang="en-US" dirty="0"/>
              <a:t>    for (i=n-1; i &gt;=0; i--)</a:t>
            </a:r>
          </a:p>
          <a:p>
            <a:pPr>
              <a:buNone/>
            </a:pPr>
            <a:r>
              <a:rPr lang="en-US" dirty="0"/>
              <a:t>   {  </a:t>
            </a:r>
            <a:r>
              <a:rPr lang="en-US" dirty="0">
                <a:solidFill>
                  <a:srgbClr val="0000FF"/>
                </a:solidFill>
              </a:rPr>
              <a:t>[if (condition)] </a:t>
            </a:r>
            <a:r>
              <a:rPr lang="en-US" dirty="0"/>
              <a:t>Access a[i];</a:t>
            </a:r>
          </a:p>
          <a:p>
            <a:pPr>
              <a:buNone/>
            </a:pPr>
            <a:r>
              <a:rPr lang="en-US" dirty="0"/>
              <a:t>  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 is a Function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array parameter of a function is the pointer of the first element of the array.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Input an array of n integers</a:t>
            </a:r>
          </a:p>
          <a:p>
            <a:pPr>
              <a:buNone/>
            </a:pPr>
            <a:r>
              <a:rPr lang="en-US" b="1" i="1" dirty="0">
                <a:solidFill>
                  <a:srgbClr val="FF0000"/>
                </a:solidFill>
              </a:rPr>
              <a:t>void input (int* a, int n)</a:t>
            </a:r>
          </a:p>
          <a:p>
            <a:r>
              <a:rPr lang="en-US" dirty="0">
                <a:solidFill>
                  <a:srgbClr val="002060"/>
                </a:solidFill>
              </a:rPr>
              <a:t>Input elements of an array of integers which it’s number of element is stored at the pointer </a:t>
            </a:r>
            <a:r>
              <a:rPr lang="en-US" b="1" i="1" dirty="0">
                <a:solidFill>
                  <a:srgbClr val="002060"/>
                </a:solidFill>
              </a:rPr>
              <a:t>pn</a:t>
            </a:r>
          </a:p>
          <a:p>
            <a:pPr>
              <a:buNone/>
            </a:pPr>
            <a:r>
              <a:rPr lang="en-US" b="1" i="1" dirty="0">
                <a:solidFill>
                  <a:srgbClr val="002060"/>
                </a:solidFill>
              </a:rPr>
              <a:t>void input (int a[], int*pn)</a:t>
            </a:r>
          </a:p>
          <a:p>
            <a:r>
              <a:rPr lang="en-US" dirty="0">
                <a:solidFill>
                  <a:srgbClr val="FF00FF"/>
                </a:solidFill>
              </a:rPr>
              <a:t>Output an array of n double numbers</a:t>
            </a:r>
          </a:p>
          <a:p>
            <a:pPr>
              <a:buNone/>
            </a:pPr>
            <a:r>
              <a:rPr lang="en-US" b="1" i="1" dirty="0">
                <a:solidFill>
                  <a:srgbClr val="FF00FF"/>
                </a:solidFill>
              </a:rPr>
              <a:t>void output (double a[], int n)</a:t>
            </a:r>
          </a:p>
          <a:p>
            <a:r>
              <a:rPr lang="en-US" dirty="0">
                <a:solidFill>
                  <a:srgbClr val="0070C0"/>
                </a:solidFill>
              </a:rPr>
              <a:t>Calculate the sum of an array of n integers</a:t>
            </a:r>
          </a:p>
          <a:p>
            <a:pPr>
              <a:buNone/>
            </a:pPr>
            <a:r>
              <a:rPr lang="en-US" b="1" i="1" dirty="0">
                <a:solidFill>
                  <a:srgbClr val="0070C0"/>
                </a:solidFill>
              </a:rPr>
              <a:t>int sum (int *a, int 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001000" cy="175259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Develop a C-program that will: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Accept values to an integer array that may contain 100 elements.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 Print out the it’s maximum value.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 Print out it’s elements.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 Print out it’s even values.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3048000"/>
            <a:ext cx="33528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Nouns: 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Constant: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MAXN=100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Static array of integers 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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int a[MAXN]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Real number of elements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 int n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Maximum value 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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int maxVal.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4200" y="3200400"/>
            <a:ext cx="57912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6350" indent="-635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Verbs: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Begin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Input n (one value)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2800" baseline="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 a, n (</a:t>
            </a:r>
            <a:r>
              <a:rPr lang="en-US" sz="2800" b="1" baseline="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2800" baseline="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 maxVal = get maximum value in a, n 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function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2800" baseline="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Print out maxVal (one value)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 Print out a, n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  <a:sym typeface="Wingdings" pitchFamily="2" charset="2"/>
            </a:endParaRP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2800" baseline="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Print even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values in a, n 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 End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63500" marR="0" lvl="0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39588C8-FA2C-6543-9371-00320C45074F}"/>
                  </a:ext>
                </a:extLst>
              </p14:cNvPr>
              <p14:cNvContentPartPr/>
              <p14:nvPr/>
            </p14:nvContentPartPr>
            <p14:xfrm>
              <a:off x="-2506171" y="2856246"/>
              <a:ext cx="360" cy="3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39588C8-FA2C-6543-9371-00320C4507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524171" y="283860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38175" y="304800"/>
            <a:ext cx="8429625" cy="6381750"/>
            <a:chOff x="357188" y="857250"/>
            <a:chExt cx="8429625" cy="638175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7188" y="857250"/>
              <a:ext cx="8429625" cy="3867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61950" y="4724400"/>
              <a:ext cx="6343650" cy="2514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381000"/>
            <a:ext cx="4343400" cy="1371600"/>
          </a:xfrm>
        </p:spPr>
        <p:txBody>
          <a:bodyPr/>
          <a:lstStyle/>
          <a:p>
            <a:r>
              <a:rPr lang="en-US" dirty="0"/>
              <a:t>Array Function Parameter: Demo 1.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4419600"/>
            <a:ext cx="34956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1.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85800" y="1019175"/>
            <a:ext cx="7858125" cy="5457825"/>
            <a:chOff x="685800" y="866775"/>
            <a:chExt cx="7858125" cy="54578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5800" y="866775"/>
              <a:ext cx="7858125" cy="2943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5800" y="3819525"/>
              <a:ext cx="6600825" cy="2505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1.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  <a:p>
            <a:pPr lvl="1"/>
            <a:r>
              <a:rPr lang="en-US" dirty="0"/>
              <a:t>If you allocate an array having 100 elements but 6 elements are used then memory is wasted.</a:t>
            </a:r>
          </a:p>
          <a:p>
            <a:pPr lvl="1"/>
            <a:r>
              <a:rPr lang="en-US" dirty="0"/>
              <a:t>If If you allocate an array having 100 elements but 101 elements are used then there is a lack of memory.</a:t>
            </a:r>
          </a:p>
          <a:p>
            <a:r>
              <a:rPr lang="en-US" dirty="0"/>
              <a:t>Solution: Use a dynamic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8"/>
          <p:cNvGrpSpPr/>
          <p:nvPr/>
        </p:nvGrpSpPr>
        <p:grpSpPr>
          <a:xfrm>
            <a:off x="638175" y="304800"/>
            <a:ext cx="8429625" cy="6381750"/>
            <a:chOff x="357188" y="857250"/>
            <a:chExt cx="8429625" cy="638175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7188" y="857250"/>
              <a:ext cx="8429625" cy="3867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61950" y="4724400"/>
              <a:ext cx="6343650" cy="2514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381000"/>
            <a:ext cx="4343400" cy="1371600"/>
          </a:xfrm>
        </p:spPr>
        <p:txBody>
          <a:bodyPr/>
          <a:lstStyle/>
          <a:p>
            <a:r>
              <a:rPr lang="en-US" dirty="0"/>
              <a:t>Array Function Parameter: Demo 1.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4419600"/>
            <a:ext cx="34956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038600" y="2286000"/>
            <a:ext cx="1600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int* a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0" y="3810000"/>
            <a:ext cx="3352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a = (int*) calloc (n, sizeof(int));</a:t>
            </a:r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rot="10800000">
            <a:off x="2819400" y="2438400"/>
            <a:ext cx="121920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1"/>
          </p:cNvCxnSpPr>
          <p:nvPr/>
        </p:nvCxnSpPr>
        <p:spPr>
          <a:xfrm rot="10800000" flipV="1">
            <a:off x="3962400" y="3962400"/>
            <a:ext cx="9906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715000" y="2133600"/>
            <a:ext cx="1371600" cy="381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replace</a:t>
            </a:r>
          </a:p>
        </p:txBody>
      </p:sp>
      <p:sp>
        <p:nvSpPr>
          <p:cNvPr id="14" name="Oval 13"/>
          <p:cNvSpPr/>
          <p:nvPr/>
        </p:nvSpPr>
        <p:spPr>
          <a:xfrm>
            <a:off x="3733800" y="3657600"/>
            <a:ext cx="13716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5791200"/>
            <a:ext cx="2362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functions are preserved.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1.</a:t>
            </a:r>
          </a:p>
        </p:txBody>
      </p:sp>
      <p:grpSp>
        <p:nvGrpSpPr>
          <p:cNvPr id="3" name="Group 4"/>
          <p:cNvGrpSpPr/>
          <p:nvPr/>
        </p:nvGrpSpPr>
        <p:grpSpPr>
          <a:xfrm>
            <a:off x="685800" y="1019175"/>
            <a:ext cx="7858125" cy="5457825"/>
            <a:chOff x="685800" y="866775"/>
            <a:chExt cx="7858125" cy="54578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5800" y="866775"/>
              <a:ext cx="7858125" cy="2943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5800" y="3819525"/>
              <a:ext cx="6600825" cy="2505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2.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3505200"/>
          </a:xfrm>
        </p:spPr>
        <p:txBody>
          <a:bodyPr>
            <a:normAutofit/>
          </a:bodyPr>
          <a:lstStyle/>
          <a:p>
            <a:r>
              <a:rPr lang="en-US" b="1" dirty="0"/>
              <a:t>Develop a C-program that will: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Accept values to an integer array that may contains 100 elements. The input will terminate when user enters the value of zero.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 Print out the it’s maximum value.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 Print out it’s elements.</a:t>
            </a:r>
          </a:p>
          <a:p>
            <a:pPr marL="463550" lvl="1" indent="-6350">
              <a:buFontTx/>
              <a:buChar char="-"/>
            </a:pPr>
            <a:r>
              <a:rPr lang="en-US" dirty="0"/>
              <a:t> Print out it’s even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4800600"/>
            <a:ext cx="8305800" cy="16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difference between this problem with the previous one is the input operation can terminate abruptly when 0 is accepted. </a:t>
            </a:r>
          </a:p>
          <a:p>
            <a:pPr>
              <a:buFont typeface="Wingdings"/>
              <a:buChar char="è"/>
            </a:pPr>
            <a:r>
              <a:rPr lang="en-US" dirty="0">
                <a:sym typeface="Wingdings" pitchFamily="2" charset="2"/>
              </a:rPr>
              <a:t>Memory block of the array needs to be allocated  in excess</a:t>
            </a:r>
          </a:p>
          <a:p>
            <a:pPr>
              <a:buFont typeface="Wingdings"/>
              <a:buChar char="è"/>
            </a:pPr>
            <a:r>
              <a:rPr lang="en-US" dirty="0">
                <a:sym typeface="Wingdings" pitchFamily="2" charset="2"/>
              </a:rPr>
              <a:t>The function for input values of the array must be modified for this case  and the number of elements is updated after each valid value  is accepted.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2.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425" y="1123950"/>
            <a:ext cx="8439150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2.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713" y="1143000"/>
            <a:ext cx="84105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505200"/>
            <a:ext cx="39814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00600" y="2743200"/>
          <a:ext cx="396239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20574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n=0 </a:t>
            </a:r>
            <a:r>
              <a:rPr lang="en-US" sz="1600" dirty="0">
                <a:sym typeface="Wingdings" pitchFamily="2" charset="2"/>
              </a:rPr>
              <a:t> 1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4876800" y="1981200"/>
            <a:ext cx="685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x=3</a:t>
            </a:r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 rot="5400000">
            <a:off x="4591050" y="2647950"/>
            <a:ext cx="1066800" cy="190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00600" y="4663440"/>
          <a:ext cx="396239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0" y="39624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n=3</a:t>
            </a:r>
            <a:r>
              <a:rPr lang="en-US" sz="1600" dirty="0">
                <a:sym typeface="Wingdings" pitchFamily="2" charset="2"/>
              </a:rPr>
              <a:t> 4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6477000" y="3886200"/>
            <a:ext cx="685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x=7</a:t>
            </a:r>
          </a:p>
        </p:txBody>
      </p:sp>
      <p:cxnSp>
        <p:nvCxnSpPr>
          <p:cNvPr id="13" name="Straight Arrow Connector 12"/>
          <p:cNvCxnSpPr>
            <a:stCxn id="12" idx="2"/>
          </p:cNvCxnSpPr>
          <p:nvPr/>
        </p:nvCxnSpPr>
        <p:spPr>
          <a:xfrm rot="5400000">
            <a:off x="6191250" y="4552950"/>
            <a:ext cx="1066800" cy="190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5181600" y="2209800"/>
            <a:ext cx="20574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6858000" y="4114800"/>
            <a:ext cx="914400" cy="762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A search algorithm finds the record of interest using the key array</a:t>
            </a:r>
          </a:p>
          <a:p>
            <a:r>
              <a:rPr lang="en-US" dirty="0">
                <a:latin typeface="Arial" charset="0"/>
                <a:cs typeface="Arial" charset="0"/>
              </a:rPr>
              <a:t>Return value: The positional index at which  the interest value is found.</a:t>
            </a:r>
          </a:p>
          <a:p>
            <a:r>
              <a:rPr lang="en-US" dirty="0">
                <a:latin typeface="Arial" charset="0"/>
                <a:cs typeface="Arial" charset="0"/>
              </a:rPr>
              <a:t>Two common search algorithms are 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linear search 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binary search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Searching…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0"/>
            <a:ext cx="7924800" cy="762000"/>
          </a:xfrm>
        </p:spPr>
        <p:txBody>
          <a:bodyPr>
            <a:normAutofit fontScale="92500" lnSpcReduction="20000"/>
          </a:bodyPr>
          <a:lstStyle/>
          <a:p>
            <a:pPr marL="285750" lvl="1">
              <a:buNone/>
            </a:pPr>
            <a:r>
              <a:rPr lang="en-US" b="1" i="1" u="sng" dirty="0">
                <a:latin typeface="Arial" charset="0"/>
                <a:cs typeface="Arial" charset="0"/>
              </a:rPr>
              <a:t>Linear search</a:t>
            </a:r>
            <a:r>
              <a:rPr lang="en-US" dirty="0">
                <a:latin typeface="Arial" charset="0"/>
                <a:cs typeface="Arial" charset="0"/>
              </a:rPr>
              <a:t>: Find the position of the value x in the array a having n elements.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22860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" y="1828800"/>
            <a:ext cx="6934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Search  the value of  6 in the array a having  8 items.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5814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200" y="3124200"/>
            <a:ext cx="6934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Search  the value of  12 in the array a having  8 items.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0" y="3962400"/>
            <a:ext cx="609600" cy="304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" y="4572000"/>
            <a:ext cx="4191000" cy="1981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int  firstLinearSearch ( int x, int a[], int n)</a:t>
            </a:r>
          </a:p>
          <a:p>
            <a:r>
              <a:rPr lang="en-US" dirty="0"/>
              <a:t>{  int i;</a:t>
            </a:r>
          </a:p>
          <a:p>
            <a:r>
              <a:rPr lang="en-US" dirty="0"/>
              <a:t>   for ( i=0;  i&lt;n;  i++)</a:t>
            </a:r>
          </a:p>
          <a:p>
            <a:r>
              <a:rPr lang="en-US" dirty="0"/>
              <a:t>       if ( x == a[i] ) return i;</a:t>
            </a:r>
          </a:p>
          <a:p>
            <a:r>
              <a:rPr lang="en-US" dirty="0"/>
              <a:t>   return -1;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572000"/>
            <a:ext cx="4724400" cy="1981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int  lastLinearSearch ( double x, double *a, int n)</a:t>
            </a:r>
          </a:p>
          <a:p>
            <a:r>
              <a:rPr lang="en-US" dirty="0"/>
              <a:t>{  int i;</a:t>
            </a:r>
          </a:p>
          <a:p>
            <a:r>
              <a:rPr lang="en-US" dirty="0"/>
              <a:t>   for ( i=n-1;  i&gt;=0;  i--)</a:t>
            </a:r>
          </a:p>
          <a:p>
            <a:r>
              <a:rPr lang="en-US" dirty="0"/>
              <a:t>       if ( x == a[i] ) return i;</a:t>
            </a:r>
          </a:p>
          <a:p>
            <a:r>
              <a:rPr lang="en-US" dirty="0"/>
              <a:t>   return -1;</a:t>
            </a:r>
          </a:p>
          <a:p>
            <a:r>
              <a:rPr lang="en-US" dirty="0"/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9000" y="2209800"/>
            <a:ext cx="1752600" cy="1828800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There may be n comparisons performed.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Linear Searching…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429000"/>
            <a:ext cx="86391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266825"/>
            <a:ext cx="58388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Binary Searching…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2667000" cy="2895600"/>
          </a:xfrm>
        </p:spPr>
        <p:txBody>
          <a:bodyPr/>
          <a:lstStyle/>
          <a:p>
            <a:pPr marL="285750" lvl="1">
              <a:buNone/>
            </a:pPr>
            <a:r>
              <a:rPr lang="en-US" b="1" i="1" u="sng" dirty="0">
                <a:latin typeface="Arial" charset="0"/>
                <a:cs typeface="Arial" charset="0"/>
              </a:rPr>
              <a:t>Binary search </a:t>
            </a:r>
          </a:p>
          <a:p>
            <a:pPr marL="285750" lvl="1">
              <a:buNone/>
            </a:pPr>
            <a:r>
              <a:rPr lang="en-US" dirty="0">
                <a:latin typeface="Arial" charset="0"/>
                <a:cs typeface="Arial" charset="0"/>
              </a:rPr>
              <a:t>- Condition for application: Values in the array were sorted.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48050" y="1143000"/>
            <a:ext cx="287655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57925" y="1143000"/>
            <a:ext cx="2886075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191000" y="5410200"/>
            <a:ext cx="1676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 c (7)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3725" y="6096000"/>
            <a:ext cx="1676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i&gt;j </a:t>
            </a:r>
            <a:r>
              <a:rPr lang="en-US" dirty="0">
                <a:sym typeface="Wingdings" pitchFamily="2" charset="2"/>
              </a:rPr>
              <a:t> return -1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6200" y="4114800"/>
            <a:ext cx="3352800" cy="2514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int  </a:t>
            </a:r>
            <a:r>
              <a:rPr lang="en-US" sz="1600" b="1" dirty="0"/>
              <a:t>binarySearch</a:t>
            </a:r>
            <a:r>
              <a:rPr lang="en-US" sz="1600" dirty="0"/>
              <a:t> ( int x, int a[], int n)</a:t>
            </a:r>
          </a:p>
          <a:p>
            <a:r>
              <a:rPr lang="en-US" sz="1600" dirty="0"/>
              <a:t>{  int i=0, j= n-1, c ;</a:t>
            </a:r>
          </a:p>
          <a:p>
            <a:r>
              <a:rPr lang="en-US" sz="1600" dirty="0"/>
              <a:t>   while (i&lt;=j)</a:t>
            </a:r>
          </a:p>
          <a:p>
            <a:r>
              <a:rPr lang="en-US" sz="1600" dirty="0"/>
              <a:t>     {   c= (i+j)/2;</a:t>
            </a:r>
          </a:p>
          <a:p>
            <a:r>
              <a:rPr lang="en-US" sz="1600" dirty="0"/>
              <a:t>         if ( x== a[c] ) return c ;</a:t>
            </a:r>
          </a:p>
          <a:p>
            <a:r>
              <a:rPr lang="en-US" sz="1600" dirty="0"/>
              <a:t>         if (x &lt; a[c] ) j = c-1;</a:t>
            </a:r>
          </a:p>
          <a:p>
            <a:r>
              <a:rPr lang="en-US" sz="1600" dirty="0"/>
              <a:t>         else i = c +1;</a:t>
            </a:r>
          </a:p>
          <a:p>
            <a:r>
              <a:rPr lang="en-US" sz="1600" dirty="0"/>
              <a:t>     }</a:t>
            </a:r>
          </a:p>
          <a:p>
            <a:r>
              <a:rPr lang="en-US" sz="1600" dirty="0"/>
              <a:t>    return -1;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Binary Searching…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781050"/>
            <a:ext cx="832485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971800" y="4038600"/>
          <a:ext cx="5207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  <a:r>
                        <a:rPr lang="en-US" baseline="0" dirty="0"/>
                        <a:t> of elements considered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  <a:r>
                        <a:rPr lang="en-US" baseline="0" dirty="0"/>
                        <a:t> of comparisons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n= 2</a:t>
                      </a:r>
                      <a:r>
                        <a:rPr lang="en-US" baseline="30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m-1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m-2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m+1 = log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(n) 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143000" y="5029200"/>
            <a:ext cx="1447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Evaluation: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Sorting: Changing positions of elements in an array so that values are in a order based on a pre-defined order relation.</a:t>
            </a:r>
          </a:p>
          <a:p>
            <a:r>
              <a:rPr lang="en-US" dirty="0"/>
              <a:t>Default order relation in set of numbers:</a:t>
            </a:r>
            <a:r>
              <a:rPr lang="en-US" dirty="0">
                <a:sym typeface="Wingdings" pitchFamily="2" charset="2"/>
              </a:rPr>
              <a:t> Value order</a:t>
            </a:r>
          </a:p>
          <a:p>
            <a:r>
              <a:rPr lang="en-US" dirty="0"/>
              <a:t>Default order relation in a set of characters/ strings:</a:t>
            </a:r>
            <a:r>
              <a:rPr lang="en-US" dirty="0">
                <a:sym typeface="Wingdings" pitchFamily="2" charset="2"/>
              </a:rPr>
              <a:t> Dictionary order</a:t>
            </a:r>
          </a:p>
          <a:p>
            <a:r>
              <a:rPr lang="en-US" dirty="0">
                <a:sym typeface="Wingdings" pitchFamily="2" charset="2"/>
              </a:rPr>
              <a:t>Only two sorting algorithms are introduced here.</a:t>
            </a:r>
          </a:p>
          <a:p>
            <a:pPr lvl="1"/>
            <a:r>
              <a:rPr lang="en-US" dirty="0">
                <a:sym typeface="Wingdings" pitchFamily="2" charset="2"/>
              </a:rPr>
              <a:t>Selection Sort</a:t>
            </a:r>
          </a:p>
          <a:p>
            <a:pPr lvl="1"/>
            <a:r>
              <a:rPr lang="en-US" dirty="0">
                <a:sym typeface="Wingdings" pitchFamily="2" charset="2"/>
              </a:rPr>
              <a:t>Bubble Sort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1447799"/>
          </a:xfrm>
        </p:spPr>
        <p:txBody>
          <a:bodyPr>
            <a:normAutofit fontScale="85000" lnSpcReduction="10000"/>
          </a:bodyPr>
          <a:lstStyle/>
          <a:p>
            <a:pPr marL="609600" indent="-609600" algn="just">
              <a:lnSpc>
                <a:spcPct val="90000"/>
              </a:lnSpc>
            </a:pPr>
            <a:r>
              <a:rPr lang="en-US" dirty="0"/>
              <a:t>Find the minimum value in the list </a:t>
            </a:r>
          </a:p>
          <a:p>
            <a:pPr marL="609600" indent="-609600" algn="just">
              <a:lnSpc>
                <a:spcPct val="90000"/>
              </a:lnSpc>
            </a:pPr>
            <a:r>
              <a:rPr lang="en-US" dirty="0"/>
              <a:t>Swap it with the value in the first position </a:t>
            </a:r>
          </a:p>
          <a:p>
            <a:pPr marL="609600" indent="-609600" algn="just">
              <a:lnSpc>
                <a:spcPct val="90000"/>
              </a:lnSpc>
            </a:pPr>
            <a:r>
              <a:rPr lang="en-US" dirty="0"/>
              <a:t>Repeat the steps above for </a:t>
            </a:r>
            <a:r>
              <a:rPr lang="en-US" u="sng" dirty="0"/>
              <a:t>remainder</a:t>
            </a:r>
            <a:r>
              <a:rPr lang="en-US" dirty="0"/>
              <a:t> of the list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85800" y="2743200"/>
            <a:ext cx="7666037" cy="3362325"/>
            <a:chOff x="403" y="1101"/>
            <a:chExt cx="4829" cy="2118"/>
          </a:xfrm>
        </p:grpSpPr>
        <p:pic>
          <p:nvPicPr>
            <p:cNvPr id="5" name="Picture 7"/>
            <p:cNvPicPr>
              <a:picLocks noChangeAspect="1" noChangeArrowheads="1"/>
            </p:cNvPicPr>
            <p:nvPr/>
          </p:nvPicPr>
          <p:blipFill>
            <a:blip r:embed="rId2">
              <a:lum bright="-20000" contrast="40000"/>
            </a:blip>
            <a:srcRect/>
            <a:stretch>
              <a:fillRect/>
            </a:stretch>
          </p:blipFill>
          <p:spPr bwMode="auto">
            <a:xfrm>
              <a:off x="403" y="1101"/>
              <a:ext cx="4829" cy="2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Line 8"/>
            <p:cNvSpPr>
              <a:spLocks noChangeShapeType="1"/>
            </p:cNvSpPr>
            <p:nvPr/>
          </p:nvSpPr>
          <p:spPr bwMode="auto">
            <a:xfrm flipH="1">
              <a:off x="720" y="1344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720" y="1344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H="1">
              <a:off x="1008" y="187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960" y="187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H="1">
              <a:off x="1104" y="2112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1152" y="211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H="1">
              <a:off x="1248" y="2400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1248" y="2400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Selection Sort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914400"/>
            <a:ext cx="78105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67150" y="3657600"/>
            <a:ext cx="497205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199"/>
            <a:ext cx="2133600" cy="4800601"/>
          </a:xfrm>
          <a:ln>
            <a:solidFill>
              <a:srgbClr val="0000FF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90000"/>
              </a:lnSpc>
            </a:pPr>
            <a:r>
              <a:rPr lang="en-US" dirty="0">
                <a:latin typeface="Arial" charset="0"/>
                <a:cs typeface="Arial" charset="0"/>
              </a:rPr>
              <a:t>It works by repeatedly stepping through the list to be sorted, comparing two items at a time and swapping them if they are in the wrong order. 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marL="0" indent="0" algn="just">
              <a:lnSpc>
                <a:spcPct val="90000"/>
              </a:lnSpc>
            </a:pPr>
            <a:r>
              <a:rPr lang="en-US" dirty="0">
                <a:latin typeface="Arial" charset="0"/>
                <a:cs typeface="Arial" charset="0"/>
              </a:rPr>
              <a:t>The pass through the list is </a:t>
            </a:r>
            <a:r>
              <a:rPr lang="en-US" u="sng" dirty="0">
                <a:latin typeface="Arial" charset="0"/>
                <a:cs typeface="Arial" charset="0"/>
              </a:rPr>
              <a:t>repeated until no swaps are needed</a:t>
            </a:r>
            <a:r>
              <a:rPr lang="en-US" dirty="0">
                <a:latin typeface="Arial" charset="0"/>
                <a:cs typeface="Arial" charset="0"/>
              </a:rPr>
              <a:t>, which means the list is sorted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2175" y="1028700"/>
            <a:ext cx="69818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143000"/>
            <a:ext cx="80010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Bubble Sort…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6650" y="3886200"/>
            <a:ext cx="53149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Develop a C-program that helps user managing an 1-D array of integers (maximum of 100 elements) using the following simple menu:</a:t>
            </a:r>
          </a:p>
          <a:p>
            <a:r>
              <a:rPr lang="en-US" dirty="0"/>
              <a:t>1- Add  a value</a:t>
            </a:r>
          </a:p>
          <a:p>
            <a:r>
              <a:rPr lang="en-US" dirty="0"/>
              <a:t>2- Search a value</a:t>
            </a:r>
          </a:p>
          <a:p>
            <a:r>
              <a:rPr lang="en-US" dirty="0"/>
              <a:t>3- Remove the first existence of a value</a:t>
            </a:r>
          </a:p>
          <a:p>
            <a:r>
              <a:rPr lang="en-US" dirty="0"/>
              <a:t>4- Remove all existences of a value</a:t>
            </a:r>
          </a:p>
          <a:p>
            <a:r>
              <a:rPr lang="en-US" dirty="0"/>
              <a:t>5- Print out the array </a:t>
            </a:r>
          </a:p>
          <a:p>
            <a:r>
              <a:rPr lang="en-US" dirty="0"/>
              <a:t>6- Print out the array in ascending order (positions of elements are preserved)</a:t>
            </a:r>
          </a:p>
          <a:p>
            <a:r>
              <a:rPr lang="en-US" dirty="0"/>
              <a:t>7- Print out the array in descending order (positions of elements are preserved)</a:t>
            </a:r>
          </a:p>
          <a:p>
            <a:r>
              <a:rPr lang="en-US" dirty="0"/>
              <a:t>Others- Quit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 this program, user can freely add or remove one or more elements to/ from the array. So, an extra memory allocation is needed (100 items).</a:t>
            </a:r>
          </a:p>
          <a:p>
            <a:r>
              <a:rPr lang="en-US" b="1" u="sng" dirty="0"/>
              <a:t>Data</a:t>
            </a:r>
            <a:r>
              <a:rPr lang="en-US" dirty="0"/>
              <a:t>: </a:t>
            </a:r>
          </a:p>
          <a:p>
            <a:pPr>
              <a:buNone/>
            </a:pPr>
            <a:r>
              <a:rPr lang="en-US" dirty="0"/>
              <a:t>               Array of integers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int a[100], n</a:t>
            </a:r>
          </a:p>
          <a:p>
            <a:pPr>
              <a:buNone/>
            </a:pPr>
            <a:r>
              <a:rPr lang="en-US" dirty="0"/>
              <a:t>                searched/added/removed number </a:t>
            </a:r>
            <a:r>
              <a:rPr lang="en-US" dirty="0">
                <a:sym typeface="Wingdings" pitchFamily="2" charset="2"/>
              </a:rPr>
              <a:t> int value</a:t>
            </a:r>
            <a:endParaRPr lang="en-US" dirty="0"/>
          </a:p>
          <a:p>
            <a:r>
              <a:rPr lang="en-US" b="1" u="sng" dirty="0"/>
              <a:t>Functions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 </a:t>
            </a:r>
            <a:r>
              <a:rPr lang="en-US" b="1" dirty="0"/>
              <a:t>menu</a:t>
            </a:r>
            <a:r>
              <a:rPr lang="en-US" dirty="0"/>
              <a:t>() </a:t>
            </a:r>
            <a:r>
              <a:rPr lang="en-US" dirty="0">
                <a:sym typeface="Wingdings" pitchFamily="2" charset="2"/>
              </a:rPr>
              <a:t> Get user choice</a:t>
            </a:r>
            <a:endParaRPr lang="en-US" dirty="0"/>
          </a:p>
          <a:p>
            <a:pPr lvl="1"/>
            <a:r>
              <a:rPr lang="en-US" dirty="0"/>
              <a:t>int isFull(int *a, int n) - Testing whether an array is full or not </a:t>
            </a:r>
          </a:p>
          <a:p>
            <a:pPr lvl="1"/>
            <a:r>
              <a:rPr lang="en-US" dirty="0"/>
              <a:t>int isEmpty(int *a, int n) - Testing whether an array is empty or not </a:t>
            </a:r>
          </a:p>
          <a:p>
            <a:pPr lvl="1"/>
            <a:r>
              <a:rPr lang="en-US" dirty="0"/>
              <a:t>void </a:t>
            </a:r>
            <a:r>
              <a:rPr lang="en-US" b="1" dirty="0"/>
              <a:t>add</a:t>
            </a:r>
            <a:r>
              <a:rPr lang="en-US" dirty="0"/>
              <a:t>(int x, int*a, int*pn) </a:t>
            </a:r>
            <a:r>
              <a:rPr lang="en-US" dirty="0">
                <a:sym typeface="Wingdings" pitchFamily="2" charset="2"/>
              </a:rPr>
              <a:t> adding an element to the array will increase number of elements</a:t>
            </a:r>
          </a:p>
          <a:p>
            <a:pPr lvl="1"/>
            <a:r>
              <a:rPr lang="en-US" dirty="0">
                <a:sym typeface="Wingdings" pitchFamily="2" charset="2"/>
              </a:rPr>
              <a:t>int </a:t>
            </a:r>
            <a:r>
              <a:rPr lang="en-US" b="1" dirty="0">
                <a:sym typeface="Wingdings" pitchFamily="2" charset="2"/>
              </a:rPr>
              <a:t>search</a:t>
            </a:r>
            <a:r>
              <a:rPr lang="en-US" dirty="0">
                <a:sym typeface="Wingdings" pitchFamily="2" charset="2"/>
              </a:rPr>
              <a:t>(int x, int *a, int n)  return a position found in the array</a:t>
            </a:r>
          </a:p>
          <a:p>
            <a:pPr lvl="1"/>
            <a:r>
              <a:rPr lang="en-US" dirty="0">
                <a:sym typeface="Wingdings" pitchFamily="2" charset="2"/>
              </a:rPr>
              <a:t>int </a:t>
            </a:r>
            <a:r>
              <a:rPr lang="en-US" b="1" dirty="0">
                <a:sym typeface="Wingdings" pitchFamily="2" charset="2"/>
              </a:rPr>
              <a:t>removeOne</a:t>
            </a:r>
            <a:r>
              <a:rPr lang="en-US" dirty="0">
                <a:sym typeface="Wingdings" pitchFamily="2" charset="2"/>
              </a:rPr>
              <a:t> (int pos, int*a, int*pn)  Removing a value  at the position pos will decrease number of elements  return 1: successfully, 0: fail</a:t>
            </a:r>
          </a:p>
          <a:p>
            <a:pPr lvl="1"/>
            <a:r>
              <a:rPr lang="en-US" dirty="0">
                <a:sym typeface="Wingdings" pitchFamily="2" charset="2"/>
              </a:rPr>
              <a:t>int </a:t>
            </a:r>
            <a:r>
              <a:rPr lang="en-US" b="1" dirty="0">
                <a:sym typeface="Wingdings" pitchFamily="2" charset="2"/>
              </a:rPr>
              <a:t>remove All</a:t>
            </a:r>
            <a:r>
              <a:rPr lang="en-US" dirty="0">
                <a:sym typeface="Wingdings" pitchFamily="2" charset="2"/>
              </a:rPr>
              <a:t>(int x, int*a, int*pn)  Removing a value will decrease number of elements   return 1: successfully, 0: fail</a:t>
            </a:r>
          </a:p>
          <a:p>
            <a:pPr lvl="1"/>
            <a:r>
              <a:rPr lang="en-US" dirty="0"/>
              <a:t>void </a:t>
            </a:r>
            <a:r>
              <a:rPr lang="en-US" b="1" dirty="0"/>
              <a:t>print</a:t>
            </a:r>
            <a:r>
              <a:rPr lang="en-US" dirty="0"/>
              <a:t>A</a:t>
            </a:r>
            <a:r>
              <a:rPr lang="en-US" b="1" dirty="0"/>
              <a:t>sc</a:t>
            </a:r>
            <a:r>
              <a:rPr lang="en-US" dirty="0"/>
              <a:t>(int*a, int n) – printing array, elements are preserved</a:t>
            </a:r>
          </a:p>
          <a:p>
            <a:pPr lvl="1"/>
            <a:r>
              <a:rPr lang="en-US" dirty="0"/>
              <a:t>void </a:t>
            </a:r>
            <a:r>
              <a:rPr lang="en-US" b="1" dirty="0"/>
              <a:t>printDesc</a:t>
            </a:r>
            <a:r>
              <a:rPr lang="en-US" dirty="0"/>
              <a:t>(int*a, int n) – printing array, elements are preserved</a:t>
            </a:r>
          </a:p>
          <a:p>
            <a:pPr lvl="1"/>
            <a:r>
              <a:rPr lang="en-US" dirty="0"/>
              <a:t>void </a:t>
            </a:r>
            <a:r>
              <a:rPr lang="en-US" b="1" dirty="0"/>
              <a:t>print</a:t>
            </a:r>
            <a:r>
              <a:rPr lang="en-US" dirty="0"/>
              <a:t>(int*a, int 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4400"/>
            <a:ext cx="36290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343400" y="2514600"/>
            <a:ext cx="4343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values 0 , 2, 8, 9, 7, 3, 2, 4, 2 are added. Use menu 5 to view them.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990600"/>
            <a:ext cx="3276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4495800"/>
            <a:ext cx="32861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533400" y="6096000"/>
            <a:ext cx="2057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option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3200400"/>
            <a:ext cx="330517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5334000" y="6172200"/>
            <a:ext cx="2057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one option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43000"/>
            <a:ext cx="332422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81000" y="4191000"/>
            <a:ext cx="3124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all option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990600"/>
            <a:ext cx="326707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724400" y="2438400"/>
            <a:ext cx="3352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out in ascending order (elements are preserved)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5867400"/>
            <a:ext cx="3352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out in descending order (elements are preserved)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3200400"/>
            <a:ext cx="327660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04800" y="914400"/>
            <a:ext cx="6362700" cy="5876925"/>
            <a:chOff x="304800" y="914400"/>
            <a:chExt cx="6362700" cy="58769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4800" y="914400"/>
              <a:ext cx="6362700" cy="419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04800" y="5105400"/>
              <a:ext cx="5114925" cy="1685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914400"/>
            <a:ext cx="8848725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5212080"/>
          <a:ext cx="60959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rot="5400000">
            <a:off x="1638300" y="4381500"/>
            <a:ext cx="14478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 flipV="1">
            <a:off x="22860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0800000" flipV="1">
            <a:off x="29718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 flipV="1">
            <a:off x="36576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 flipV="1">
            <a:off x="43434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50292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 flipV="1">
            <a:off x="57150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6324600" y="58674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1000" y="5257800"/>
            <a:ext cx="838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363" y="914400"/>
            <a:ext cx="867727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62200" y="3124200"/>
          <a:ext cx="6095997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rot="10800000">
            <a:off x="6172200" y="47244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2667000" y="3733800"/>
            <a:ext cx="5334000" cy="2667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3429000" y="60960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0800000">
            <a:off x="4114801" y="60960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4800600" y="60960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>
            <a:off x="5486400" y="60960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286000" y="1295400"/>
            <a:ext cx="5562600" cy="2286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813" y="1371600"/>
            <a:ext cx="8334375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848600" y="6400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6248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848600" y="6096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848600" y="5943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848600" y="5791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48600" y="5105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4223516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8600" y="2514600"/>
            <a:ext cx="99060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8600" y="2362200"/>
            <a:ext cx="99060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2293488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48600" y="2209800"/>
            <a:ext cx="99060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8600" y="2057400"/>
            <a:ext cx="99060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8600" y="2667000"/>
            <a:ext cx="99060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5600" y="6400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5600" y="6248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5600" y="6096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600" y="5943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5600" y="5791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600" y="5105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05600" y="4343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4223516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48600" y="4343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8600" y="4191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8600" y="4038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48600" y="3886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48600" y="3733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2293504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rot="16200000" flipH="1">
            <a:off x="2209800" y="1981200"/>
            <a:ext cx="4648200" cy="419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6200000" flipH="1">
            <a:off x="4229100" y="2552700"/>
            <a:ext cx="2743200" cy="205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7" idx="2"/>
            <a:endCxn id="10" idx="1"/>
          </p:cNvCxnSpPr>
          <p:nvPr/>
        </p:nvCxnSpPr>
        <p:spPr>
          <a:xfrm rot="16200000" flipH="1">
            <a:off x="7181850" y="4514850"/>
            <a:ext cx="685800" cy="647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419600" y="2514600"/>
            <a:ext cx="3352800" cy="1524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0" idx="0"/>
          </p:cNvCxnSpPr>
          <p:nvPr/>
        </p:nvCxnSpPr>
        <p:spPr>
          <a:xfrm rot="5400000" flipH="1" flipV="1">
            <a:off x="6915150" y="4781550"/>
            <a:ext cx="1295400" cy="723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239000" y="2971800"/>
            <a:ext cx="1905000" cy="457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Values of pointers after sorting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rot="5400000" flipH="1" flipV="1">
            <a:off x="8191500" y="3543300"/>
            <a:ext cx="2286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0" y="1133475"/>
            <a:ext cx="8572500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3" y="1143000"/>
            <a:ext cx="8067675" cy="52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" y="1133475"/>
            <a:ext cx="8134350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Sample…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7900" y="1752600"/>
            <a:ext cx="4648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 Two-Dimensional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22097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group of elements which belong the same data type and they are divided into some rows and some column (it is called as matrix also).</a:t>
            </a:r>
          </a:p>
          <a:p>
            <a:r>
              <a:rPr lang="en-US" dirty="0"/>
              <a:t>Each element is identified by two indexes (index of row, index of column).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219200" y="3352800"/>
            <a:ext cx="4191000" cy="1257300"/>
            <a:chOff x="3200400" y="4991100"/>
            <a:chExt cx="4191000" cy="1257300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191000" y="5295900"/>
              <a:ext cx="1924050" cy="952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2" name="Rectangle 31"/>
            <p:cNvSpPr/>
            <p:nvPr/>
          </p:nvSpPr>
          <p:spPr>
            <a:xfrm>
              <a:off x="3886200" y="5219700"/>
              <a:ext cx="457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00400" y="5676900"/>
              <a:ext cx="838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row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724400" y="4991100"/>
              <a:ext cx="1219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column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324600" y="5295900"/>
              <a:ext cx="1066800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m[1][3]</a:t>
              </a:r>
            </a:p>
          </p:txBody>
        </p:sp>
        <p:cxnSp>
          <p:nvCxnSpPr>
            <p:cNvPr id="36" name="Straight Arrow Connector 35"/>
            <p:cNvCxnSpPr>
              <a:stCxn id="35" idx="1"/>
            </p:cNvCxnSpPr>
            <p:nvPr/>
          </p:nvCxnSpPr>
          <p:spPr>
            <a:xfrm rot="10800000" flipV="1">
              <a:off x="5715000" y="5448300"/>
              <a:ext cx="609600" cy="381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/>
          <p:cNvSpPr/>
          <p:nvPr/>
        </p:nvSpPr>
        <p:spPr>
          <a:xfrm>
            <a:off x="152400" y="4800600"/>
            <a:ext cx="60960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Traversing a matrix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( i =0; i&lt;row; i++)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   for ( j=0; j&lt; column; j++)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400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[if (condition)]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Access m[i][j];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3200" y="3352800"/>
            <a:ext cx="23622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next slide will demonstrate how  static  and dynamic 2-D arrays  are stored.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3- 2-D Arrays: Memory Structure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57250"/>
            <a:ext cx="5419725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9350" y="5105400"/>
            <a:ext cx="25336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/>
        </p:nvCxnSpPr>
        <p:spPr>
          <a:xfrm rot="5400000">
            <a:off x="5066506" y="3695700"/>
            <a:ext cx="556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6057106" y="3694906"/>
            <a:ext cx="556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848600" y="6400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7848600" y="6248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7848600" y="6096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7848600" y="5943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7848600" y="5791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7848600" y="5638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7848600" y="5486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7848600" y="5181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7848600" y="5029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2" name="Rectangle 21"/>
          <p:cNvSpPr/>
          <p:nvPr/>
        </p:nvSpPr>
        <p:spPr>
          <a:xfrm>
            <a:off x="7848600" y="4876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3" name="Rectangle 22"/>
          <p:cNvSpPr/>
          <p:nvPr/>
        </p:nvSpPr>
        <p:spPr>
          <a:xfrm>
            <a:off x="7848600" y="4724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7848600" y="5334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>
            <a:off x="7848600" y="4343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4078616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05600" y="6400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05600" y="6248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05600" y="6096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2293496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05600" y="5943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5600" y="5791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5600" y="5638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05600" y="5486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05600" y="5181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05600" y="5029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05600" y="4876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5600" y="4724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05600" y="5334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05600" y="4343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2293596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48600" y="2438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7848600" y="2286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7848600" y="2133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7" name="Rectangle 46"/>
          <p:cNvSpPr/>
          <p:nvPr/>
        </p:nvSpPr>
        <p:spPr>
          <a:xfrm>
            <a:off x="7848600" y="1905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8" name="Rectangle 47"/>
          <p:cNvSpPr/>
          <p:nvPr/>
        </p:nvSpPr>
        <p:spPr>
          <a:xfrm>
            <a:off x="7848600" y="1752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9" name="Rectangle 48"/>
          <p:cNvSpPr/>
          <p:nvPr/>
        </p:nvSpPr>
        <p:spPr>
          <a:xfrm>
            <a:off x="7848600" y="1600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7848600" y="1447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7848600" y="1066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2" name="Rectangle 51"/>
          <p:cNvSpPr/>
          <p:nvPr/>
        </p:nvSpPr>
        <p:spPr>
          <a:xfrm>
            <a:off x="7848600" y="914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7848600" y="762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5" name="Rectangle 54"/>
          <p:cNvSpPr/>
          <p:nvPr/>
        </p:nvSpPr>
        <p:spPr>
          <a:xfrm>
            <a:off x="7848600" y="1219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6" name="Rectangle 55"/>
          <p:cNvSpPr/>
          <p:nvPr/>
        </p:nvSpPr>
        <p:spPr>
          <a:xfrm>
            <a:off x="7848600" y="2971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4078824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8600" y="3124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4078784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48600" y="3276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4078744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48600" y="4191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05600" y="4191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2293600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6000" y="4343400"/>
            <a:ext cx="4572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0" y="6400800"/>
            <a:ext cx="4572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6000" y="4191000"/>
            <a:ext cx="4572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48600" y="2590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5" name="Rectangle 64"/>
          <p:cNvSpPr/>
          <p:nvPr/>
        </p:nvSpPr>
        <p:spPr>
          <a:xfrm>
            <a:off x="6705600" y="2438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4078752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05600" y="2286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05600" y="2133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05600" y="1905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4078784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05600" y="1752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4078792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05600" y="1600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05600" y="1447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05600" y="1066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05600" y="914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4078840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05600" y="7620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4078848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05600" y="12192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4078824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05600" y="25908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4078744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05600" y="32766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4078720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48600" y="3581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0" name="Rectangle 79"/>
          <p:cNvSpPr/>
          <p:nvPr/>
        </p:nvSpPr>
        <p:spPr>
          <a:xfrm>
            <a:off x="6705600" y="3581400"/>
            <a:ext cx="9906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4078616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 rot="16200000" flipH="1">
            <a:off x="7181851" y="3448050"/>
            <a:ext cx="838199" cy="8001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6200000" flipH="1">
            <a:off x="7010400" y="1905000"/>
            <a:ext cx="1676400" cy="4572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16200000" flipH="1">
            <a:off x="7239000" y="2438400"/>
            <a:ext cx="1143000" cy="3810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16200000" flipH="1">
            <a:off x="7467600" y="2819400"/>
            <a:ext cx="685800" cy="3810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16200000" flipH="1">
            <a:off x="1714500" y="1943100"/>
            <a:ext cx="4800600" cy="39624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828800" y="1600200"/>
            <a:ext cx="4114800" cy="2590800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1066800" y="2514600"/>
            <a:ext cx="4953000" cy="1905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5715000" y="685800"/>
            <a:ext cx="3429000" cy="3200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ounded Rectangle 101"/>
          <p:cNvSpPr/>
          <p:nvPr/>
        </p:nvSpPr>
        <p:spPr>
          <a:xfrm>
            <a:off x="5715000" y="4038600"/>
            <a:ext cx="3429000" cy="2667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ounded Rectangle 102"/>
          <p:cNvSpPr/>
          <p:nvPr/>
        </p:nvSpPr>
        <p:spPr>
          <a:xfrm>
            <a:off x="5867400" y="1219200"/>
            <a:ext cx="457200" cy="1676400"/>
          </a:xfrm>
          <a:prstGeom prst="round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E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867400" y="4572000"/>
            <a:ext cx="457200" cy="1676400"/>
          </a:xfrm>
          <a:prstGeom prst="round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84" name="Straight Arrow Connector 83"/>
          <p:cNvCxnSpPr>
            <a:endCxn id="30" idx="1"/>
          </p:cNvCxnSpPr>
          <p:nvPr/>
        </p:nvCxnSpPr>
        <p:spPr>
          <a:xfrm rot="16200000" flipH="1">
            <a:off x="7200900" y="3771900"/>
            <a:ext cx="685800" cy="609599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Slide Number Placeholder 8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2-D Arrays Demo.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81000" y="838200"/>
            <a:ext cx="8277225" cy="5934075"/>
            <a:chOff x="76200" y="838200"/>
            <a:chExt cx="8277225" cy="593407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200" y="838200"/>
              <a:ext cx="8277225" cy="526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5725" y="6096000"/>
              <a:ext cx="4867275" cy="676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7" name="Rectangle 6"/>
          <p:cNvSpPr/>
          <p:nvPr/>
        </p:nvSpPr>
        <p:spPr>
          <a:xfrm>
            <a:off x="3810000" y="990600"/>
            <a:ext cx="5105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Accept a matrix  maximum 20x20.</a:t>
            </a:r>
          </a:p>
          <a:p>
            <a:pPr algn="ctr"/>
            <a:r>
              <a:rPr lang="en-US" dirty="0"/>
              <a:t>Print out maximum value in it, print out the matrix.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0200" y="5181600"/>
            <a:ext cx="3429000" cy="1295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Keep in your mind the way to specify a matrix as a parameter of a function ( the number of column must be pre-defined.).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2-D Arrays Demo.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38200"/>
            <a:ext cx="446722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4791075"/>
            <a:ext cx="73247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95600" y="1295400"/>
            <a:ext cx="581977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95600" y="3124200"/>
            <a:ext cx="61626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Array is the simplest data structure for a group of elements which belong to the same data type.</a:t>
            </a:r>
          </a:p>
          <a:p>
            <a:r>
              <a:rPr lang="en-US" dirty="0"/>
              <a:t>Each element in an array is identified by one or more index beginning from 0.</a:t>
            </a:r>
          </a:p>
          <a:p>
            <a:r>
              <a:rPr lang="en-US" dirty="0"/>
              <a:t>Number of dimensions: Number of indexes are used to identify an element.</a:t>
            </a:r>
          </a:p>
          <a:p>
            <a:r>
              <a:rPr lang="en-US" dirty="0"/>
              <a:t>Static arrays </a:t>
            </a:r>
            <a:r>
              <a:rPr lang="en-US" dirty="0">
                <a:sym typeface="Wingdings" pitchFamily="2" charset="2"/>
              </a:rPr>
              <a:t> Stack segment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Type a[MAXN];</a:t>
            </a:r>
          </a:p>
          <a:p>
            <a:pPr lvl="1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Type m[MAXROW][MAXCOL];</a:t>
            </a:r>
          </a:p>
          <a:p>
            <a:r>
              <a:rPr lang="en-US" dirty="0">
                <a:sym typeface="Wingdings" pitchFamily="2" charset="2"/>
              </a:rPr>
              <a:t>Dynamic array: Use pointer and allocate memory using functions 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double *a = (double*)calloc(n, sizeof(double));</a:t>
            </a:r>
          </a:p>
          <a:p>
            <a:pPr lvl="1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int** m = (int**) calloc(row, sizeof(int*));</a:t>
            </a:r>
          </a:p>
          <a:p>
            <a:pPr lvl="1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for (i=0; i&lt;row; i++) m[i]= (int*)calloc(col, sizeof(int));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457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Accessing elements in an array:</a:t>
            </a:r>
            <a:endParaRPr lang="en-US" dirty="0">
              <a:sym typeface="Wingdings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676400"/>
          <a:ext cx="7543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1-D Array (a)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2-D Array (m)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&amp;a[index]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a[index]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&amp;m[i][j]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m[i][j]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a+index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*(a+index)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Compiler determines</a:t>
                      </a:r>
                      <a:r>
                        <a:rPr lang="en-US" b="1" baseline="0" dirty="0"/>
                        <a:t> the address of an element: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US" baseline="0" dirty="0"/>
                        <a:t> + index*sizeof(DataType)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m + (i*NumCol + j)*sizeof(DataType)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4038600"/>
            <a:ext cx="3581400" cy="2438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Common operations on arrays: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Add an element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Search an element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Remove an element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Input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Output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Sort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00600" y="4343400"/>
            <a:ext cx="3581400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Base of algorithms on arrays: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Traversing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 Do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Develop a C-program that helps user managing an 1-D array of real numbers(maximum of 100 elements) using the following simple menu:</a:t>
            </a:r>
          </a:p>
          <a:p>
            <a:r>
              <a:rPr lang="en-US" dirty="0"/>
              <a:t>1- Add  a value</a:t>
            </a:r>
          </a:p>
          <a:p>
            <a:r>
              <a:rPr lang="en-US" dirty="0"/>
              <a:t>2- Search a value</a:t>
            </a:r>
          </a:p>
          <a:p>
            <a:r>
              <a:rPr lang="en-US" dirty="0"/>
              <a:t>3- Print out the array </a:t>
            </a:r>
          </a:p>
          <a:p>
            <a:r>
              <a:rPr lang="en-US" dirty="0"/>
              <a:t>4- Print out values in a range (minVal&lt;=value&lt;=maxVal, minVal and maxVal are inputted)</a:t>
            </a:r>
          </a:p>
          <a:p>
            <a:r>
              <a:rPr lang="en-US" dirty="0"/>
              <a:t>5- Print out the array in ascending order (positions of elements are preserved)</a:t>
            </a:r>
          </a:p>
          <a:p>
            <a:r>
              <a:rPr lang="en-US" dirty="0"/>
              <a:t>Others- Quit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19400"/>
            <a:ext cx="7924800" cy="56356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Contiguous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2347</TotalTime>
  <Words>3377</Words>
  <Application>Microsoft Macintosh PowerPoint</Application>
  <PresentationFormat>On-screen Show (4:3)</PresentationFormat>
  <Paragraphs>729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Consolas</vt:lpstr>
      <vt:lpstr>Menlo</vt:lpstr>
      <vt:lpstr>Times New Roman</vt:lpstr>
      <vt:lpstr>Wingdings</vt:lpstr>
      <vt:lpstr>Office Theme</vt:lpstr>
      <vt:lpstr>Contiguous Storage</vt:lpstr>
      <vt:lpstr>Objectives</vt:lpstr>
      <vt:lpstr>Content</vt:lpstr>
      <vt:lpstr>1- Contiguous Storage</vt:lpstr>
      <vt:lpstr>2- Arrays</vt:lpstr>
      <vt:lpstr>3- One Dimensional  (1-D)Arrays </vt:lpstr>
      <vt:lpstr>1-D Arrays: Declaration</vt:lpstr>
      <vt:lpstr>1-D Arrays: Declaration</vt:lpstr>
      <vt:lpstr>1-D Arrays: Declaration</vt:lpstr>
      <vt:lpstr>1-D Arrays: Memory Allocation</vt:lpstr>
      <vt:lpstr>1-D Arrays:  Initialization &amp; Accessing Elements</vt:lpstr>
      <vt:lpstr>1-D Arrays: Init. &amp; Accessing…</vt:lpstr>
      <vt:lpstr>1-D Arrays: Traversing</vt:lpstr>
      <vt:lpstr>1-D Array is a Function Parameter</vt:lpstr>
      <vt:lpstr>Array Function Parameter: Demo.</vt:lpstr>
      <vt:lpstr>Array Function Parameter: Demo 1.</vt:lpstr>
      <vt:lpstr>Array Function Parameter: Demo 1.</vt:lpstr>
      <vt:lpstr>Array Function Parameter: Demo 1.</vt:lpstr>
      <vt:lpstr>Array Function Parameter: Demo 1.</vt:lpstr>
      <vt:lpstr>Array Function Parameter: Demo 1.</vt:lpstr>
      <vt:lpstr>Array Function Parameter: Demo 2.</vt:lpstr>
      <vt:lpstr>Array Function Parameter: Demo 2.</vt:lpstr>
      <vt:lpstr>Array Function Parameter: Demo 2.</vt:lpstr>
      <vt:lpstr>1-D Arrays: Searching</vt:lpstr>
      <vt:lpstr>1-D Arrays: Searching…</vt:lpstr>
      <vt:lpstr>1-D Arrays: Linear Searching…</vt:lpstr>
      <vt:lpstr>1-D Arrays: Binary Searching…</vt:lpstr>
      <vt:lpstr>1-D Arrays: Binary Searching…</vt:lpstr>
      <vt:lpstr>1-D Arrays: Sorting</vt:lpstr>
      <vt:lpstr>1-D Arrays: Selection Sort</vt:lpstr>
      <vt:lpstr>1-D Arrays: Selection Sort</vt:lpstr>
      <vt:lpstr>1-D Arrays: Bubble Sort</vt:lpstr>
      <vt:lpstr>1-D Arrays: Bubble Sort…</vt:lpstr>
      <vt:lpstr>1-D Arrays: A Sample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1-D Arrays: A Sample…</vt:lpstr>
      <vt:lpstr>4- Two-Dimensional Arrays</vt:lpstr>
      <vt:lpstr>3- 2-D Arrays: Memory Structure</vt:lpstr>
      <vt:lpstr>Static 2-D Arrays Demo.</vt:lpstr>
      <vt:lpstr>Static 2-D Arrays Demo.</vt:lpstr>
      <vt:lpstr>Summary</vt:lpstr>
      <vt:lpstr>Summary</vt:lpstr>
      <vt:lpstr>Exercise- Do yourself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Vo Quoc Trinh (FE FPTU DN)</cp:lastModifiedBy>
  <cp:revision>106</cp:revision>
  <dcterms:created xsi:type="dcterms:W3CDTF">2013-07-11T00:46:38Z</dcterms:created>
  <dcterms:modified xsi:type="dcterms:W3CDTF">2022-02-22T16:41:24Z</dcterms:modified>
</cp:coreProperties>
</file>