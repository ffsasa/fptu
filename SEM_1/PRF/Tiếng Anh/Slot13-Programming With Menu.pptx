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0"/>
  </p:notesMasterIdLst>
  <p:sldIdLst>
    <p:sldId id="256" r:id="rId2"/>
    <p:sldId id="269" r:id="rId3"/>
    <p:sldId id="257" r:id="rId4"/>
    <p:sldId id="258" r:id="rId5"/>
    <p:sldId id="275" r:id="rId6"/>
    <p:sldId id="259" r:id="rId7"/>
    <p:sldId id="260" r:id="rId8"/>
    <p:sldId id="261" r:id="rId9"/>
    <p:sldId id="262" r:id="rId10"/>
    <p:sldId id="263" r:id="rId11"/>
    <p:sldId id="268" r:id="rId12"/>
    <p:sldId id="266" r:id="rId13"/>
    <p:sldId id="267" r:id="rId14"/>
    <p:sldId id="270" r:id="rId15"/>
    <p:sldId id="271" r:id="rId16"/>
    <p:sldId id="272" r:id="rId17"/>
    <p:sldId id="273" r:id="rId18"/>
    <p:sldId id="274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87913"/>
  </p:normalViewPr>
  <p:slideViewPr>
    <p:cSldViewPr>
      <p:cViewPr varScale="1">
        <p:scale>
          <a:sx n="80" d="100"/>
          <a:sy n="80" d="100"/>
        </p:scale>
        <p:origin x="170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586D9E-0427-4F95-B707-6FEDA26D5E93}" type="datetimeFigureOut">
              <a:rPr lang="en-US" smtClean="0"/>
              <a:pPr/>
              <a:t>14-Oct-22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311BCC-F696-4F2B-A6CD-52BF11A2596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Prepared by Thân</a:t>
            </a:r>
            <a:r>
              <a:rPr lang="en-US" baseline="0" dirty="0"/>
              <a:t> Văn Sử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311BCC-F696-4F2B-A6CD-52BF11A25961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sz="1200" b="0" dirty="0">
                <a:solidFill>
                  <a:schemeClr val="tx1"/>
                </a:solidFill>
              </a:rPr>
              <a:t>void* </a:t>
            </a:r>
            <a:r>
              <a:rPr lang="en-US" sz="1200" b="1" dirty="0" err="1">
                <a:solidFill>
                  <a:schemeClr val="tx1"/>
                </a:solidFill>
              </a:rPr>
              <a:t>calloc</a:t>
            </a:r>
            <a:r>
              <a:rPr lang="en-US" sz="1200" dirty="0">
                <a:solidFill>
                  <a:schemeClr val="tx1"/>
                </a:solidFill>
              </a:rPr>
              <a:t>  (</a:t>
            </a:r>
            <a:r>
              <a:rPr lang="en-US" sz="1200" dirty="0" err="1">
                <a:solidFill>
                  <a:schemeClr val="tx1"/>
                </a:solidFill>
              </a:rPr>
              <a:t>size_t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numberOfItem</a:t>
            </a:r>
            <a:r>
              <a:rPr lang="en-US" sz="1200" dirty="0">
                <a:solidFill>
                  <a:schemeClr val="tx1"/>
                </a:solidFill>
              </a:rPr>
              <a:t>, </a:t>
            </a:r>
            <a:r>
              <a:rPr lang="en-US" sz="1200" dirty="0" err="1">
                <a:solidFill>
                  <a:schemeClr val="tx1"/>
                </a:solidFill>
              </a:rPr>
              <a:t>size_t</a:t>
            </a:r>
            <a:r>
              <a:rPr lang="en-US" sz="1200" dirty="0">
                <a:solidFill>
                  <a:schemeClr val="tx1"/>
                </a:solidFill>
              </a:rPr>
              <a:t>  </a:t>
            </a:r>
            <a:r>
              <a:rPr lang="en-US" sz="1200" dirty="0" err="1">
                <a:solidFill>
                  <a:schemeClr val="tx1"/>
                </a:solidFill>
              </a:rPr>
              <a:t>bytesPerItem</a:t>
            </a:r>
            <a:r>
              <a:rPr lang="en-US" sz="1200" dirty="0">
                <a:solidFill>
                  <a:schemeClr val="tx1"/>
                </a:solidFill>
              </a:rPr>
              <a:t>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tx1"/>
                </a:solidFill>
              </a:rPr>
              <a:t>void*  </a:t>
            </a:r>
            <a:r>
              <a:rPr lang="en-US" sz="1200" b="1" dirty="0">
                <a:solidFill>
                  <a:schemeClr val="tx1"/>
                </a:solidFill>
              </a:rPr>
              <a:t>malloc</a:t>
            </a:r>
            <a:r>
              <a:rPr lang="en-US" sz="1200" dirty="0">
                <a:solidFill>
                  <a:schemeClr val="tx1"/>
                </a:solidFill>
              </a:rPr>
              <a:t> (</a:t>
            </a:r>
            <a:r>
              <a:rPr lang="en-US" sz="1200" dirty="0" err="1">
                <a:solidFill>
                  <a:schemeClr val="tx1"/>
                </a:solidFill>
              </a:rPr>
              <a:t>size_t</a:t>
            </a:r>
            <a:r>
              <a:rPr lang="en-US" sz="1200" dirty="0">
                <a:solidFill>
                  <a:schemeClr val="tx1"/>
                </a:solidFill>
              </a:rPr>
              <a:t>  </a:t>
            </a:r>
            <a:r>
              <a:rPr lang="en-US" sz="1200" dirty="0" err="1">
                <a:solidFill>
                  <a:schemeClr val="tx1"/>
                </a:solidFill>
              </a:rPr>
              <a:t>numBytes</a:t>
            </a:r>
            <a:r>
              <a:rPr lang="en-US" sz="1200" dirty="0">
                <a:solidFill>
                  <a:schemeClr val="tx1"/>
                </a:solidFill>
              </a:rPr>
              <a:t>) ; </a:t>
            </a:r>
            <a:r>
              <a:rPr lang="en-US" sz="1200" dirty="0">
                <a:solidFill>
                  <a:schemeClr val="tx1"/>
                </a:solidFill>
                <a:sym typeface="Wingdings" pitchFamily="2" charset="2"/>
              </a:rPr>
              <a:t>-&gt; </a:t>
            </a:r>
            <a:r>
              <a:rPr lang="en-US" dirty="0">
                <a:solidFill>
                  <a:schemeClr val="tx1"/>
                </a:solidFill>
              </a:rPr>
              <a:t>int* p = (int*)  </a:t>
            </a:r>
            <a:r>
              <a:rPr lang="en-US" b="1" dirty="0">
                <a:solidFill>
                  <a:schemeClr val="tx1"/>
                </a:solidFill>
              </a:rPr>
              <a:t>malloc</a:t>
            </a:r>
            <a:r>
              <a:rPr lang="en-US" dirty="0">
                <a:solidFill>
                  <a:schemeClr val="tx1"/>
                </a:solidFill>
              </a:rPr>
              <a:t> (</a:t>
            </a:r>
            <a:r>
              <a:rPr lang="en-US" dirty="0" err="1">
                <a:solidFill>
                  <a:schemeClr val="tx1"/>
                </a:solidFill>
              </a:rPr>
              <a:t>sizeof</a:t>
            </a:r>
            <a:r>
              <a:rPr lang="en-US">
                <a:solidFill>
                  <a:schemeClr val="tx1"/>
                </a:solidFill>
              </a:rPr>
              <a:t> (int)) ;</a:t>
            </a:r>
            <a:endParaRPr lang="en-US" sz="1200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1200" dirty="0">
                <a:solidFill>
                  <a:schemeClr val="tx1"/>
                </a:solidFill>
              </a:rPr>
              <a:t>void* </a:t>
            </a:r>
            <a:r>
              <a:rPr lang="en-US" sz="1200" b="1" dirty="0" err="1">
                <a:solidFill>
                  <a:schemeClr val="tx1"/>
                </a:solidFill>
              </a:rPr>
              <a:t>realloc</a:t>
            </a:r>
            <a:r>
              <a:rPr lang="en-US" sz="1200" dirty="0">
                <a:solidFill>
                  <a:schemeClr val="tx1"/>
                </a:solidFill>
              </a:rPr>
              <a:t> (void* </a:t>
            </a:r>
            <a:r>
              <a:rPr lang="en-US" sz="1200" dirty="0" err="1">
                <a:solidFill>
                  <a:schemeClr val="tx1"/>
                </a:solidFill>
              </a:rPr>
              <a:t>curPointer</a:t>
            </a:r>
            <a:r>
              <a:rPr lang="en-US" sz="1200" dirty="0">
                <a:solidFill>
                  <a:schemeClr val="tx1"/>
                </a:solidFill>
              </a:rPr>
              <a:t>, </a:t>
            </a:r>
            <a:r>
              <a:rPr lang="en-US" sz="1200" dirty="0" err="1">
                <a:solidFill>
                  <a:schemeClr val="tx1"/>
                </a:solidFill>
              </a:rPr>
              <a:t>size_t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newNumBytes</a:t>
            </a:r>
            <a:r>
              <a:rPr lang="en-US" sz="1200" dirty="0">
                <a:solidFill>
                  <a:schemeClr val="tx1"/>
                </a:solidFill>
              </a:rPr>
              <a:t>);</a:t>
            </a:r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311BCC-F696-4F2B-A6CD-52BF11A25961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0597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D670C-D59A-40A1-916C-2DA97A8784A4}" type="datetime1">
              <a:rPr lang="en-US" smtClean="0"/>
              <a:pPr/>
              <a:t>14-Oct-22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 with Menus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26" name="Picture 1" descr="Logo_FPT_University_nga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162050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BE62B-2206-4A1B-AFF4-5BC3CEB6B23E}" type="datetime1">
              <a:rPr lang="en-US" smtClean="0"/>
              <a:pPr/>
              <a:t>14-Oct-22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 with Menus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77466-6A6C-4ACF-AC6F-A602BFAA04C1}" type="datetime1">
              <a:rPr lang="en-US" smtClean="0"/>
              <a:pPr/>
              <a:t>14-Oct-22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 with Menus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0FFCD-F744-48E3-A158-855EADA90AEF}" type="datetime1">
              <a:rPr lang="en-US" smtClean="0"/>
              <a:pPr/>
              <a:t>14-Oct-22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 with Menus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9B8D5-1C5C-4681-9A81-E154EE2777A1}" type="datetime1">
              <a:rPr lang="en-US" smtClean="0"/>
              <a:pPr/>
              <a:t>14-Oct-22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 with Menus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3C21A-4135-4004-9E2C-047D134ACBD8}" type="datetime1">
              <a:rPr lang="en-US" smtClean="0"/>
              <a:pPr/>
              <a:t>14-Oct-22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 with Menus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27CDF-E5CE-4937-88D2-89B693AE7D46}" type="datetime1">
              <a:rPr lang="en-US" smtClean="0"/>
              <a:pPr/>
              <a:t>14-Oct-22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 with Menus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1A501-EFAA-451F-9E7F-EF2CEF4E2358}" type="datetime1">
              <a:rPr lang="en-US" smtClean="0"/>
              <a:pPr/>
              <a:t>14-Oct-22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 with Menus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41D49-7E58-494B-860D-E4DC7A41F87F}" type="datetime1">
              <a:rPr lang="en-US" smtClean="0"/>
              <a:pPr/>
              <a:t>14-Oct-22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 with Menus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77140-779B-470B-A854-13F4987DB22E}" type="datetime1">
              <a:rPr lang="en-US" smtClean="0"/>
              <a:pPr/>
              <a:t>14-Oct-22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 with Menus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A51A0-0921-43F0-A521-B8650B179EA9}" type="datetime1">
              <a:rPr lang="en-US" smtClean="0"/>
              <a:pPr/>
              <a:t>14-Oct-22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 with Menus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274638"/>
            <a:ext cx="7924800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219200"/>
            <a:ext cx="7924800" cy="4906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3000" y="6553200"/>
            <a:ext cx="1447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C987195F-842D-4125-BB82-6260AD3FAE04}" type="datetime1">
              <a:rPr lang="en-US" smtClean="0"/>
              <a:pPr/>
              <a:t>14-Oct-22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553200"/>
            <a:ext cx="2895600" cy="244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 dirty="0"/>
              <a:t>Programming with Menus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34200" y="6553200"/>
            <a:ext cx="2133600" cy="244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190CC846-20B3-454D-AF77-DE04E39CF88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143000" cy="6858000"/>
          </a:xfrm>
          <a:prstGeom prst="rect">
            <a:avLst/>
          </a:prstGeom>
          <a:gradFill flip="none" rotWithShape="1">
            <a:gsLst>
              <a:gs pos="0">
                <a:srgbClr val="FF00FF">
                  <a:tint val="66000"/>
                  <a:satMod val="160000"/>
                </a:srgbClr>
              </a:gs>
              <a:gs pos="50000">
                <a:srgbClr val="FF00FF">
                  <a:tint val="44500"/>
                  <a:satMod val="160000"/>
                </a:srgbClr>
              </a:gs>
              <a:gs pos="100000">
                <a:srgbClr val="FF00FF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1" descr="Logo_FPT_University_ngang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1162050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3600" b="1" kern="1200">
          <a:solidFill>
            <a:schemeClr val="tx1"/>
          </a:solidFill>
          <a:latin typeface="Times New Roman" pitchFamily="18" charset="0"/>
          <a:ea typeface="+mj-ea"/>
          <a:cs typeface="Times New Roman" pitchFamily="18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r"/>
            <a:r>
              <a:rPr lang="en-US" dirty="0">
                <a:solidFill>
                  <a:srgbClr val="0000FF"/>
                </a:solidFill>
              </a:rPr>
              <a:t>Slot 13</a:t>
            </a:r>
            <a:br>
              <a:rPr lang="en-US" dirty="0">
                <a:solidFill>
                  <a:srgbClr val="0000FF"/>
                </a:solidFill>
              </a:rPr>
            </a:br>
            <a:r>
              <a:rPr lang="en-US" dirty="0">
                <a:solidFill>
                  <a:srgbClr val="0000FF"/>
                </a:solidFill>
              </a:rPr>
              <a:t>Programming With Menu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7010400" cy="1752600"/>
          </a:xfrm>
        </p:spPr>
        <p:txBody>
          <a:bodyPr>
            <a:normAutofit/>
          </a:bodyPr>
          <a:lstStyle/>
          <a:p>
            <a:pPr algn="r"/>
            <a:r>
              <a:rPr lang="en-US" dirty="0">
                <a:solidFill>
                  <a:schemeClr val="tx1"/>
                </a:solidFill>
              </a:rPr>
              <a:t>A review for C-Functions</a:t>
            </a:r>
          </a:p>
          <a:p>
            <a:pPr algn="r"/>
            <a:r>
              <a:rPr lang="en-US" dirty="0">
                <a:solidFill>
                  <a:schemeClr val="tx1"/>
                </a:solidFill>
              </a:rPr>
              <a:t>Pointers are parameters of functions</a:t>
            </a:r>
          </a:p>
          <a:p>
            <a:pPr algn="r"/>
            <a:r>
              <a:rPr lang="en-US" dirty="0">
                <a:solidFill>
                  <a:schemeClr val="tx1"/>
                </a:solidFill>
              </a:rPr>
              <a:t>Using some C++ characteristics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Why is Menu?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Generally, a program performs some operations and at a time only one task is carried out. </a:t>
            </a:r>
            <a:r>
              <a:rPr lang="en-US" dirty="0">
                <a:sym typeface="Wingdings" pitchFamily="2" charset="2"/>
              </a:rPr>
              <a:t> A menu is usually used.</a:t>
            </a:r>
          </a:p>
          <a:p>
            <a:pPr>
              <a:buNone/>
            </a:pPr>
            <a:endParaRPr lang="en-US" dirty="0">
              <a:sym typeface="Wingdings" pitchFamily="2" charset="2"/>
            </a:endParaRPr>
          </a:p>
          <a:p>
            <a:pPr>
              <a:buNone/>
            </a:pPr>
            <a:r>
              <a:rPr lang="en-US" dirty="0">
                <a:sym typeface="Wingdings" pitchFamily="2" charset="2"/>
              </a:rPr>
              <a:t> How are menus implemented in C program?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 with Menus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i="1" dirty="0">
                <a:sym typeface="Wingdings" pitchFamily="2" charset="2"/>
              </a:rPr>
              <a:t>Common Algorithm in the entry point</a:t>
            </a:r>
            <a:r>
              <a:rPr lang="en-US" dirty="0">
                <a:sym typeface="Wingdings" pitchFamily="2" charset="2"/>
              </a:rPr>
              <a:t>:</a:t>
            </a:r>
          </a:p>
          <a:p>
            <a:pPr>
              <a:buNone/>
            </a:pPr>
            <a:r>
              <a:rPr lang="en-US" dirty="0">
                <a:sym typeface="Wingdings" pitchFamily="2" charset="2"/>
              </a:rPr>
              <a:t>	int userChoice;</a:t>
            </a:r>
          </a:p>
          <a:p>
            <a:pPr>
              <a:buNone/>
            </a:pPr>
            <a:r>
              <a:rPr lang="en-US" dirty="0">
                <a:sym typeface="Wingdings" pitchFamily="2" charset="2"/>
              </a:rPr>
              <a:t>   do</a:t>
            </a:r>
          </a:p>
          <a:p>
            <a:pPr>
              <a:buNone/>
            </a:pPr>
            <a:r>
              <a:rPr lang="en-US" dirty="0">
                <a:sym typeface="Wingdings" pitchFamily="2" charset="2"/>
              </a:rPr>
              <a:t>   {  userChoice= getUserChoice();</a:t>
            </a:r>
          </a:p>
          <a:p>
            <a:pPr>
              <a:buNone/>
            </a:pPr>
            <a:r>
              <a:rPr lang="en-US" dirty="0">
                <a:sym typeface="Wingdings" pitchFamily="2" charset="2"/>
              </a:rPr>
              <a:t>       switch (userChoice)</a:t>
            </a:r>
          </a:p>
          <a:p>
            <a:pPr>
              <a:buNone/>
            </a:pPr>
            <a:r>
              <a:rPr lang="en-US" dirty="0">
                <a:sym typeface="Wingdings" pitchFamily="2" charset="2"/>
              </a:rPr>
              <a:t>       {  case 1: function1(); break;</a:t>
            </a:r>
          </a:p>
          <a:p>
            <a:pPr>
              <a:buNone/>
            </a:pPr>
            <a:r>
              <a:rPr lang="en-US" dirty="0">
                <a:sym typeface="Wingdings" pitchFamily="2" charset="2"/>
              </a:rPr>
              <a:t>           case 2: function2(); break;</a:t>
            </a:r>
          </a:p>
          <a:p>
            <a:pPr>
              <a:buNone/>
            </a:pPr>
            <a:r>
              <a:rPr lang="en-US" dirty="0">
                <a:sym typeface="Wingdings" pitchFamily="2" charset="2"/>
              </a:rPr>
              <a:t>           case 3: function3(); break;</a:t>
            </a:r>
          </a:p>
          <a:p>
            <a:pPr>
              <a:buNone/>
            </a:pPr>
            <a:r>
              <a:rPr lang="en-US" dirty="0">
                <a:sym typeface="Wingdings" pitchFamily="2" charset="2"/>
              </a:rPr>
              <a:t>       }</a:t>
            </a:r>
          </a:p>
          <a:p>
            <a:pPr>
              <a:buNone/>
            </a:pPr>
            <a:r>
              <a:rPr lang="en-US" dirty="0">
                <a:sym typeface="Wingdings" pitchFamily="2" charset="2"/>
              </a:rPr>
              <a:t>   }</a:t>
            </a:r>
            <a:r>
              <a:rPr lang="en-US" dirty="0"/>
              <a:t>  </a:t>
            </a:r>
          </a:p>
          <a:p>
            <a:pPr>
              <a:buNone/>
            </a:pPr>
            <a:r>
              <a:rPr lang="en-US" dirty="0"/>
              <a:t>   while (userChoice &gt;0 &amp;&amp; userChoice&lt;maxChoice);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 with Menus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Write a C program using the following menu:</a:t>
            </a:r>
          </a:p>
          <a:p>
            <a:pPr lvl="1">
              <a:buNone/>
            </a:pPr>
            <a:r>
              <a:rPr lang="en-US" dirty="0"/>
              <a:t>1- Operation 1</a:t>
            </a:r>
          </a:p>
          <a:p>
            <a:pPr lvl="1">
              <a:buNone/>
            </a:pPr>
            <a:r>
              <a:rPr lang="en-US" dirty="0"/>
              <a:t>2- Operation 2</a:t>
            </a:r>
          </a:p>
          <a:p>
            <a:pPr lvl="1">
              <a:buNone/>
            </a:pPr>
            <a:r>
              <a:rPr lang="en-US" dirty="0"/>
              <a:t>Others- Quit</a:t>
            </a:r>
            <a:endParaRPr lang="en-US" dirty="0">
              <a:sym typeface="Wingdings" pitchFamily="2" charset="2"/>
            </a:endParaRPr>
          </a:p>
          <a:p>
            <a:r>
              <a:rPr lang="en-US" dirty="0">
                <a:sym typeface="Wingdings" pitchFamily="2" charset="2"/>
              </a:rPr>
              <a:t>If user chooses 1, user will input 2 integers, the program will print out sum of integers between them including them.</a:t>
            </a:r>
          </a:p>
          <a:p>
            <a:r>
              <a:rPr lang="en-US" dirty="0">
                <a:sym typeface="Wingdings" pitchFamily="2" charset="2"/>
              </a:rPr>
              <a:t>If user chooses 2, user will input 2 </a:t>
            </a:r>
            <a:r>
              <a:rPr lang="en-US" dirty="0" smtClean="0">
                <a:sym typeface="Wingdings" pitchFamily="2" charset="2"/>
              </a:rPr>
              <a:t>characters, </a:t>
            </a:r>
            <a:r>
              <a:rPr lang="en-US" dirty="0">
                <a:sym typeface="Wingdings" pitchFamily="2" charset="2"/>
              </a:rPr>
              <a:t>the program will print out the ASCII table between two inputted characters in ascending order.</a:t>
            </a:r>
          </a:p>
          <a:p>
            <a:r>
              <a:rPr lang="en-US" dirty="0">
                <a:sym typeface="Wingdings" pitchFamily="2" charset="2"/>
              </a:rPr>
              <a:t>If user chooses other options, the program will terminate.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 with Menus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Write a C program using the following menu:</a:t>
            </a:r>
          </a:p>
          <a:p>
            <a:pPr lvl="1">
              <a:buNone/>
            </a:pPr>
            <a:r>
              <a:rPr lang="en-US" dirty="0"/>
              <a:t>1- Operation 1</a:t>
            </a:r>
          </a:p>
          <a:p>
            <a:pPr lvl="1">
              <a:buNone/>
            </a:pPr>
            <a:r>
              <a:rPr lang="en-US" dirty="0"/>
              <a:t>2- Operation 2</a:t>
            </a:r>
          </a:p>
          <a:p>
            <a:pPr lvl="1">
              <a:buNone/>
            </a:pPr>
            <a:r>
              <a:rPr lang="en-US" dirty="0"/>
              <a:t>Others- Quit</a:t>
            </a:r>
            <a:endParaRPr lang="en-US" dirty="0">
              <a:sym typeface="Wingdings" pitchFamily="2" charset="2"/>
            </a:endParaRPr>
          </a:p>
          <a:p>
            <a:r>
              <a:rPr lang="en-US" dirty="0">
                <a:sym typeface="Wingdings" pitchFamily="2" charset="2"/>
              </a:rPr>
              <a:t>If user chooses 1, user will input 2 integers, the program will </a:t>
            </a:r>
            <a:r>
              <a:rPr lang="en-US" dirty="0" smtClean="0">
                <a:sym typeface="Wingdings" pitchFamily="2" charset="2"/>
              </a:rPr>
              <a:t>call a FUNCTION of calculating sum </a:t>
            </a:r>
            <a:r>
              <a:rPr lang="en-US" dirty="0">
                <a:sym typeface="Wingdings" pitchFamily="2" charset="2"/>
              </a:rPr>
              <a:t>of integers between them including </a:t>
            </a:r>
            <a:r>
              <a:rPr lang="en-US" dirty="0" smtClean="0">
                <a:sym typeface="Wingdings" pitchFamily="2" charset="2"/>
              </a:rPr>
              <a:t>them, then print it out.</a:t>
            </a:r>
            <a:endParaRPr lang="en-US" dirty="0">
              <a:sym typeface="Wingdings" pitchFamily="2" charset="2"/>
            </a:endParaRPr>
          </a:p>
          <a:p>
            <a:r>
              <a:rPr lang="en-US" dirty="0">
                <a:sym typeface="Wingdings" pitchFamily="2" charset="2"/>
              </a:rPr>
              <a:t>If user chooses 2, user will input 2 </a:t>
            </a:r>
            <a:r>
              <a:rPr lang="en-US" dirty="0" smtClean="0">
                <a:sym typeface="Wingdings" pitchFamily="2" charset="2"/>
              </a:rPr>
              <a:t>numbers, </a:t>
            </a:r>
            <a:r>
              <a:rPr lang="en-US" dirty="0">
                <a:sym typeface="Wingdings" pitchFamily="2" charset="2"/>
              </a:rPr>
              <a:t>the program </a:t>
            </a:r>
            <a:r>
              <a:rPr lang="en-US" dirty="0">
                <a:sym typeface="Wingdings" pitchFamily="2" charset="2"/>
              </a:rPr>
              <a:t>will call a FUNCTION of </a:t>
            </a:r>
            <a:r>
              <a:rPr lang="en-US" dirty="0" smtClean="0">
                <a:sym typeface="Wingdings" pitchFamily="2" charset="2"/>
              </a:rPr>
              <a:t>calculating </a:t>
            </a:r>
            <a:r>
              <a:rPr lang="en-US" dirty="0" smtClean="0">
                <a:sym typeface="Wingdings" pitchFamily="2" charset="2"/>
              </a:rPr>
              <a:t>division of two numbers, then print it out.</a:t>
            </a:r>
            <a:endParaRPr lang="en-US" dirty="0">
              <a:sym typeface="Wingdings" pitchFamily="2" charset="2"/>
            </a:endParaRPr>
          </a:p>
          <a:p>
            <a:r>
              <a:rPr lang="en-US" dirty="0">
                <a:sym typeface="Wingdings" pitchFamily="2" charset="2"/>
              </a:rPr>
              <a:t>If user chooses other options, the program will terminate.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 with Menus</a:t>
            </a:r>
          </a:p>
        </p:txBody>
      </p:sp>
    </p:spTree>
    <p:extLst>
      <p:ext uri="{BB962C8B-B14F-4D97-AF65-F5344CB8AC3E}">
        <p14:creationId xmlns:p14="http://schemas.microsoft.com/office/powerpoint/2010/main" val="4083543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Implementation: menuDemo1.c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0088" y="1362075"/>
            <a:ext cx="7743825" cy="413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 with Menus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Implementation: menuDemo1.c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95325" y="995363"/>
            <a:ext cx="7753350" cy="4867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44282" y="2343150"/>
            <a:ext cx="3303712" cy="154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Straight Arrow Connector 5"/>
          <p:cNvCxnSpPr/>
          <p:nvPr/>
        </p:nvCxnSpPr>
        <p:spPr>
          <a:xfrm>
            <a:off x="4114800" y="2819400"/>
            <a:ext cx="4114800" cy="6096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 with Menus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Implementation: menuDemo1.c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9125" y="985838"/>
            <a:ext cx="7905750" cy="488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987332" y="5181601"/>
            <a:ext cx="3027212" cy="1247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5" name="Straight Arrow Connector 4"/>
          <p:cNvCxnSpPr/>
          <p:nvPr/>
        </p:nvCxnSpPr>
        <p:spPr>
          <a:xfrm>
            <a:off x="4267200" y="3200400"/>
            <a:ext cx="4419600" cy="25146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 with Menus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Implementation: menuDemo1.c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1085850"/>
            <a:ext cx="5762625" cy="409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19800" y="1828800"/>
            <a:ext cx="3019425" cy="3381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 with Menus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with pointers as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19200"/>
            <a:ext cx="7924800" cy="4906963"/>
          </a:xfrm>
        </p:spPr>
        <p:txBody>
          <a:bodyPr>
            <a:normAutofit/>
          </a:bodyPr>
          <a:lstStyle/>
          <a:p>
            <a:r>
              <a:rPr lang="en-US" dirty="0"/>
              <a:t>C uses by-value parameters only </a:t>
            </a:r>
            <a:r>
              <a:rPr lang="en-US" dirty="0">
                <a:sym typeface="Wingdings" pitchFamily="2" charset="2"/>
              </a:rPr>
              <a:t> A function can not modify values of arguments.</a:t>
            </a:r>
          </a:p>
          <a:p>
            <a:r>
              <a:rPr lang="en-US" dirty="0">
                <a:sym typeface="Wingdings" pitchFamily="2" charset="2"/>
              </a:rPr>
              <a:t>To modify values of arguments, pointers as parameters of a function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 with Menus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990600"/>
            <a:ext cx="6284372" cy="4019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with pointers as parameters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934200" y="6105525"/>
            <a:ext cx="990600" cy="304800"/>
          </a:xfrm>
          <a:prstGeom prst="rect">
            <a:avLst/>
          </a:prstGeom>
          <a:solidFill>
            <a:srgbClr val="99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 dirty="0"/>
              <a:t>maxN=100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096000" y="6105525"/>
            <a:ext cx="762000" cy="304800"/>
          </a:xfrm>
          <a:prstGeom prst="rect">
            <a:avLst/>
          </a:prstGeom>
          <a:solidFill>
            <a:srgbClr val="99FF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 dirty="0"/>
              <a:t>170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096000" y="5800725"/>
            <a:ext cx="762000" cy="304800"/>
          </a:xfrm>
          <a:prstGeom prst="rect">
            <a:avLst/>
          </a:prstGeom>
          <a:solidFill>
            <a:srgbClr val="99FF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 dirty="0"/>
              <a:t>172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6934200" y="5800725"/>
            <a:ext cx="990600" cy="304800"/>
          </a:xfrm>
          <a:prstGeom prst="rect">
            <a:avLst/>
          </a:prstGeom>
          <a:solidFill>
            <a:srgbClr val="99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 dirty="0"/>
              <a:t>pi=3.14..</a:t>
            </a: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6096000" y="4810125"/>
            <a:ext cx="762000" cy="3048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 dirty="0">
                <a:solidFill>
                  <a:srgbClr val="FF0000"/>
                </a:solidFill>
              </a:rPr>
              <a:t>867</a:t>
            </a: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6934200" y="4505325"/>
            <a:ext cx="990600" cy="6096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 dirty="0">
                <a:solidFill>
                  <a:srgbClr val="FF0000"/>
                </a:solidFill>
              </a:rPr>
              <a:t>main</a:t>
            </a:r>
          </a:p>
          <a:p>
            <a:pPr algn="ctr"/>
            <a:r>
              <a:rPr lang="en-US" sz="1400" b="1" dirty="0">
                <a:solidFill>
                  <a:srgbClr val="FF0000"/>
                </a:solidFill>
              </a:rPr>
              <a:t>code</a:t>
            </a: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6096000" y="5419725"/>
            <a:ext cx="762000" cy="3048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 dirty="0">
                <a:solidFill>
                  <a:srgbClr val="FF0000"/>
                </a:solidFill>
              </a:rPr>
              <a:t>706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6934200" y="5114925"/>
            <a:ext cx="990600" cy="6096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 dirty="0">
                <a:solidFill>
                  <a:srgbClr val="FF0000"/>
                </a:solidFill>
              </a:rPr>
              <a:t>CalcImp</a:t>
            </a:r>
          </a:p>
          <a:p>
            <a:pPr algn="ctr"/>
            <a:r>
              <a:rPr lang="en-US" sz="1400" b="1" dirty="0">
                <a:solidFill>
                  <a:srgbClr val="FF0000"/>
                </a:solidFill>
              </a:rPr>
              <a:t>code</a:t>
            </a: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6096000" y="1076325"/>
            <a:ext cx="762000" cy="304800"/>
          </a:xfrm>
          <a:prstGeom prst="rect">
            <a:avLst/>
          </a:prstGeom>
          <a:solidFill>
            <a:srgbClr val="99FF66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 dirty="0"/>
              <a:t>65518</a:t>
            </a: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6934200" y="1076325"/>
            <a:ext cx="990600" cy="304800"/>
          </a:xfrm>
          <a:prstGeom prst="rect">
            <a:avLst/>
          </a:prstGeom>
          <a:solidFill>
            <a:srgbClr val="99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 dirty="0"/>
              <a:t>R1=3</a:t>
            </a: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6096000" y="1381125"/>
            <a:ext cx="762000" cy="304800"/>
          </a:xfrm>
          <a:prstGeom prst="rect">
            <a:avLst/>
          </a:prstGeom>
          <a:solidFill>
            <a:srgbClr val="99FF66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 dirty="0"/>
              <a:t>65510</a:t>
            </a: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6934200" y="1381125"/>
            <a:ext cx="990600" cy="304800"/>
          </a:xfrm>
          <a:prstGeom prst="rect">
            <a:avLst/>
          </a:prstGeom>
          <a:solidFill>
            <a:srgbClr val="99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 dirty="0"/>
              <a:t>R2=8</a:t>
            </a: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6096000" y="1685925"/>
            <a:ext cx="762000" cy="304800"/>
          </a:xfrm>
          <a:prstGeom prst="rect">
            <a:avLst/>
          </a:prstGeom>
          <a:solidFill>
            <a:srgbClr val="99FF66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 dirty="0"/>
              <a:t>65502</a:t>
            </a: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6934200" y="1685925"/>
            <a:ext cx="990600" cy="304800"/>
          </a:xfrm>
          <a:prstGeom prst="rect">
            <a:avLst/>
          </a:prstGeom>
          <a:solidFill>
            <a:srgbClr val="99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 dirty="0"/>
              <a:t>R3=9</a:t>
            </a: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6096000" y="2819400"/>
            <a:ext cx="762000" cy="304800"/>
          </a:xfrm>
          <a:prstGeom prst="rect">
            <a:avLst/>
          </a:prstGeom>
          <a:solidFill>
            <a:srgbClr val="99FF66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 dirty="0"/>
              <a:t>65478</a:t>
            </a: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6934200" y="2819400"/>
            <a:ext cx="990600" cy="304800"/>
          </a:xfrm>
          <a:prstGeom prst="rect">
            <a:avLst/>
          </a:prstGeom>
          <a:solidFill>
            <a:srgbClr val="99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 dirty="0"/>
              <a:t>r1=3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6096000" y="2514600"/>
            <a:ext cx="762000" cy="304800"/>
          </a:xfrm>
          <a:prstGeom prst="rect">
            <a:avLst/>
          </a:prstGeom>
          <a:solidFill>
            <a:srgbClr val="99FF66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 dirty="0"/>
              <a:t>65486</a:t>
            </a:r>
          </a:p>
        </p:txBody>
      </p:sp>
      <p:sp>
        <p:nvSpPr>
          <p:cNvPr id="23" name="Rectangle 22"/>
          <p:cNvSpPr>
            <a:spLocks noChangeArrowheads="1"/>
          </p:cNvSpPr>
          <p:nvPr/>
        </p:nvSpPr>
        <p:spPr bwMode="auto">
          <a:xfrm>
            <a:off x="6934200" y="2514600"/>
            <a:ext cx="990600" cy="304800"/>
          </a:xfrm>
          <a:prstGeom prst="rect">
            <a:avLst/>
          </a:prstGeom>
          <a:solidFill>
            <a:srgbClr val="99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 dirty="0"/>
              <a:t>r2=8</a:t>
            </a:r>
          </a:p>
        </p:txBody>
      </p: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6096000" y="2209800"/>
            <a:ext cx="762000" cy="304800"/>
          </a:xfrm>
          <a:prstGeom prst="rect">
            <a:avLst/>
          </a:prstGeom>
          <a:solidFill>
            <a:srgbClr val="99FF66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 dirty="0"/>
              <a:t>65494</a:t>
            </a:r>
          </a:p>
        </p:txBody>
      </p:sp>
      <p:sp>
        <p:nvSpPr>
          <p:cNvPr id="25" name="Rectangle 24"/>
          <p:cNvSpPr>
            <a:spLocks noChangeArrowheads="1"/>
          </p:cNvSpPr>
          <p:nvPr/>
        </p:nvSpPr>
        <p:spPr bwMode="auto">
          <a:xfrm>
            <a:off x="6934200" y="2209800"/>
            <a:ext cx="990600" cy="304800"/>
          </a:xfrm>
          <a:prstGeom prst="rect">
            <a:avLst/>
          </a:prstGeom>
          <a:solidFill>
            <a:srgbClr val="99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 dirty="0"/>
              <a:t>r3=9</a:t>
            </a:r>
          </a:p>
        </p:txBody>
      </p:sp>
      <p:pic>
        <p:nvPicPr>
          <p:cNvPr id="27" name="Picture 2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47800" y="4733925"/>
            <a:ext cx="3514725" cy="1895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" name="Rectangle 27"/>
          <p:cNvSpPr>
            <a:spLocks noChangeArrowheads="1"/>
          </p:cNvSpPr>
          <p:nvPr/>
        </p:nvSpPr>
        <p:spPr bwMode="auto">
          <a:xfrm>
            <a:off x="6096000" y="3124200"/>
            <a:ext cx="762000" cy="304800"/>
          </a:xfrm>
          <a:prstGeom prst="rect">
            <a:avLst/>
          </a:prstGeom>
          <a:solidFill>
            <a:srgbClr val="99FF66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 dirty="0"/>
              <a:t>65466</a:t>
            </a:r>
          </a:p>
        </p:txBody>
      </p:sp>
      <p:sp>
        <p:nvSpPr>
          <p:cNvPr id="29" name="Rectangle 28"/>
          <p:cNvSpPr>
            <a:spLocks noChangeArrowheads="1"/>
          </p:cNvSpPr>
          <p:nvPr/>
        </p:nvSpPr>
        <p:spPr bwMode="auto">
          <a:xfrm>
            <a:off x="6934200" y="3124200"/>
            <a:ext cx="990600" cy="304800"/>
          </a:xfrm>
          <a:prstGeom prst="rect">
            <a:avLst/>
          </a:prstGeom>
          <a:solidFill>
            <a:srgbClr val="99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 dirty="0"/>
              <a:t>t=1.75…</a:t>
            </a:r>
          </a:p>
        </p:txBody>
      </p:sp>
      <p:sp>
        <p:nvSpPr>
          <p:cNvPr id="30" name="Rectangle 29"/>
          <p:cNvSpPr>
            <a:spLocks noChangeArrowheads="1"/>
          </p:cNvSpPr>
          <p:nvPr/>
        </p:nvSpPr>
        <p:spPr bwMode="auto">
          <a:xfrm>
            <a:off x="6934200" y="3590925"/>
            <a:ext cx="990600" cy="914400"/>
          </a:xfrm>
          <a:prstGeom prst="rect">
            <a:avLst/>
          </a:prstGeom>
          <a:solidFill>
            <a:srgbClr val="66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660033"/>
                </a:solidFill>
              </a:rPr>
              <a:t>Heap</a:t>
            </a:r>
          </a:p>
        </p:txBody>
      </p:sp>
      <p:sp>
        <p:nvSpPr>
          <p:cNvPr id="31" name="Rectangle 30"/>
          <p:cNvSpPr>
            <a:spLocks noChangeArrowheads="1"/>
          </p:cNvSpPr>
          <p:nvPr/>
        </p:nvSpPr>
        <p:spPr bwMode="auto">
          <a:xfrm>
            <a:off x="8001000" y="1076325"/>
            <a:ext cx="990600" cy="2514600"/>
          </a:xfrm>
          <a:prstGeom prst="rect">
            <a:avLst/>
          </a:prstGeom>
          <a:solidFill>
            <a:srgbClr val="99FF66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 dirty="0"/>
              <a:t>stack</a:t>
            </a:r>
          </a:p>
          <a:p>
            <a:pPr algn="ctr"/>
            <a:r>
              <a:rPr lang="en-US" sz="1200" b="1" dirty="0"/>
              <a:t>segment</a:t>
            </a:r>
          </a:p>
        </p:txBody>
      </p:sp>
      <p:sp>
        <p:nvSpPr>
          <p:cNvPr id="32" name="Rectangle 31"/>
          <p:cNvSpPr>
            <a:spLocks noChangeArrowheads="1"/>
          </p:cNvSpPr>
          <p:nvPr/>
        </p:nvSpPr>
        <p:spPr bwMode="auto">
          <a:xfrm>
            <a:off x="8001000" y="4505325"/>
            <a:ext cx="990600" cy="12192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 dirty="0">
                <a:solidFill>
                  <a:srgbClr val="FF0000"/>
                </a:solidFill>
              </a:rPr>
              <a:t>code</a:t>
            </a:r>
          </a:p>
          <a:p>
            <a:pPr algn="ctr"/>
            <a:r>
              <a:rPr lang="en-US" sz="1200" b="1" dirty="0">
                <a:solidFill>
                  <a:srgbClr val="FF0000"/>
                </a:solidFill>
              </a:rPr>
              <a:t>segment</a:t>
            </a:r>
          </a:p>
        </p:txBody>
      </p:sp>
      <p:sp>
        <p:nvSpPr>
          <p:cNvPr id="33" name="Rectangle 32"/>
          <p:cNvSpPr>
            <a:spLocks noChangeArrowheads="1"/>
          </p:cNvSpPr>
          <p:nvPr/>
        </p:nvSpPr>
        <p:spPr bwMode="auto">
          <a:xfrm>
            <a:off x="8001000" y="5800725"/>
            <a:ext cx="990600" cy="609600"/>
          </a:xfrm>
          <a:prstGeom prst="rect">
            <a:avLst/>
          </a:prstGeom>
          <a:solidFill>
            <a:srgbClr val="99FF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 dirty="0"/>
              <a:t>Data</a:t>
            </a:r>
          </a:p>
          <a:p>
            <a:pPr algn="ctr"/>
            <a:r>
              <a:rPr lang="en-US" sz="1200" b="1" dirty="0"/>
              <a:t>segment</a:t>
            </a:r>
          </a:p>
        </p:txBody>
      </p:sp>
      <p:sp>
        <p:nvSpPr>
          <p:cNvPr id="34" name="Line 33"/>
          <p:cNvSpPr>
            <a:spLocks noChangeShapeType="1"/>
          </p:cNvSpPr>
          <p:nvPr/>
        </p:nvSpPr>
        <p:spPr bwMode="auto">
          <a:xfrm>
            <a:off x="5943600" y="5800725"/>
            <a:ext cx="3200400" cy="0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35" name="Line 34"/>
          <p:cNvSpPr>
            <a:spLocks noChangeShapeType="1"/>
          </p:cNvSpPr>
          <p:nvPr/>
        </p:nvSpPr>
        <p:spPr bwMode="auto">
          <a:xfrm>
            <a:off x="5943600" y="4505325"/>
            <a:ext cx="3200400" cy="0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36" name="Line 35"/>
          <p:cNvSpPr>
            <a:spLocks noChangeShapeType="1"/>
          </p:cNvSpPr>
          <p:nvPr/>
        </p:nvSpPr>
        <p:spPr bwMode="auto">
          <a:xfrm>
            <a:off x="5943600" y="1076325"/>
            <a:ext cx="3200400" cy="0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37" name="Line 36"/>
          <p:cNvSpPr>
            <a:spLocks noChangeShapeType="1"/>
          </p:cNvSpPr>
          <p:nvPr/>
        </p:nvSpPr>
        <p:spPr bwMode="auto">
          <a:xfrm flipH="1">
            <a:off x="7620000" y="1838325"/>
            <a:ext cx="76200" cy="60007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8" name="Line 37"/>
          <p:cNvSpPr>
            <a:spLocks noChangeShapeType="1"/>
          </p:cNvSpPr>
          <p:nvPr/>
        </p:nvSpPr>
        <p:spPr bwMode="auto">
          <a:xfrm flipH="1">
            <a:off x="7772400" y="1295400"/>
            <a:ext cx="76200" cy="16097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9" name="Line 38"/>
          <p:cNvSpPr>
            <a:spLocks noChangeShapeType="1"/>
          </p:cNvSpPr>
          <p:nvPr/>
        </p:nvSpPr>
        <p:spPr bwMode="auto">
          <a:xfrm flipH="1">
            <a:off x="7696200" y="1600200"/>
            <a:ext cx="76200" cy="1143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0" name="Line 39"/>
          <p:cNvSpPr>
            <a:spLocks noChangeShapeType="1"/>
          </p:cNvSpPr>
          <p:nvPr/>
        </p:nvSpPr>
        <p:spPr bwMode="auto">
          <a:xfrm>
            <a:off x="5943600" y="3590925"/>
            <a:ext cx="3200400" cy="0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41" name="Rectangle 40"/>
          <p:cNvSpPr/>
          <p:nvPr/>
        </p:nvSpPr>
        <p:spPr>
          <a:xfrm>
            <a:off x="2362200" y="1066800"/>
            <a:ext cx="34290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Review: Pass by-value Parameters</a:t>
            </a:r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5715000" y="2362200"/>
            <a:ext cx="533400" cy="228600"/>
          </a:xfrm>
          <a:prstGeom prst="straightConnector1">
            <a:avLst/>
          </a:prstGeom>
          <a:ln w="825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 flipV="1">
            <a:off x="5638800" y="1600200"/>
            <a:ext cx="609600" cy="457200"/>
          </a:xfrm>
          <a:prstGeom prst="straightConnector1">
            <a:avLst/>
          </a:prstGeom>
          <a:ln w="825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5715000" y="1752600"/>
            <a:ext cx="304800" cy="2286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44" name="Slide Number Placeholder 4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6" name="Footer Placeholder 4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 with Menus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Pointers as parameters: Demo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0" y="1143000"/>
            <a:ext cx="9144000" cy="4886325"/>
            <a:chOff x="0" y="1143000"/>
            <a:chExt cx="9144000" cy="4886325"/>
          </a:xfrm>
        </p:grpSpPr>
        <p:pic>
          <p:nvPicPr>
            <p:cNvPr id="3074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0" y="1143000"/>
              <a:ext cx="7429500" cy="48863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5" name="Rectangle 4"/>
            <p:cNvSpPr/>
            <p:nvPr/>
          </p:nvSpPr>
          <p:spPr>
            <a:xfrm>
              <a:off x="6324600" y="2057400"/>
              <a:ext cx="13716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x=9.08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6324600" y="2514600"/>
              <a:ext cx="13716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y=-12.34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6324600" y="3048000"/>
              <a:ext cx="13716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p1: 1000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6324600" y="3505200"/>
              <a:ext cx="13716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p2: 992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6324600" y="3962400"/>
              <a:ext cx="13716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7772400" y="2057400"/>
              <a:ext cx="1371600" cy="914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main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772400" y="3048000"/>
              <a:ext cx="1371600" cy="1371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swapDouble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562600" y="2133600"/>
              <a:ext cx="685800" cy="304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rgbClr val="FFFF00"/>
                  </a:solidFill>
                </a:rPr>
                <a:t>1000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562600" y="2667000"/>
              <a:ext cx="685800" cy="304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rgbClr val="FFFF00"/>
                  </a:solidFill>
                </a:rPr>
                <a:t>992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2362200" y="1905000"/>
              <a:ext cx="3200400" cy="3048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 with Menus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24200" y="5410200"/>
            <a:ext cx="3581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swapDouble(&amp;x, &amp;y);</a:t>
            </a:r>
          </a:p>
        </p:txBody>
      </p:sp>
      <p:cxnSp>
        <p:nvCxnSpPr>
          <p:cNvPr id="21" name="Straight Arrow Connector 20"/>
          <p:cNvCxnSpPr>
            <a:stCxn id="19" idx="0"/>
          </p:cNvCxnSpPr>
          <p:nvPr/>
        </p:nvCxnSpPr>
        <p:spPr>
          <a:xfrm rot="16200000" flipV="1">
            <a:off x="3638550" y="4133850"/>
            <a:ext cx="762000" cy="17907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533400" y="4648200"/>
            <a:ext cx="24384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Pointers as parameters: Demo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152400" y="1371600"/>
            <a:ext cx="8991600" cy="4905375"/>
            <a:chOff x="304800" y="1371600"/>
            <a:chExt cx="8991600" cy="4905375"/>
          </a:xfrm>
        </p:grpSpPr>
        <p:pic>
          <p:nvPicPr>
            <p:cNvPr id="7170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304800" y="1371600"/>
              <a:ext cx="6819900" cy="43815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5" name="Rectangle 4"/>
            <p:cNvSpPr/>
            <p:nvPr/>
          </p:nvSpPr>
          <p:spPr>
            <a:xfrm>
              <a:off x="6324600" y="2057400"/>
              <a:ext cx="13716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x=9.08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6324600" y="2514600"/>
              <a:ext cx="13716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y=-12.34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6324600" y="3048000"/>
              <a:ext cx="13716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p1: 9.08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6324600" y="3505200"/>
              <a:ext cx="13716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p2: -12.34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6324600" y="3962400"/>
              <a:ext cx="13716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7772400" y="2057400"/>
              <a:ext cx="1524000" cy="914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main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772400" y="3048000"/>
              <a:ext cx="1524000" cy="1371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swapDouble2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562600" y="2133600"/>
              <a:ext cx="685800" cy="304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rgbClr val="FFFF00"/>
                  </a:solidFill>
                </a:rPr>
                <a:t>1000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562600" y="2667000"/>
              <a:ext cx="685800" cy="304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rgbClr val="FFFF00"/>
                  </a:solidFill>
                </a:rPr>
                <a:t>992</a:t>
              </a:r>
            </a:p>
          </p:txBody>
        </p:sp>
        <p:pic>
          <p:nvPicPr>
            <p:cNvPr id="7171" name="Picture 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514600" y="5410200"/>
              <a:ext cx="3705225" cy="866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cxnSp>
          <p:nvCxnSpPr>
            <p:cNvPr id="16" name="Straight Arrow Connector 15"/>
            <p:cNvCxnSpPr/>
            <p:nvPr/>
          </p:nvCxnSpPr>
          <p:spPr>
            <a:xfrm>
              <a:off x="2895600" y="2057400"/>
              <a:ext cx="3352800" cy="1447800"/>
            </a:xfrm>
            <a:prstGeom prst="straightConnector1">
              <a:avLst/>
            </a:prstGeom>
            <a:ln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 rot="5400000" flipH="1" flipV="1">
              <a:off x="5105400" y="3048000"/>
              <a:ext cx="1676400" cy="1066800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angle 19"/>
            <p:cNvSpPr/>
            <p:nvPr/>
          </p:nvSpPr>
          <p:spPr>
            <a:xfrm>
              <a:off x="2819400" y="1371600"/>
              <a:ext cx="3200400" cy="3048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 with Menus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C++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C++ is an Object-Oriented Language</a:t>
            </a:r>
          </a:p>
          <a:p>
            <a:r>
              <a:rPr lang="en-US" dirty="0"/>
              <a:t>It is developed from the C language and the language C is contained in C++ language</a:t>
            </a:r>
          </a:p>
          <a:p>
            <a:r>
              <a:rPr lang="en-US" dirty="0"/>
              <a:t>The programming tool Dev-C++ supports both C and C++ source codes</a:t>
            </a:r>
          </a:p>
          <a:p>
            <a:r>
              <a:rPr lang="en-US" dirty="0"/>
              <a:t>File extension of a C++ source code is </a:t>
            </a:r>
            <a:r>
              <a:rPr lang="en-US" b="1" dirty="0">
                <a:solidFill>
                  <a:srgbClr val="0000FF"/>
                </a:solidFill>
              </a:rPr>
              <a:t>.cpp</a:t>
            </a:r>
          </a:p>
          <a:p>
            <a:r>
              <a:rPr lang="en-US" dirty="0"/>
              <a:t>We can use some C++ characteristics to develop programs more easily, such as:</a:t>
            </a:r>
          </a:p>
          <a:p>
            <a:pPr lvl="1"/>
            <a:r>
              <a:rPr lang="en-US" b="1" dirty="0"/>
              <a:t>References </a:t>
            </a:r>
            <a:r>
              <a:rPr lang="en-US" dirty="0"/>
              <a:t>in C++ can be used as a replacement of  pointers in function parameters</a:t>
            </a:r>
          </a:p>
          <a:p>
            <a:pPr lvl="1"/>
            <a:r>
              <a:rPr lang="en-US" dirty="0"/>
              <a:t>The </a:t>
            </a:r>
            <a:r>
              <a:rPr lang="en-US" b="1" dirty="0"/>
              <a:t>new</a:t>
            </a:r>
            <a:r>
              <a:rPr lang="en-US" dirty="0"/>
              <a:t> and </a:t>
            </a:r>
            <a:r>
              <a:rPr lang="en-US" b="1" dirty="0"/>
              <a:t>delete</a:t>
            </a:r>
            <a:r>
              <a:rPr lang="en-US" dirty="0"/>
              <a:t> operators to allocate/de-allocate dynamic data instead of C functions </a:t>
            </a:r>
            <a:r>
              <a:rPr lang="en-US" i="1" dirty="0"/>
              <a:t>malloc, calloc, free</a:t>
            </a:r>
          </a:p>
          <a:p>
            <a:pPr lvl="1"/>
            <a:r>
              <a:rPr lang="en-US" dirty="0"/>
              <a:t>Utilities about variable declarations, comments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 with Menus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14</a:t>
            </a:fld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1676400"/>
            <a:ext cx="8686800" cy="3067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C++: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066800"/>
            <a:ext cx="7924800" cy="5334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way to give another name of a datum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 with Menus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09800" y="4343400"/>
            <a:ext cx="6728256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304800" y="5715000"/>
            <a:ext cx="6400800" cy="707886"/>
          </a:xfrm>
          <a:prstGeom prst="rect">
            <a:avLst/>
          </a:prstGeom>
          <a:solidFill>
            <a:srgbClr val="0000FF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Both n1 and n2 are stored in only one memory block</a:t>
            </a:r>
          </a:p>
          <a:p>
            <a:r>
              <a:rPr lang="en-US" sz="2000" dirty="0">
                <a:solidFill>
                  <a:schemeClr val="bg1"/>
                </a:solidFill>
                <a:sym typeface="Wingdings" pitchFamily="2" charset="2"/>
              </a:rPr>
              <a:t> </a:t>
            </a:r>
            <a:r>
              <a:rPr lang="en-US" sz="2000" dirty="0">
                <a:solidFill>
                  <a:schemeClr val="bg1"/>
                </a:solidFill>
              </a:rPr>
              <a:t>n2  is the another name of n1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rot="5400000" flipH="1" flipV="1">
            <a:off x="5828506" y="5524500"/>
            <a:ext cx="381794" cy="794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rot="5400000" flipH="1" flipV="1">
            <a:off x="228600" y="4495800"/>
            <a:ext cx="1752600" cy="6858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72000" y="2133600"/>
            <a:ext cx="2971800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// Comment to the line end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Function Parameters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 with Menus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16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28600" y="1676400"/>
          <a:ext cx="8686800" cy="3309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19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948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" pitchFamily="34" charset="0"/>
                          <a:cs typeface="Arial" pitchFamily="34" charset="0"/>
                        </a:rPr>
                        <a:t>You want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" pitchFamily="34" charset="0"/>
                          <a:cs typeface="Arial" pitchFamily="34" charset="0"/>
                        </a:rPr>
                        <a:t>Use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185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" pitchFamily="34" charset="0"/>
                          <a:cs typeface="Arial" pitchFamily="34" charset="0"/>
                        </a:rPr>
                        <a:t>Code of function</a:t>
                      </a:r>
                      <a:r>
                        <a:rPr lang="en-US" sz="2400" baseline="0" dirty="0">
                          <a:latin typeface="Arial" pitchFamily="34" charset="0"/>
                          <a:cs typeface="Arial" pitchFamily="34" charset="0"/>
                        </a:rPr>
                        <a:t> can not modify arguments</a:t>
                      </a:r>
                      <a:endParaRPr lang="en-US" sz="2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" pitchFamily="34" charset="0"/>
                          <a:cs typeface="Arial" pitchFamily="34" charset="0"/>
                        </a:rPr>
                        <a:t>Passing by value (characteristic of C)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1850">
                <a:tc row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Code of function</a:t>
                      </a:r>
                      <a:r>
                        <a:rPr lang="en-US" sz="2400" baseline="0" dirty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 can modify arguments</a:t>
                      </a:r>
                      <a:endParaRPr lang="en-US" sz="2400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" pitchFamily="34" charset="0"/>
                          <a:cs typeface="Arial" pitchFamily="34" charset="0"/>
                        </a:rPr>
                        <a:t>Pointers,</a:t>
                      </a:r>
                      <a:r>
                        <a:rPr lang="en-US" sz="2400" baseline="0" dirty="0">
                          <a:latin typeface="Arial" pitchFamily="34" charset="0"/>
                          <a:cs typeface="Arial" pitchFamily="34" charset="0"/>
                        </a:rPr>
                        <a:t>  </a:t>
                      </a:r>
                      <a:r>
                        <a:rPr lang="en-US" sz="2400" b="1" baseline="0" dirty="0">
                          <a:latin typeface="Arial" pitchFamily="34" charset="0"/>
                          <a:cs typeface="Arial" pitchFamily="34" charset="0"/>
                        </a:rPr>
                        <a:t>addresses</a:t>
                      </a:r>
                      <a:r>
                        <a:rPr lang="en-US" sz="2400" baseline="0" dirty="0">
                          <a:latin typeface="Arial" pitchFamily="34" charset="0"/>
                          <a:cs typeface="Arial" pitchFamily="34" charset="0"/>
                        </a:rPr>
                        <a:t> of arguments</a:t>
                      </a:r>
                      <a:r>
                        <a:rPr lang="en-US" sz="2400" b="1" baseline="0" dirty="0">
                          <a:latin typeface="Arial" pitchFamily="34" charset="0"/>
                          <a:cs typeface="Arial" pitchFamily="34" charset="0"/>
                        </a:rPr>
                        <a:t> cannot be modified </a:t>
                      </a:r>
                      <a:r>
                        <a:rPr lang="en-US" sz="2400" baseline="0" dirty="0">
                          <a:latin typeface="Arial" pitchFamily="34" charset="0"/>
                          <a:cs typeface="Arial" pitchFamily="34" charset="0"/>
                        </a:rPr>
                        <a:t>but </a:t>
                      </a:r>
                      <a:r>
                        <a:rPr lang="en-US" sz="2400" b="1" baseline="0" dirty="0">
                          <a:solidFill>
                            <a:srgbClr val="0000FF"/>
                          </a:solidFill>
                          <a:latin typeface="Arial" pitchFamily="34" charset="0"/>
                          <a:cs typeface="Arial" pitchFamily="34" charset="0"/>
                        </a:rPr>
                        <a:t>values in it can be modified by the operator -&gt;</a:t>
                      </a:r>
                      <a:endParaRPr lang="en-US" sz="2400" b="1" dirty="0">
                        <a:solidFill>
                          <a:srgbClr val="0000FF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1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Arial" pitchFamily="34" charset="0"/>
                          <a:cs typeface="Arial" pitchFamily="34" charset="0"/>
                        </a:rPr>
                        <a:t>References of C++, names of</a:t>
                      </a:r>
                      <a:r>
                        <a:rPr lang="en-US" sz="2400" b="1" baseline="0" dirty="0">
                          <a:solidFill>
                            <a:srgbClr val="FF0000"/>
                          </a:solidFill>
                          <a:latin typeface="Arial" pitchFamily="34" charset="0"/>
                          <a:cs typeface="Arial" pitchFamily="34" charset="0"/>
                        </a:rPr>
                        <a:t> arguments are passed to function</a:t>
                      </a:r>
                      <a:endParaRPr lang="en-US" sz="2400" b="1" dirty="0">
                        <a:solidFill>
                          <a:srgbClr val="FF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361950"/>
            <a:ext cx="7715250" cy="3600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4800" y="3952875"/>
            <a:ext cx="6781800" cy="282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4400" y="274638"/>
            <a:ext cx="3962400" cy="563562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Passing Arguments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 with Menus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324600" y="3581400"/>
            <a:ext cx="2133600" cy="1222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5600" y="76200"/>
            <a:ext cx="2286000" cy="3352800"/>
          </a:xfrm>
        </p:spPr>
        <p:txBody>
          <a:bodyPr/>
          <a:lstStyle/>
          <a:p>
            <a:r>
              <a:rPr lang="en-US" sz="3200" dirty="0">
                <a:solidFill>
                  <a:srgbClr val="0000FF"/>
                </a:solidFill>
              </a:rPr>
              <a:t>Passing References to Function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 with Menus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0975" y="76200"/>
            <a:ext cx="6448425" cy="4619625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71525" y="4238625"/>
            <a:ext cx="5781675" cy="254317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352082" y="5029200"/>
            <a:ext cx="3182318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3962400" y="2743200"/>
            <a:ext cx="2971800" cy="64633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You can declare a local variable of the statement </a:t>
            </a:r>
            <a:r>
              <a:rPr lang="en-US" b="1" dirty="0">
                <a:solidFill>
                  <a:srgbClr val="FF0000"/>
                </a:solidFill>
              </a:rPr>
              <a:t>for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899</TotalTime>
  <Words>705</Words>
  <Application>Microsoft Office PowerPoint</Application>
  <PresentationFormat>On-screen Show (4:3)</PresentationFormat>
  <Paragraphs>165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Times New Roman</vt:lpstr>
      <vt:lpstr>Wingdings</vt:lpstr>
      <vt:lpstr>Office Theme</vt:lpstr>
      <vt:lpstr>Slot 13 Programming With Menu</vt:lpstr>
      <vt:lpstr>Why is Menu?</vt:lpstr>
      <vt:lpstr>Idea</vt:lpstr>
      <vt:lpstr>Problem</vt:lpstr>
      <vt:lpstr>Problem</vt:lpstr>
      <vt:lpstr>Implementation: menuDemo1.c</vt:lpstr>
      <vt:lpstr>Implementation: menuDemo1.c</vt:lpstr>
      <vt:lpstr>Implementation: menuDemo1.c</vt:lpstr>
      <vt:lpstr>Implementation: menuDemo1.c</vt:lpstr>
      <vt:lpstr>Functions with pointers as parameters</vt:lpstr>
      <vt:lpstr>Functions with pointers as parameters</vt:lpstr>
      <vt:lpstr>Pointers as parameters: Demo</vt:lpstr>
      <vt:lpstr>Pointers as parameters: Demo</vt:lpstr>
      <vt:lpstr>Introduction to C++</vt:lpstr>
      <vt:lpstr>C++: References</vt:lpstr>
      <vt:lpstr>Function Parameters</vt:lpstr>
      <vt:lpstr>Passing Arguments</vt:lpstr>
      <vt:lpstr>Passing References to Function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Quoc Trinh Vo</cp:lastModifiedBy>
  <cp:revision>40</cp:revision>
  <dcterms:created xsi:type="dcterms:W3CDTF">2013-07-11T00:46:38Z</dcterms:created>
  <dcterms:modified xsi:type="dcterms:W3CDTF">2022-10-14T10:32:09Z</dcterms:modified>
</cp:coreProperties>
</file>