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96" r:id="rId4"/>
    <p:sldId id="286" r:id="rId5"/>
    <p:sldId id="285" r:id="rId6"/>
    <p:sldId id="260" r:id="rId7"/>
    <p:sldId id="261" r:id="rId8"/>
    <p:sldId id="264" r:id="rId9"/>
    <p:sldId id="263" r:id="rId10"/>
    <p:sldId id="265" r:id="rId11"/>
    <p:sldId id="287" r:id="rId12"/>
    <p:sldId id="267" r:id="rId13"/>
    <p:sldId id="288" r:id="rId14"/>
    <p:sldId id="289" r:id="rId15"/>
    <p:sldId id="290" r:id="rId16"/>
    <p:sldId id="271" r:id="rId17"/>
    <p:sldId id="292" r:id="rId18"/>
    <p:sldId id="293" r:id="rId19"/>
    <p:sldId id="272" r:id="rId20"/>
    <p:sldId id="273" r:id="rId21"/>
    <p:sldId id="294" r:id="rId22"/>
    <p:sldId id="29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FFCC"/>
    <a:srgbClr val="FFFF99"/>
    <a:srgbClr val="0000FF"/>
    <a:srgbClr val="008000"/>
    <a:srgbClr val="33CC33"/>
    <a:srgbClr val="FFFFCC"/>
    <a:srgbClr val="99FF33"/>
    <a:srgbClr val="99FF66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21" autoAdjust="0"/>
    <p:restoredTop sz="94745" autoAdjust="0"/>
  </p:normalViewPr>
  <p:slideViewPr>
    <p:cSldViewPr>
      <p:cViewPr varScale="1">
        <p:scale>
          <a:sx n="97" d="100"/>
          <a:sy n="97" d="100"/>
        </p:scale>
        <p:origin x="139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0AD38-F6AE-404E-B162-377BF438CBB8}" type="datetimeFigureOut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A4116-AAAF-483B-ACDB-6798AC8D33B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Prepared by Thân</a:t>
            </a:r>
            <a:r>
              <a:rPr lang="en-US" baseline="0" dirty="0"/>
              <a:t> Văn Sử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A4116-AAAF-483B-ACDB-6798AC8D33B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B5D97-8BD4-4C0B-8E42-9EE55866B5A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13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B5D97-8BD4-4C0B-8E42-9EE55866B5A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13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VN" dirty="0"/>
              <a:t>dding </a:t>
            </a:r>
            <a:r>
              <a:rPr lang="en-US" dirty="0" err="1"/>
              <a:t>i</a:t>
            </a:r>
            <a:r>
              <a:rPr lang="en-VN" dirty="0"/>
              <a:t> means adding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A4116-AAAF-483B-ACDB-6798AC8D33B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562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VN"/>
              <a:t>tatic memory allocation </a:t>
            </a:r>
            <a:r>
              <a:rPr lang="en-VN" dirty="0"/>
              <a:t>and </a:t>
            </a:r>
            <a:r>
              <a:rPr lang="en-VN"/>
              <a:t>automatic memory allocation</a:t>
            </a:r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A4116-AAAF-483B-ACDB-6798AC8D33B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50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D8A9-68A2-4456-B81F-63DB72B17A96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1" descr="Logo_FPT_University_nga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0592B-23F3-4871-9D21-ADABF6A17C69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0041-5AA8-4077-A18E-18D6B4C91D12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7338D-1E07-430A-80E8-2E3D240DD9C6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57BB-54D8-40AD-AEE3-A2ABA56E7287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AA5B-DEA2-46D3-A67C-B746324088E1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91005-F3F8-4DB7-8651-8516639C9986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0CA74-4BA9-4E74-BA8B-0BB59207AFA2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EAE9-F23C-4F22-BB6F-7E9CDC06D419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C3C3-507E-4346-B8A3-A05E3ECB823A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45D2-0C73-4A21-A78E-60D670DD5DD7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9248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553200"/>
            <a:ext cx="1447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C9032498-D961-4B90-8B68-ED2570884584}" type="datetime1">
              <a:rPr lang="en-US" smtClean="0"/>
              <a:pPr/>
              <a:t>19-Feb-22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143000" cy="68580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1" descr="Logo_FPT_University_nga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 userDrawn="1"/>
        </p:nvSpPr>
        <p:spPr>
          <a:xfrm>
            <a:off x="1143000" y="0"/>
            <a:ext cx="8001000" cy="3048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Programming</a:t>
            </a:r>
            <a:r>
              <a:rPr lang="en-US" b="1" baseline="0" dirty="0">
                <a:solidFill>
                  <a:srgbClr val="FF0000"/>
                </a:solidFill>
              </a:rPr>
              <a:t> Fundamentals using C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rgbClr val="0000FF"/>
                </a:solidFill>
              </a:rPr>
              <a:t>Slots 11-12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Pointers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5334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0000CC"/>
                </a:solidFill>
              </a:rPr>
              <a:t>After studying this chapter, you should be able to: </a:t>
            </a:r>
          </a:p>
          <a:p>
            <a:endParaRPr lang="en-US" dirty="0">
              <a:solidFill>
                <a:srgbClr val="0000CC"/>
              </a:solidFill>
            </a:endParaRPr>
          </a:p>
          <a:p>
            <a:r>
              <a:rPr lang="en-US" dirty="0">
                <a:solidFill>
                  <a:srgbClr val="0000CC"/>
                </a:solidFill>
              </a:rPr>
              <a:t>Understand where program’s data can be putted</a:t>
            </a:r>
          </a:p>
          <a:p>
            <a:r>
              <a:rPr lang="en-US" dirty="0">
                <a:solidFill>
                  <a:srgbClr val="0000CC"/>
                </a:solidFill>
              </a:rPr>
              <a:t>Explain what are pointers</a:t>
            </a:r>
          </a:p>
          <a:p>
            <a:r>
              <a:rPr lang="en-US" dirty="0">
                <a:solidFill>
                  <a:srgbClr val="0000CC"/>
                </a:solidFill>
              </a:rPr>
              <a:t>Declare pointers in a program</a:t>
            </a:r>
          </a:p>
          <a:p>
            <a:r>
              <a:rPr lang="en-US" dirty="0">
                <a:solidFill>
                  <a:srgbClr val="0000CC"/>
                </a:solidFill>
              </a:rPr>
              <a:t>Discuss about where pointers can be used</a:t>
            </a:r>
          </a:p>
          <a:p>
            <a:r>
              <a:rPr lang="en-US" dirty="0">
                <a:solidFill>
                  <a:srgbClr val="0000CC"/>
                </a:solidFill>
              </a:rPr>
              <a:t>Understand operators on pointers</a:t>
            </a:r>
          </a:p>
          <a:p>
            <a:r>
              <a:rPr lang="en-US" dirty="0">
                <a:solidFill>
                  <a:srgbClr val="0000CC"/>
                </a:solidFill>
              </a:rPr>
              <a:t>Implement functions in which pointers are parameters</a:t>
            </a:r>
          </a:p>
          <a:p>
            <a:r>
              <a:rPr lang="en-US" dirty="0">
                <a:solidFill>
                  <a:srgbClr val="0000CC"/>
                </a:solidFill>
              </a:rPr>
              <a:t>Use build-in functions to allocate data dynamically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Review the memory structure  of a program</a:t>
            </a:r>
          </a:p>
          <a:p>
            <a:r>
              <a:rPr lang="en-US" dirty="0"/>
              <a:t>Where can we put program’s data?</a:t>
            </a:r>
          </a:p>
          <a:p>
            <a:r>
              <a:rPr lang="en-US" dirty="0"/>
              <a:t>What are pointers?</a:t>
            </a:r>
          </a:p>
          <a:p>
            <a:r>
              <a:rPr lang="en-US" dirty="0"/>
              <a:t>Pointer Declarations</a:t>
            </a:r>
          </a:p>
          <a:p>
            <a:r>
              <a:rPr lang="en-US" dirty="0"/>
              <a:t>Where are pointers used?</a:t>
            </a:r>
          </a:p>
          <a:p>
            <a:r>
              <a:rPr lang="en-US" dirty="0"/>
              <a:t>Pointer operators</a:t>
            </a:r>
          </a:p>
          <a:p>
            <a:pPr lvl="1"/>
            <a:r>
              <a:rPr lang="en-US" dirty="0"/>
              <a:t>Assign values to pointers</a:t>
            </a:r>
          </a:p>
          <a:p>
            <a:pPr lvl="1"/>
            <a:r>
              <a:rPr lang="en-US" dirty="0"/>
              <a:t>Access data through pointer</a:t>
            </a:r>
          </a:p>
          <a:p>
            <a:pPr lvl="1"/>
            <a:r>
              <a:rPr lang="en-US" dirty="0"/>
              <a:t>Explain pointer arithmetic</a:t>
            </a:r>
          </a:p>
          <a:p>
            <a:pPr lvl="1"/>
            <a:r>
              <a:rPr lang="en-US" dirty="0"/>
              <a:t>Explain pointer comparisons</a:t>
            </a:r>
          </a:p>
          <a:p>
            <a:r>
              <a:rPr lang="en-US" dirty="0"/>
              <a:t>Pointers as parameters of a function</a:t>
            </a:r>
          </a:p>
          <a:p>
            <a:r>
              <a:rPr lang="en-US" dirty="0"/>
              <a:t>Dynamic Allocated Data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533400"/>
            <a:ext cx="635317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563562"/>
          </a:xfrm>
        </p:spPr>
        <p:txBody>
          <a:bodyPr/>
          <a:lstStyle/>
          <a:p>
            <a:r>
              <a:rPr lang="en-US" dirty="0"/>
              <a:t>Memory Map of a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4200" y="5029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2293612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34200" y="4800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2293616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4200" y="45720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2293620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34200" y="18288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4199199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4200" y="2514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4199056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34200" y="60198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2293568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4200" y="5791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2293572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4200" y="5562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2293576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4200" y="6324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2293552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10668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4202496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4800" y="1066800"/>
            <a:ext cx="1066800" cy="228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MAXN=10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800" y="4572000"/>
            <a:ext cx="1066800" cy="228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=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4800600"/>
            <a:ext cx="1066800" cy="228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5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800" y="5029200"/>
            <a:ext cx="1066800" cy="228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FF"/>
                </a:solidFill>
              </a:rPr>
              <a:t>c  = 8</a:t>
            </a:r>
            <a:r>
              <a:rPr lang="en-US" sz="1600" b="1" dirty="0">
                <a:solidFill>
                  <a:srgbClr val="9900CC"/>
                </a:solidFill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4800" y="14478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Code of main()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800" y="21336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Code of average()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4800" y="5562600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FF"/>
                </a:solidFill>
              </a:rPr>
              <a:t>c =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800" y="5791200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5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4800" y="6019800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 = 5</a:t>
            </a: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4514850"/>
            <a:ext cx="570506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Rectangle 30"/>
          <p:cNvSpPr/>
          <p:nvPr/>
        </p:nvSpPr>
        <p:spPr>
          <a:xfrm>
            <a:off x="7924800" y="6324600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t  = 6.0000</a:t>
            </a:r>
          </a:p>
        </p:txBody>
      </p:sp>
      <p:cxnSp>
        <p:nvCxnSpPr>
          <p:cNvPr id="33" name="Straight Connector 32"/>
          <p:cNvCxnSpPr/>
          <p:nvPr/>
        </p:nvCxnSpPr>
        <p:spPr>
          <a:xfrm rot="5400000">
            <a:off x="4952206" y="36568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6019006" y="36568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924800" y="2819400"/>
            <a:ext cx="1066800" cy="1752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HEAP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rot="16200000" flipH="1">
            <a:off x="4991100" y="2400300"/>
            <a:ext cx="2438400" cy="1447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096000" y="4572000"/>
            <a:ext cx="838200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STACK</a:t>
            </a:r>
          </a:p>
          <a:p>
            <a:pPr algn="ctr"/>
            <a:r>
              <a:rPr lang="en-US" sz="1400" dirty="0">
                <a:solidFill>
                  <a:srgbClr val="0000FF"/>
                </a:solidFill>
              </a:rPr>
              <a:t>segment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2514600" y="2971800"/>
            <a:ext cx="4419600" cy="2743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6" idx="0"/>
          </p:cNvCxnSpPr>
          <p:nvPr/>
        </p:nvCxnSpPr>
        <p:spPr>
          <a:xfrm rot="5400000" flipH="1" flipV="1">
            <a:off x="8268296" y="5371902"/>
            <a:ext cx="380602" cy="794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5400000" flipH="1" flipV="1">
            <a:off x="8116491" y="5371703"/>
            <a:ext cx="989806" cy="1588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rot="5400000" flipH="1" flipV="1">
            <a:off x="8115300" y="5372100"/>
            <a:ext cx="1447800" cy="1588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638800" y="1066800"/>
            <a:ext cx="1219200" cy="228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Data segment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19800" y="1371600"/>
            <a:ext cx="838200" cy="1371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Code segment</a:t>
            </a:r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563562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4200" y="51054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2293612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34200" y="48768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2293616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4200" y="4648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2293620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34200" y="18288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4199199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4200" y="2514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4199056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34200" y="60198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2293568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4200" y="5791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2293572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4200" y="5562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2293576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4200" y="6324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2293552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10668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4202496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4800" y="1066800"/>
            <a:ext cx="1066800" cy="228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MAXN=10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4800" y="4648200"/>
            <a:ext cx="1066800" cy="228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=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4876800"/>
            <a:ext cx="1066800" cy="228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5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4800" y="5105400"/>
            <a:ext cx="1066800" cy="228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FF"/>
                </a:solidFill>
              </a:rPr>
              <a:t>c  = 8</a:t>
            </a:r>
            <a:r>
              <a:rPr lang="en-US" sz="1600" b="1" dirty="0">
                <a:solidFill>
                  <a:srgbClr val="9900CC"/>
                </a:solidFill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4800" y="14478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Code of main()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800" y="2133600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Code of average()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4800" y="5562600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FF"/>
                </a:solidFill>
              </a:rPr>
              <a:t>c =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800" y="5791200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b  = 5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4800" y="6019800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a  =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4800" y="6324600"/>
            <a:ext cx="1066800" cy="228600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t  = 6.0000</a:t>
            </a:r>
          </a:p>
        </p:txBody>
      </p:sp>
      <p:cxnSp>
        <p:nvCxnSpPr>
          <p:cNvPr id="33" name="Straight Connector 32"/>
          <p:cNvCxnSpPr/>
          <p:nvPr/>
        </p:nvCxnSpPr>
        <p:spPr>
          <a:xfrm rot="5400000">
            <a:off x="4952206" y="36568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6019006" y="3656806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924800" y="2819400"/>
            <a:ext cx="1066800" cy="1752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HEAP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38800" y="4572000"/>
            <a:ext cx="1295400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STACK</a:t>
            </a:r>
          </a:p>
          <a:p>
            <a:pPr algn="ctr"/>
            <a:r>
              <a:rPr lang="en-US" sz="1400" dirty="0">
                <a:solidFill>
                  <a:srgbClr val="0000FF"/>
                </a:solidFill>
              </a:rPr>
              <a:t>segment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38800" y="1066800"/>
            <a:ext cx="1219200" cy="228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Data segment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38800" y="1371600"/>
            <a:ext cx="1219200" cy="1371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FF"/>
                </a:solidFill>
              </a:rPr>
              <a:t>Code segment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4800" y="1143000"/>
            <a:ext cx="48768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Address of a variable is a number.  Can we assign this number  to  another variable then access data through the new variable?</a:t>
            </a:r>
          </a:p>
        </p:txBody>
      </p:sp>
      <p:cxnSp>
        <p:nvCxnSpPr>
          <p:cNvPr id="43" name="Straight Arrow Connector 42"/>
          <p:cNvCxnSpPr>
            <a:stCxn id="39" idx="3"/>
          </p:cNvCxnSpPr>
          <p:nvPr/>
        </p:nvCxnSpPr>
        <p:spPr>
          <a:xfrm>
            <a:off x="5181600" y="1905000"/>
            <a:ext cx="2133600" cy="2667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9" idx="3"/>
            <a:endCxn id="19" idx="1"/>
          </p:cNvCxnSpPr>
          <p:nvPr/>
        </p:nvCxnSpPr>
        <p:spPr>
          <a:xfrm flipV="1">
            <a:off x="5181600" y="1181100"/>
            <a:ext cx="1752600" cy="723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04800" y="2743200"/>
            <a:ext cx="48768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Address of a function is a number.  Can we assign this number  to  another variable then call this function through the new variable?</a:t>
            </a:r>
          </a:p>
        </p:txBody>
      </p:sp>
      <p:cxnSp>
        <p:nvCxnSpPr>
          <p:cNvPr id="53" name="Straight Arrow Connector 52"/>
          <p:cNvCxnSpPr>
            <a:stCxn id="51" idx="3"/>
            <a:endCxn id="14" idx="2"/>
          </p:cNvCxnSpPr>
          <p:nvPr/>
        </p:nvCxnSpPr>
        <p:spPr>
          <a:xfrm flipV="1">
            <a:off x="5181600" y="2743200"/>
            <a:ext cx="22479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04800" y="4343400"/>
            <a:ext cx="4876800" cy="2209800"/>
          </a:xfrm>
          <a:prstGeom prst="rect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1" u="sng" dirty="0"/>
              <a:t>Yes</a:t>
            </a:r>
            <a:r>
              <a:rPr lang="en-US" sz="2400" dirty="0"/>
              <a:t>. We can access a data through it’s address and call a function through it’s address also. POINTER is a way  to satisfy these requirement. </a:t>
            </a:r>
          </a:p>
          <a:p>
            <a:pPr algn="ctr"/>
            <a:r>
              <a:rPr lang="en-US" sz="2400" dirty="0"/>
              <a:t>In this chapter, pointers of variables are concerned only.  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 txBox="1">
            <a:spLocks/>
          </p:cNvSpPr>
          <p:nvPr/>
        </p:nvSpPr>
        <p:spPr>
          <a:xfrm>
            <a:off x="0" y="274638"/>
            <a:ext cx="8915400" cy="5635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2- Where can we put program’s data?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04800" y="1447800"/>
            <a:ext cx="8458200" cy="4724400"/>
            <a:chOff x="228600" y="1524000"/>
            <a:chExt cx="8458200" cy="4724400"/>
          </a:xfrm>
        </p:grpSpPr>
        <p:sp>
          <p:nvSpPr>
            <p:cNvPr id="12293" name="Rectangle 4"/>
            <p:cNvSpPr>
              <a:spLocks noChangeArrowheads="1"/>
            </p:cNvSpPr>
            <p:nvPr/>
          </p:nvSpPr>
          <p:spPr bwMode="auto">
            <a:xfrm>
              <a:off x="3429000" y="2971800"/>
              <a:ext cx="1600200" cy="1524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Heap</a:t>
              </a:r>
            </a:p>
          </p:txBody>
        </p:sp>
        <p:sp>
          <p:nvSpPr>
            <p:cNvPr id="12294" name="Rectangle 5"/>
            <p:cNvSpPr>
              <a:spLocks noChangeArrowheads="1"/>
            </p:cNvSpPr>
            <p:nvPr/>
          </p:nvSpPr>
          <p:spPr bwMode="auto">
            <a:xfrm>
              <a:off x="3429000" y="1524000"/>
              <a:ext cx="1600200" cy="60960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Data</a:t>
              </a:r>
            </a:p>
            <a:p>
              <a:pPr algn="ctr"/>
              <a:r>
                <a:rPr lang="en-US" b="1" dirty="0"/>
                <a:t>Segment</a:t>
              </a:r>
            </a:p>
          </p:txBody>
        </p:sp>
        <p:sp>
          <p:nvSpPr>
            <p:cNvPr id="12295" name="Rectangle 6"/>
            <p:cNvSpPr>
              <a:spLocks noChangeArrowheads="1"/>
            </p:cNvSpPr>
            <p:nvPr/>
          </p:nvSpPr>
          <p:spPr bwMode="auto">
            <a:xfrm>
              <a:off x="3429000" y="2133600"/>
              <a:ext cx="1600200" cy="838200"/>
            </a:xfrm>
            <a:prstGeom prst="rect">
              <a:avLst/>
            </a:prstGeom>
            <a:solidFill>
              <a:srgbClr val="6600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Code</a:t>
              </a:r>
            </a:p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Segment</a:t>
              </a:r>
            </a:p>
          </p:txBody>
        </p:sp>
        <p:sp>
          <p:nvSpPr>
            <p:cNvPr id="12296" name="Rectangle 7"/>
            <p:cNvSpPr>
              <a:spLocks noChangeArrowheads="1"/>
            </p:cNvSpPr>
            <p:nvPr/>
          </p:nvSpPr>
          <p:spPr bwMode="auto">
            <a:xfrm>
              <a:off x="3429000" y="4495800"/>
              <a:ext cx="1600200" cy="17526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Stack</a:t>
              </a:r>
            </a:p>
            <a:p>
              <a:pPr algn="ctr"/>
              <a:r>
                <a:rPr lang="en-US" b="1" dirty="0"/>
                <a:t>Segment</a:t>
              </a:r>
            </a:p>
          </p:txBody>
        </p:sp>
        <p:sp>
          <p:nvSpPr>
            <p:cNvPr id="12297" name="Rectangle 8"/>
            <p:cNvSpPr>
              <a:spLocks noChangeArrowheads="1"/>
            </p:cNvSpPr>
            <p:nvPr/>
          </p:nvSpPr>
          <p:spPr bwMode="auto">
            <a:xfrm>
              <a:off x="228600" y="3200400"/>
              <a:ext cx="1066800" cy="5334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Data</a:t>
              </a:r>
            </a:p>
          </p:txBody>
        </p:sp>
        <p:sp>
          <p:nvSpPr>
            <p:cNvPr id="12298" name="Line 14"/>
            <p:cNvSpPr>
              <a:spLocks noChangeShapeType="1"/>
            </p:cNvSpPr>
            <p:nvPr/>
          </p:nvSpPr>
          <p:spPr bwMode="auto">
            <a:xfrm flipV="1">
              <a:off x="1295400" y="1752600"/>
              <a:ext cx="2209800" cy="167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299" name="Line 15"/>
            <p:cNvSpPr>
              <a:spLocks noChangeShapeType="1"/>
            </p:cNvSpPr>
            <p:nvPr/>
          </p:nvSpPr>
          <p:spPr bwMode="auto">
            <a:xfrm>
              <a:off x="1295400" y="3429000"/>
              <a:ext cx="2286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00" name="Line 16"/>
            <p:cNvSpPr>
              <a:spLocks noChangeShapeType="1"/>
            </p:cNvSpPr>
            <p:nvPr/>
          </p:nvSpPr>
          <p:spPr bwMode="auto">
            <a:xfrm>
              <a:off x="1295400" y="3429000"/>
              <a:ext cx="2286000" cy="182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01" name="AutoShape 11"/>
            <p:cNvSpPr>
              <a:spLocks noChangeArrowheads="1"/>
            </p:cNvSpPr>
            <p:nvPr/>
          </p:nvSpPr>
          <p:spPr bwMode="auto">
            <a:xfrm>
              <a:off x="1981200" y="4114800"/>
              <a:ext cx="1371600" cy="1066800"/>
            </a:xfrm>
            <a:prstGeom prst="irregularSeal2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Local</a:t>
              </a:r>
            </a:p>
          </p:txBody>
        </p:sp>
        <p:sp>
          <p:nvSpPr>
            <p:cNvPr id="12302" name="AutoShape 12"/>
            <p:cNvSpPr>
              <a:spLocks noChangeArrowheads="1"/>
            </p:cNvSpPr>
            <p:nvPr/>
          </p:nvSpPr>
          <p:spPr bwMode="auto">
            <a:xfrm>
              <a:off x="1752600" y="1981200"/>
              <a:ext cx="1371600" cy="1066800"/>
            </a:xfrm>
            <a:prstGeom prst="irregularSeal2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Global</a:t>
              </a:r>
            </a:p>
          </p:txBody>
        </p:sp>
        <p:sp>
          <p:nvSpPr>
            <p:cNvPr id="12303" name="AutoShape 13"/>
            <p:cNvSpPr>
              <a:spLocks noChangeArrowheads="1"/>
            </p:cNvSpPr>
            <p:nvPr/>
          </p:nvSpPr>
          <p:spPr bwMode="auto">
            <a:xfrm>
              <a:off x="1676400" y="3048000"/>
              <a:ext cx="1600200" cy="1066800"/>
            </a:xfrm>
            <a:prstGeom prst="irregularSeal2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Dynamic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5181600" y="1524000"/>
              <a:ext cx="3505200" cy="60960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Common Variables</a:t>
              </a:r>
            </a:p>
            <a:p>
              <a:pPr algn="ctr"/>
              <a:r>
                <a:rPr lang="en-US" b="1" dirty="0"/>
                <a:t>All functions can access them</a:t>
              </a: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5181600" y="4495800"/>
              <a:ext cx="3505200" cy="1752600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Variables are defined  in functions. </a:t>
              </a:r>
            </a:p>
            <a:p>
              <a:pPr algn="ctr"/>
              <a:r>
                <a:rPr lang="en-US" b="1" dirty="0"/>
                <a:t>They will exist only when the </a:t>
              </a:r>
            </a:p>
            <a:p>
              <a:pPr algn="ctr"/>
              <a:r>
                <a:rPr lang="en-US" b="1" dirty="0"/>
                <a:t>function is executed and they will </a:t>
              </a:r>
            </a:p>
            <a:p>
              <a:pPr algn="ctr"/>
              <a:r>
                <a:rPr lang="en-US" b="1" dirty="0"/>
                <a:t>be  removed when the function </a:t>
              </a:r>
            </a:p>
            <a:p>
              <a:pPr algn="ctr"/>
              <a:r>
                <a:rPr lang="en-US" b="1" dirty="0"/>
                <a:t>Completed  execution</a:t>
              </a: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5181600" y="2971800"/>
              <a:ext cx="3505200" cy="1524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/>
                <a:t>Dynamic allocated data through </a:t>
              </a:r>
            </a:p>
            <a:p>
              <a:r>
                <a:rPr lang="en-US" b="1" dirty="0"/>
                <a:t>explicitly statements for memory </a:t>
              </a:r>
            </a:p>
            <a:p>
              <a:r>
                <a:rPr lang="en-US" b="1" dirty="0"/>
                <a:t>allocation</a:t>
              </a:r>
            </a:p>
          </p:txBody>
        </p:sp>
      </p:grp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87986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6477000" y="2971800"/>
            <a:ext cx="1219200" cy="381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400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477000" y="1600200"/>
            <a:ext cx="1219200" cy="381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80000</a:t>
            </a: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3- What is a Pointer?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433388" y="1390650"/>
            <a:ext cx="61198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3838" indent="-22383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pointer is a variable, which contains the address of a memory location of another variable</a:t>
            </a: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457200" y="2590800"/>
            <a:ext cx="6019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3838" indent="-22383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one variable contains the address of another variable, the first variable is said to point to the second variable</a:t>
            </a: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457200" y="4038600"/>
            <a:ext cx="6934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3838" indent="-22383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pointer provides an indirect method of accessing the value of a data item</a:t>
            </a:r>
          </a:p>
        </p:txBody>
      </p:sp>
      <p:sp>
        <p:nvSpPr>
          <p:cNvPr id="13320" name="Text Box 7"/>
          <p:cNvSpPr txBox="1">
            <a:spLocks noChangeArrowheads="1"/>
          </p:cNvSpPr>
          <p:nvPr/>
        </p:nvSpPr>
        <p:spPr bwMode="auto">
          <a:xfrm>
            <a:off x="457200" y="4953000"/>
            <a:ext cx="8305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3838" indent="-22383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Pointers can point to variables of other fundamental data types like int, char, or double or data aggregates like arrays or structures</a:t>
            </a:r>
          </a:p>
        </p:txBody>
      </p:sp>
      <p:sp>
        <p:nvSpPr>
          <p:cNvPr id="13321" name="Rectangle 4"/>
          <p:cNvSpPr>
            <a:spLocks noChangeArrowheads="1"/>
          </p:cNvSpPr>
          <p:nvPr/>
        </p:nvSpPr>
        <p:spPr bwMode="auto">
          <a:xfrm>
            <a:off x="7696200" y="2971800"/>
            <a:ext cx="1219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sp>
        <p:nvSpPr>
          <p:cNvPr id="13323" name="Rectangle 9"/>
          <p:cNvSpPr>
            <a:spLocks noChangeArrowheads="1"/>
          </p:cNvSpPr>
          <p:nvPr/>
        </p:nvSpPr>
        <p:spPr bwMode="auto">
          <a:xfrm>
            <a:off x="7696200" y="3810000"/>
            <a:ext cx="1219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p1: 400   </a:t>
            </a:r>
          </a:p>
        </p:txBody>
      </p:sp>
      <p:sp>
        <p:nvSpPr>
          <p:cNvPr id="13324" name="Line 10"/>
          <p:cNvSpPr>
            <a:spLocks noChangeShapeType="1"/>
          </p:cNvSpPr>
          <p:nvPr/>
        </p:nvSpPr>
        <p:spPr bwMode="auto">
          <a:xfrm>
            <a:off x="7543800" y="33528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25" name="Rectangle 11"/>
          <p:cNvSpPr>
            <a:spLocks noChangeArrowheads="1"/>
          </p:cNvSpPr>
          <p:nvPr/>
        </p:nvSpPr>
        <p:spPr bwMode="auto">
          <a:xfrm>
            <a:off x="7696200" y="1600200"/>
            <a:ext cx="1219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32</a:t>
            </a:r>
          </a:p>
        </p:txBody>
      </p:sp>
      <p:sp>
        <p:nvSpPr>
          <p:cNvPr id="13327" name="Rectangle 13"/>
          <p:cNvSpPr>
            <a:spLocks noChangeArrowheads="1"/>
          </p:cNvSpPr>
          <p:nvPr/>
        </p:nvSpPr>
        <p:spPr bwMode="auto">
          <a:xfrm>
            <a:off x="7696200" y="2209800"/>
            <a:ext cx="1219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p2: 80000</a:t>
            </a:r>
          </a:p>
        </p:txBody>
      </p:sp>
      <p:sp>
        <p:nvSpPr>
          <p:cNvPr id="13328" name="Line 14"/>
          <p:cNvSpPr>
            <a:spLocks noChangeShapeType="1"/>
          </p:cNvSpPr>
          <p:nvPr/>
        </p:nvSpPr>
        <p:spPr bwMode="auto">
          <a:xfrm>
            <a:off x="7543800" y="1990724"/>
            <a:ext cx="533400" cy="219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77000" y="1143000"/>
            <a:ext cx="1219200" cy="36933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6200" y="1143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value</a:t>
            </a: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08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4- Pointer Variables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533400" y="1371600"/>
            <a:ext cx="8153400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3838" indent="-22383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Clr>
                <a:schemeClr val="folHlink"/>
              </a:buClr>
              <a:buFont typeface="Wingdings" pitchFamily="2" charset="2"/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 pointer declaration consists of a base type and a variable  name preceded by an </a:t>
            </a:r>
            <a:r>
              <a:rPr lang="en-US" sz="32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533400" y="2590800"/>
            <a:ext cx="533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Syntax: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dataType *name;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7" name="Text Box 6"/>
          <p:cNvSpPr txBox="1">
            <a:spLocks noChangeArrowheads="1"/>
          </p:cNvSpPr>
          <p:nvPr/>
        </p:nvSpPr>
        <p:spPr bwMode="auto">
          <a:xfrm>
            <a:off x="609600" y="4114800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Examples:</a:t>
            </a:r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2209800" y="4036874"/>
            <a:ext cx="38862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sz="3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int *pI;</a:t>
            </a:r>
          </a:p>
          <a:p>
            <a:pPr eaLnBrk="0" hangingPunct="0"/>
            <a:r>
              <a:rPr lang="en-US" sz="3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double* pD;</a:t>
            </a:r>
          </a:p>
          <a:p>
            <a:pPr eaLnBrk="0" hangingPunct="0"/>
            <a:r>
              <a:rPr lang="en-US" sz="3600" b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char *pC;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7400" y="2590800"/>
            <a:ext cx="28194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variable </a:t>
            </a:r>
            <a:r>
              <a:rPr lang="en-US" sz="2400" b="1" u="sng" dirty="0"/>
              <a:t>name</a:t>
            </a:r>
            <a:r>
              <a:rPr lang="en-US" sz="2400" dirty="0"/>
              <a:t> will contain the address of a data belonging to the type  </a:t>
            </a:r>
            <a:r>
              <a:rPr lang="en-US" sz="2400" b="1" u="sng" dirty="0"/>
              <a:t>dataType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08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 Where are pointers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Some situations where pointers can be used are:</a:t>
            </a:r>
          </a:p>
          <a:p>
            <a:pPr lvl="1"/>
            <a:r>
              <a:rPr lang="en-US" dirty="0"/>
              <a:t>To modify outside arguments of a function </a:t>
            </a:r>
          </a:p>
          <a:p>
            <a:pPr lvl="1"/>
            <a:r>
              <a:rPr lang="en-US" dirty="0"/>
              <a:t>To return more than one value from a function (</a:t>
            </a:r>
            <a:r>
              <a:rPr lang="en-US" i="1" dirty="0">
                <a:solidFill>
                  <a:srgbClr val="FF0000"/>
                </a:solidFill>
              </a:rPr>
              <a:t>It will be introduced in slots 18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24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To pass array and strings more conveniently from one function to another (</a:t>
            </a:r>
            <a:r>
              <a:rPr lang="en-US" i="1" dirty="0">
                <a:solidFill>
                  <a:srgbClr val="FF0000"/>
                </a:solidFill>
              </a:rPr>
              <a:t>It will be introduced in slots 18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24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To manipulate arrays easily by moving pointers to them instead of moving the arrays itself (</a:t>
            </a:r>
            <a:r>
              <a:rPr lang="en-US" i="1" dirty="0">
                <a:solidFill>
                  <a:srgbClr val="FF0000"/>
                </a:solidFill>
              </a:rPr>
              <a:t>It will be introduced in slots 18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24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To allocated memory and access it (Direct memory allocation) (</a:t>
            </a:r>
            <a:r>
              <a:rPr lang="en-US" i="1" dirty="0">
                <a:solidFill>
                  <a:srgbClr val="FF0000"/>
                </a:solidFill>
              </a:rPr>
              <a:t>It will be introduced at the bottom of this lesson</a:t>
            </a:r>
            <a:r>
              <a:rPr lang="en-US" dirty="0"/>
              <a:t>)</a:t>
            </a:r>
            <a:endParaRPr lang="en-US" i="1" dirty="0"/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2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6- Pointer Operators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956223"/>
              </p:ext>
            </p:extLst>
          </p:nvPr>
        </p:nvGraphicFramePr>
        <p:xfrm>
          <a:off x="457200" y="1295400"/>
          <a:ext cx="830580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783">
                <a:tc>
                  <a:txBody>
                    <a:bodyPr/>
                    <a:lstStyle/>
                    <a:p>
                      <a:r>
                        <a:rPr lang="en-US" sz="2800" dirty="0"/>
                        <a:t>How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608">
                <a:tc>
                  <a:txBody>
                    <a:bodyPr/>
                    <a:lstStyle/>
                    <a:p>
                      <a:r>
                        <a:rPr lang="en-US" sz="2800" dirty="0"/>
                        <a:t>Get address of a variable and assign it to a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int n= 7;</a:t>
                      </a:r>
                    </a:p>
                    <a:p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Int *</a:t>
                      </a:r>
                      <a:r>
                        <a:rPr lang="en-US" sz="2800" dirty="0" err="1">
                          <a:solidFill>
                            <a:srgbClr val="0000FF"/>
                          </a:solidFill>
                        </a:rPr>
                        <a:t>pn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 = &amp;n;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608">
                <a:tc>
                  <a:txBody>
                    <a:bodyPr/>
                    <a:lstStyle/>
                    <a:p>
                      <a:r>
                        <a:rPr lang="en-US" sz="2800" dirty="0"/>
                        <a:t>Access indirectly value of a</a:t>
                      </a:r>
                      <a:r>
                        <a:rPr lang="en-US" sz="2800" baseline="0" dirty="0"/>
                        <a:t> data through it’s pointer 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*pn =100;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28600" y="4114800"/>
            <a:ext cx="1371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10000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191000"/>
            <a:ext cx="1905000" cy="304800"/>
          </a:xfrm>
          <a:prstGeom prst="rect">
            <a:avLst/>
          </a:prstGeom>
          <a:solidFill>
            <a:srgbClr val="33CC3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 =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648200"/>
            <a:ext cx="1371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9996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724400"/>
            <a:ext cx="1905000" cy="304800"/>
          </a:xfrm>
          <a:prstGeom prst="rect">
            <a:avLst/>
          </a:prstGeom>
          <a:solidFill>
            <a:srgbClr val="33CC3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pn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371600" y="4343400"/>
            <a:ext cx="76200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04800" y="5181600"/>
            <a:ext cx="2743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int n= 7;</a:t>
            </a:r>
          </a:p>
          <a:p>
            <a:r>
              <a:rPr lang="en-US" sz="2800" dirty="0">
                <a:solidFill>
                  <a:srgbClr val="0000FF"/>
                </a:solidFill>
              </a:rPr>
              <a:t>int* pn = &amp;n;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67400" y="5105400"/>
            <a:ext cx="1828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*pn = 100;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4114800"/>
            <a:ext cx="1371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10000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67400" y="4191000"/>
            <a:ext cx="1981200" cy="304800"/>
          </a:xfrm>
          <a:prstGeom prst="rect">
            <a:avLst/>
          </a:prstGeom>
          <a:solidFill>
            <a:srgbClr val="33CC3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 = 7 </a:t>
            </a:r>
            <a:r>
              <a:rPr lang="en-US" sz="2400" dirty="0">
                <a:solidFill>
                  <a:schemeClr val="bg1"/>
                </a:solidFill>
                <a:sym typeface="Wingdings" pitchFamily="2" charset="2"/>
              </a:rPr>
              <a:t> 100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67200" y="4648200"/>
            <a:ext cx="1371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9996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67400" y="4724400"/>
            <a:ext cx="1981200" cy="304800"/>
          </a:xfrm>
          <a:prstGeom prst="rect">
            <a:avLst/>
          </a:prstGeom>
          <a:solidFill>
            <a:srgbClr val="33CC3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pn = 10000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81046" y="5640124"/>
            <a:ext cx="541020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*</a:t>
            </a:r>
            <a:r>
              <a:rPr lang="en-US" sz="2800" dirty="0" err="1">
                <a:solidFill>
                  <a:srgbClr val="0000FF"/>
                </a:solidFill>
              </a:rPr>
              <a:t>pn</a:t>
            </a:r>
            <a:r>
              <a:rPr lang="en-US" sz="2800" dirty="0">
                <a:solidFill>
                  <a:srgbClr val="0000FF"/>
                </a:solidFill>
              </a:rPr>
              <a:t> = 100; </a:t>
            </a:r>
            <a:r>
              <a:rPr lang="en-US" sz="2800" dirty="0">
                <a:solidFill>
                  <a:srgbClr val="0000FF"/>
                </a:solidFill>
                <a:sym typeface="Wingdings" pitchFamily="2" charset="2"/>
              </a:rPr>
              <a:t> Value at [10000] =100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52400" y="6056293"/>
            <a:ext cx="342900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pn = &amp;n; </a:t>
            </a:r>
            <a:r>
              <a:rPr lang="en-US" sz="2800" dirty="0">
                <a:solidFill>
                  <a:srgbClr val="0000FF"/>
                </a:solidFill>
                <a:sym typeface="Wingdings" pitchFamily="2" charset="2"/>
              </a:rPr>
              <a:t> pn=10000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52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Pointer Operators…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140" y="3224234"/>
            <a:ext cx="8695260" cy="3328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6" name="Group 35"/>
          <p:cNvGrpSpPr/>
          <p:nvPr/>
        </p:nvGrpSpPr>
        <p:grpSpPr>
          <a:xfrm>
            <a:off x="4572000" y="1295400"/>
            <a:ext cx="4038600" cy="1219200"/>
            <a:chOff x="4267200" y="1524000"/>
            <a:chExt cx="4038600" cy="1219200"/>
          </a:xfrm>
        </p:grpSpPr>
        <p:sp>
          <p:nvSpPr>
            <p:cNvPr id="24" name="Rectangle 23"/>
            <p:cNvSpPr/>
            <p:nvPr/>
          </p:nvSpPr>
          <p:spPr>
            <a:xfrm>
              <a:off x="4267200" y="15240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2293620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72200" y="1524000"/>
              <a:ext cx="2133600" cy="381000"/>
            </a:xfrm>
            <a:prstGeom prst="rect">
              <a:avLst/>
            </a:prstGeom>
            <a:solidFill>
              <a:srgbClr val="33CC33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n=7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267200" y="19050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2293616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172200" y="1905000"/>
              <a:ext cx="2133600" cy="381000"/>
            </a:xfrm>
            <a:prstGeom prst="rect">
              <a:avLst/>
            </a:prstGeom>
            <a:solidFill>
              <a:srgbClr val="33CC33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pn= 2293620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267200" y="23622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2293612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72200" y="2286000"/>
              <a:ext cx="2133600" cy="381000"/>
            </a:xfrm>
            <a:prstGeom prst="rect">
              <a:avLst/>
            </a:prstGeom>
            <a:solidFill>
              <a:srgbClr val="33CC33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ppn= 2293616</a:t>
              </a:r>
            </a:p>
          </p:txBody>
        </p:sp>
        <p:cxnSp>
          <p:nvCxnSpPr>
            <p:cNvPr id="33" name="Straight Arrow Connector 32"/>
            <p:cNvCxnSpPr>
              <a:stCxn id="24" idx="3"/>
            </p:cNvCxnSpPr>
            <p:nvPr/>
          </p:nvCxnSpPr>
          <p:spPr>
            <a:xfrm>
              <a:off x="5943600" y="1714500"/>
              <a:ext cx="381000" cy="3429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28" idx="3"/>
            </p:cNvCxnSpPr>
            <p:nvPr/>
          </p:nvCxnSpPr>
          <p:spPr>
            <a:xfrm>
              <a:off x="5943600" y="2095500"/>
              <a:ext cx="381000" cy="3429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/>
          <p:cNvSpPr/>
          <p:nvPr/>
        </p:nvSpPr>
        <p:spPr>
          <a:xfrm>
            <a:off x="3810000" y="2819400"/>
            <a:ext cx="51054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n </a:t>
            </a:r>
            <a:r>
              <a:rPr lang="en-US" sz="2400" dirty="0">
                <a:solidFill>
                  <a:schemeClr val="bg1"/>
                </a:solidFill>
                <a:sym typeface="Wingdings" pitchFamily="2" charset="2"/>
              </a:rPr>
              <a:t> int  pn stores address of n </a:t>
            </a:r>
          </a:p>
          <a:p>
            <a:r>
              <a:rPr lang="en-US" sz="2400" dirty="0">
                <a:solidFill>
                  <a:schemeClr val="bg1"/>
                </a:solidFill>
                <a:sym typeface="Wingdings" pitchFamily="2" charset="2"/>
              </a:rPr>
              <a:t>     </a:t>
            </a:r>
            <a:r>
              <a:rPr lang="en-US" sz="2400" b="1" dirty="0">
                <a:solidFill>
                  <a:srgbClr val="FFFF00"/>
                </a:solidFill>
                <a:sym typeface="Wingdings" pitchFamily="2" charset="2"/>
              </a:rPr>
              <a:t>pn: int*</a:t>
            </a:r>
          </a:p>
          <a:p>
            <a:r>
              <a:rPr lang="en-US" sz="2400" dirty="0">
                <a:solidFill>
                  <a:schemeClr val="bg1"/>
                </a:solidFill>
                <a:sym typeface="Wingdings" pitchFamily="2" charset="2"/>
              </a:rPr>
              <a:t>p</a:t>
            </a:r>
            <a:r>
              <a:rPr lang="en-US" sz="2400" dirty="0">
                <a:solidFill>
                  <a:schemeClr val="bg1"/>
                </a:solidFill>
              </a:rPr>
              <a:t>n </a:t>
            </a:r>
            <a:r>
              <a:rPr lang="en-US" sz="2400" dirty="0">
                <a:solidFill>
                  <a:schemeClr val="bg1"/>
                </a:solidFill>
                <a:sym typeface="Wingdings" pitchFamily="2" charset="2"/>
              </a:rPr>
              <a:t> int*  ppn stores address of pn </a:t>
            </a:r>
          </a:p>
          <a:p>
            <a:r>
              <a:rPr lang="en-US" sz="2400" dirty="0">
                <a:solidFill>
                  <a:schemeClr val="bg1"/>
                </a:solidFill>
                <a:sym typeface="Wingdings" pitchFamily="2" charset="2"/>
              </a:rPr>
              <a:t>    ppn: (int*)*  </a:t>
            </a:r>
            <a:r>
              <a:rPr lang="en-US" sz="2400" b="1" dirty="0">
                <a:solidFill>
                  <a:srgbClr val="FFFF00"/>
                </a:solidFill>
                <a:sym typeface="Wingdings" pitchFamily="2" charset="2"/>
              </a:rPr>
              <a:t>ppn: int**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52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dirty="0"/>
              <a:t>Pointer Operators… Walkthrough</a:t>
            </a:r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696566"/>
            <a:ext cx="5791200" cy="4161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6" name="Group 25"/>
          <p:cNvGrpSpPr/>
          <p:nvPr/>
        </p:nvGrpSpPr>
        <p:grpSpPr>
          <a:xfrm>
            <a:off x="152400" y="914400"/>
            <a:ext cx="2819400" cy="1524000"/>
            <a:chOff x="4419600" y="1676400"/>
            <a:chExt cx="2819400" cy="1524000"/>
          </a:xfrm>
        </p:grpSpPr>
        <p:sp>
          <p:nvSpPr>
            <p:cNvPr id="18" name="Rectangle 17"/>
            <p:cNvSpPr/>
            <p:nvPr/>
          </p:nvSpPr>
          <p:spPr>
            <a:xfrm>
              <a:off x="4419600" y="1676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100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19600" y="2057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96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419600" y="2438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92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19600" y="2819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88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486400" y="1676400"/>
              <a:ext cx="1752600" cy="381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00FF"/>
                  </a:solidFill>
                </a:rPr>
                <a:t>n=7 </a:t>
              </a:r>
              <a:r>
                <a:rPr lang="en-US" b="1" dirty="0">
                  <a:solidFill>
                    <a:srgbClr val="0000FF"/>
                  </a:solidFill>
                  <a:sym typeface="Wingdings" pitchFamily="2" charset="2"/>
                </a:rPr>
                <a:t> 54</a:t>
              </a:r>
              <a:endParaRPr 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486400" y="2057400"/>
              <a:ext cx="1752600" cy="381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00FF"/>
                  </a:solidFill>
                </a:rPr>
                <a:t>m=6 </a:t>
              </a:r>
              <a:r>
                <a:rPr lang="en-US" b="1" dirty="0">
                  <a:solidFill>
                    <a:srgbClr val="0000FF"/>
                  </a:solidFill>
                  <a:sym typeface="Wingdings" pitchFamily="2" charset="2"/>
                </a:rPr>
                <a:t> -30</a:t>
              </a:r>
              <a:endParaRPr 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86400" y="2438400"/>
              <a:ext cx="1752600" cy="381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00FF"/>
                  </a:solidFill>
                </a:rPr>
                <a:t>pn=100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0" y="2819400"/>
              <a:ext cx="1752600" cy="381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rgbClr val="0000FF"/>
                  </a:solidFill>
                </a:rPr>
                <a:t>pm= 96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3886200" y="914400"/>
            <a:ext cx="5029200" cy="17526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*pn = 2*(*pm) + m*n;</a:t>
            </a:r>
          </a:p>
          <a:p>
            <a:r>
              <a:rPr lang="en-US" sz="2400" dirty="0">
                <a:solidFill>
                  <a:schemeClr val="tx1"/>
                </a:solidFill>
              </a:rPr>
              <a:t>Value at 100 = 2*(value at  96) + m *n</a:t>
            </a:r>
          </a:p>
          <a:p>
            <a:r>
              <a:rPr lang="en-US" sz="2400" dirty="0">
                <a:solidFill>
                  <a:schemeClr val="tx1"/>
                </a:solidFill>
              </a:rPr>
              <a:t>Value at 100 = 2*6 + 6 *7</a:t>
            </a:r>
          </a:p>
          <a:p>
            <a:r>
              <a:rPr lang="en-US" sz="2400" dirty="0">
                <a:solidFill>
                  <a:schemeClr val="tx1"/>
                </a:solidFill>
              </a:rPr>
              <a:t>Value at 100 = 12 + 42 = 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5800" y="2667000"/>
            <a:ext cx="4419600" cy="24384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00FF"/>
                </a:solidFill>
              </a:rPr>
              <a:t>*pm += 3*m - (*pn);</a:t>
            </a:r>
          </a:p>
          <a:p>
            <a:r>
              <a:rPr lang="en-US" sz="2400" dirty="0">
                <a:solidFill>
                  <a:srgbClr val="0000FF"/>
                </a:solidFill>
              </a:rPr>
              <a:t>Value at 96 += 3*6 – value at 100</a:t>
            </a:r>
          </a:p>
          <a:p>
            <a:r>
              <a:rPr lang="en-US" sz="2400" dirty="0">
                <a:solidFill>
                  <a:srgbClr val="0000FF"/>
                </a:solidFill>
              </a:rPr>
              <a:t>Value at 96 += 3*6 –  54</a:t>
            </a:r>
          </a:p>
          <a:p>
            <a:r>
              <a:rPr lang="en-US" sz="2400" dirty="0">
                <a:solidFill>
                  <a:srgbClr val="0000FF"/>
                </a:solidFill>
              </a:rPr>
              <a:t>Value at 96 +=  18 –  54</a:t>
            </a:r>
          </a:p>
          <a:p>
            <a:r>
              <a:rPr lang="en-US" sz="2400" dirty="0">
                <a:solidFill>
                  <a:srgbClr val="0000FF"/>
                </a:solidFill>
              </a:rPr>
              <a:t>Value at 96 +=  (-36)  </a:t>
            </a:r>
          </a:p>
          <a:p>
            <a:r>
              <a:rPr lang="en-US" sz="2400" dirty="0">
                <a:solidFill>
                  <a:srgbClr val="0000FF"/>
                </a:solidFill>
              </a:rPr>
              <a:t>Value at 96 = 6+  (-36) = -30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5400000" flipH="1" flipV="1">
            <a:off x="2438400" y="2971800"/>
            <a:ext cx="17526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1"/>
          </p:cNvCxnSpPr>
          <p:nvPr/>
        </p:nvCxnSpPr>
        <p:spPr>
          <a:xfrm rot="10800000">
            <a:off x="2286000" y="1066800"/>
            <a:ext cx="1600200" cy="723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886200" y="4572000"/>
            <a:ext cx="609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8" idx="1"/>
          </p:cNvCxnSpPr>
          <p:nvPr/>
        </p:nvCxnSpPr>
        <p:spPr>
          <a:xfrm rot="10800000">
            <a:off x="2514600" y="1524000"/>
            <a:ext cx="1981200" cy="2362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187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Walkthroughs: Do yourself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6250" y="1066800"/>
            <a:ext cx="2419350" cy="25241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962650" y="1066800"/>
            <a:ext cx="2571750" cy="2571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067050" y="1066800"/>
            <a:ext cx="2667000" cy="2543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457200" y="3861542"/>
            <a:ext cx="3505200" cy="2677656"/>
          </a:xfrm>
          <a:prstGeom prst="rect">
            <a:avLst/>
          </a:prstGeom>
          <a:solidFill>
            <a:srgbClr val="008000"/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int n=7,m=8;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int* p1= &amp;n, *p2=&amp;m;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*p1 +=12-m+ (*p2);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*p2 = m + n- 2*(*p1);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printf(“%d”, m+n); 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What is the output?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886200"/>
            <a:ext cx="3962400" cy="2234458"/>
          </a:xfrm>
          <a:prstGeom prst="rect">
            <a:avLst/>
          </a:prstGeom>
          <a:solidFill>
            <a:srgbClr val="008000"/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int n=7, m=8;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int* p1= &amp;n, *p2=&amp;m;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*p1 +=5 + 3*(*p2) –n ;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*p2 = 5*(*p1) – 4*m + 2*n;</a:t>
            </a:r>
          </a:p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r>
              <a:rPr lang="en-US" sz="2400" dirty="0">
                <a:solidFill>
                  <a:schemeClr val="bg1"/>
                </a:solidFill>
                <a:cs typeface="Arial" charset="0"/>
              </a:rPr>
              <a:t> What are values of m and n?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about Accessing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1"/>
            <a:ext cx="8915400" cy="2743199"/>
          </a:xfrm>
        </p:spPr>
        <p:txBody>
          <a:bodyPr>
            <a:normAutofit/>
          </a:bodyPr>
          <a:lstStyle/>
          <a:p>
            <a:r>
              <a:rPr lang="en-US" sz="2400" dirty="0"/>
              <a:t>Accessing data through pointers will manipulate on basic-data size.</a:t>
            </a:r>
          </a:p>
          <a:p>
            <a:pPr>
              <a:buFont typeface="Wingdings"/>
              <a:buChar char="à"/>
            </a:pPr>
            <a:r>
              <a:rPr lang="en-US" sz="2400" dirty="0">
                <a:sym typeface="Wingdings" pitchFamily="2" charset="2"/>
              </a:rPr>
              <a:t>Access int*  4 bytes are affected.</a:t>
            </a:r>
          </a:p>
          <a:p>
            <a:pPr>
              <a:buFont typeface="Wingdings"/>
              <a:buChar char="à"/>
            </a:pPr>
            <a:r>
              <a:rPr lang="en-US" sz="2400" dirty="0">
                <a:sym typeface="Wingdings" pitchFamily="2" charset="2"/>
              </a:rPr>
              <a:t>Access char*  only 1 byte is affected.</a:t>
            </a:r>
          </a:p>
          <a:p>
            <a:pPr>
              <a:buFont typeface="Wingdings"/>
              <a:buChar char="à"/>
            </a:pPr>
            <a:r>
              <a:rPr lang="en-US" sz="2400" dirty="0">
                <a:sym typeface="Wingdings" pitchFamily="2" charset="2"/>
              </a:rPr>
              <a:t>Access double*  8 bytes are affected.</a:t>
            </a:r>
          </a:p>
          <a:p>
            <a:pPr>
              <a:buFont typeface="Wingdings"/>
              <a:buChar char="à"/>
            </a:pPr>
            <a:r>
              <a:rPr lang="en-US" sz="2400" dirty="0">
                <a:sym typeface="Wingdings" pitchFamily="2" charset="2"/>
              </a:rPr>
              <a:t>Assign pointers which belong to different types are not allowed.  If needed, you must explicitly casting.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0993" y="3867150"/>
            <a:ext cx="318799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5093550"/>
            <a:ext cx="6203832" cy="1347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Attention…Pointers: Explicit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001000" cy="914399"/>
          </a:xfrm>
          <a:solidFill>
            <a:srgbClr val="008000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u="sng" dirty="0">
                <a:solidFill>
                  <a:schemeClr val="bg1"/>
                </a:solidFill>
              </a:rPr>
              <a:t>Review</a:t>
            </a:r>
            <a:r>
              <a:rPr lang="en-US" sz="2800" dirty="0">
                <a:solidFill>
                  <a:schemeClr val="bg1"/>
                </a:solidFill>
              </a:rPr>
              <a:t>: When a casting is performed, lowest byte is copied first then the higher bytes.</a:t>
            </a:r>
            <a:endParaRPr lang="en-US" sz="2800" dirty="0">
              <a:solidFill>
                <a:schemeClr val="bg1"/>
              </a:solidFill>
              <a:sym typeface="Wingdings" pitchFamily="2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514600"/>
            <a:ext cx="3371850" cy="3236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953000" y="28194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0000 0000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3000" y="31242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0000 0000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3000" y="34290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0000 0001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3000" y="37338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0000 0100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810000"/>
            <a:ext cx="8382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500/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0" y="41910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2400" y="4191000"/>
            <a:ext cx="9906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1910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3400" y="4114800"/>
            <a:ext cx="457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pp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248400" y="4343400"/>
            <a:ext cx="914400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953000" y="3733800"/>
            <a:ext cx="1524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0000 0000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3000" y="4648200"/>
            <a:ext cx="15240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Manipulate on 4 bytes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4648200"/>
            <a:ext cx="15240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Manipulate on 1 byte only</a:t>
            </a:r>
          </a:p>
        </p:txBody>
      </p:sp>
      <p:pic>
        <p:nvPicPr>
          <p:cNvPr id="21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42"/>
          <a:stretch/>
        </p:blipFill>
        <p:spPr bwMode="auto">
          <a:xfrm>
            <a:off x="2013858" y="5181600"/>
            <a:ext cx="179614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 Operators : +, -, ++, --</a:t>
            </a:r>
            <a:endParaRPr lang="en-US" b="1" dirty="0">
              <a:latin typeface="Arial" charset="0"/>
              <a:cs typeface="Arial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5562600"/>
            <a:ext cx="6705600" cy="1060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1143000"/>
            <a:ext cx="5638800" cy="4187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 flipV="1">
            <a:off x="7010400" y="1676400"/>
            <a:ext cx="914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flipV="1">
            <a:off x="7010400" y="2362200"/>
            <a:ext cx="914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 flipV="1">
            <a:off x="7010400" y="3048000"/>
            <a:ext cx="914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</a:t>
            </a:r>
          </a:p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7010400" y="3733800"/>
            <a:ext cx="914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 flipV="1">
            <a:off x="7010400" y="4419600"/>
            <a:ext cx="914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943600" y="35052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8768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1910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194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1336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4419600"/>
            <a:ext cx="762000" cy="3810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45720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48768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51816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2293596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41910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810000"/>
            <a:ext cx="990600" cy="2286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2293612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05200" y="3886200"/>
            <a:ext cx="19812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access data  using pD  (bytes) can cause  a harm on the variable n</a:t>
            </a:r>
          </a:p>
        </p:txBody>
      </p:sp>
      <p:cxnSp>
        <p:nvCxnSpPr>
          <p:cNvPr id="26" name="Straight Arrow Connector 25"/>
          <p:cNvCxnSpPr>
            <a:stCxn id="24" idx="3"/>
            <a:endCxn id="14" idx="1"/>
          </p:cNvCxnSpPr>
          <p:nvPr/>
        </p:nvCxnSpPr>
        <p:spPr>
          <a:xfrm>
            <a:off x="5486400" y="4572000"/>
            <a:ext cx="457200" cy="419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124200" y="1219200"/>
            <a:ext cx="5638800" cy="3048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Pointer +i </a:t>
            </a:r>
            <a:r>
              <a:rPr lang="en-US" sz="2400" b="1" dirty="0">
                <a:solidFill>
                  <a:srgbClr val="FF0000"/>
                </a:solidFill>
                <a:sym typeface="Wingdings" pitchFamily="2" charset="2"/>
              </a:rPr>
              <a:t> Pointer + (i*sizeof(baseType))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358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020762"/>
          </a:xfrm>
        </p:spPr>
        <p:txBody>
          <a:bodyPr/>
          <a:lstStyle/>
          <a:p>
            <a:r>
              <a:rPr lang="en-US" dirty="0"/>
              <a:t>Pointer Arithmetic Operators :</a:t>
            </a:r>
            <a:br>
              <a:rPr lang="en-US" dirty="0"/>
            </a:br>
            <a:r>
              <a:rPr lang="en-US" dirty="0"/>
              <a:t>Accessing the neighbor</a:t>
            </a:r>
            <a:endParaRPr lang="en-US" b="1" dirty="0"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200" y="2514600"/>
            <a:ext cx="32004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Copy and paste, run the program, explain the result.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1524000"/>
            <a:ext cx="5410200" cy="50292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/* file pointer_demo4.c */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#include &lt;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stdio.h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r>
              <a:rPr lang="pt-BR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{  </a:t>
            </a:r>
            <a:r>
              <a:rPr lang="pt-BR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n2= 10;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pt-BR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n1= 6;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pt-BR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n0= 5;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printf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("n2=%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n1=%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n0=%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\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", n2, n1, n0);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*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= &amp;n1;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*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=9;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++;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*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=15;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--;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--;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*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=-3;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printf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("n2=%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n1=%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n0=%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\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", n2, n1, n0);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getchar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();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pt-BR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0;</a:t>
            </a:r>
          </a:p>
          <a:p>
            <a:r>
              <a:rPr lang="pt-BR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}</a:t>
            </a:r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35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24584" name="Rectangle 6"/>
          <p:cNvSpPr>
            <a:spLocks noChangeArrowheads="1"/>
          </p:cNvSpPr>
          <p:nvPr/>
        </p:nvSpPr>
        <p:spPr bwMode="auto">
          <a:xfrm>
            <a:off x="304800" y="1066800"/>
            <a:ext cx="8458200" cy="1447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 dirty="0"/>
              <a:t>double *p; </a:t>
            </a:r>
          </a:p>
          <a:p>
            <a:r>
              <a:rPr lang="en-US" sz="2400" dirty="0"/>
              <a:t>Suppose that a double occupies the memory block of 8 bytes and </a:t>
            </a:r>
          </a:p>
          <a:p>
            <a:r>
              <a:rPr lang="en-US" sz="2400" dirty="0"/>
              <a:t>p  stores the value of 1200. </a:t>
            </a:r>
          </a:p>
          <a:p>
            <a:r>
              <a:rPr lang="en-US" sz="2400" dirty="0"/>
              <a:t>What are the result of the following expression? p+8     p-3     p++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04800" y="2743200"/>
            <a:ext cx="8458200" cy="1447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 dirty="0"/>
              <a:t>long*p; </a:t>
            </a:r>
          </a:p>
          <a:p>
            <a:r>
              <a:rPr lang="en-US" sz="2400" dirty="0"/>
              <a:t>Suppose that a long number occupies the memory block of 4 bytes </a:t>
            </a:r>
          </a:p>
          <a:p>
            <a:r>
              <a:rPr lang="en-US" sz="2400" dirty="0"/>
              <a:t>And p  stores the value of 1000. </a:t>
            </a:r>
          </a:p>
          <a:p>
            <a:r>
              <a:rPr lang="en-US" sz="2400" dirty="0"/>
              <a:t>What are the result of the following expression? p+8     p-3     p++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04800" y="4495800"/>
            <a:ext cx="8458200" cy="1447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2400" dirty="0"/>
              <a:t>char*p; </a:t>
            </a:r>
          </a:p>
          <a:p>
            <a:r>
              <a:rPr lang="en-US" sz="2400" dirty="0"/>
              <a:t>Suppose that a character occupies the memory block of 1 byte </a:t>
            </a:r>
          </a:p>
          <a:p>
            <a:r>
              <a:rPr lang="en-US" sz="2400" dirty="0"/>
              <a:t>and p  stores the value of 207000. </a:t>
            </a:r>
          </a:p>
          <a:p>
            <a:r>
              <a:rPr lang="en-US" sz="2400" dirty="0"/>
              <a:t>What are the result of the following expression? p+8     p-3     p++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778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Arithmetic Operators…</a:t>
            </a:r>
            <a:endParaRPr lang="en-US" b="1" dirty="0">
              <a:latin typeface="Arial" charset="0"/>
              <a:cs typeface="Arial" charset="0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387350" y="3581400"/>
            <a:ext cx="83756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36550" indent="-3365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  <a:cs typeface="Times New Roman" pitchFamily="18" charset="0"/>
              </a:rPr>
              <a:t>Each time a pointer is incremented, it points to the memory location of the next element of its base type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352425" y="4351338"/>
            <a:ext cx="87153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36550" indent="-3365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  <a:cs typeface="Times New Roman" pitchFamily="18" charset="0"/>
              </a:rPr>
              <a:t>Each time it is decremented it points to the location of the previous element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357188" y="5105400"/>
            <a:ext cx="84820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36550" indent="-3365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  <a:cs typeface="Times New Roman" pitchFamily="18" charset="0"/>
              </a:rPr>
              <a:t>All other pointers will increase or decrease depending on the length of the data type they are pointing to</a:t>
            </a:r>
          </a:p>
        </p:txBody>
      </p:sp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20" y="1219200"/>
            <a:ext cx="8521960" cy="217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393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Pointer Comparisons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533400" y="1185208"/>
            <a:ext cx="7924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36550" indent="-3365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Two pointers can be compared in a relational expression provided both the pointers  are pointing to variables of the same type. </a:t>
            </a:r>
          </a:p>
          <a:p>
            <a:pPr eaLnBrk="1" hangingPunct="1"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Consider that ptr_a and ptr_b are 2 pointer variables, which point to data elements a and b. In this case the following comparisons are  possible:</a:t>
            </a:r>
          </a:p>
        </p:txBody>
      </p:sp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657600"/>
            <a:ext cx="89422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396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7- Pointers as Parameters of a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8153400" cy="1066799"/>
          </a:xfrm>
        </p:spPr>
        <p:txBody>
          <a:bodyPr>
            <a:normAutofit fontScale="92500"/>
          </a:bodyPr>
          <a:lstStyle/>
          <a:p>
            <a:r>
              <a:rPr lang="en-US" dirty="0"/>
              <a:t>C passes arguments to parameters by values only </a:t>
            </a:r>
            <a:r>
              <a:rPr lang="en-US" dirty="0">
                <a:sym typeface="Wingdings" pitchFamily="2" charset="2"/>
              </a:rPr>
              <a:t> C functions can not modify outside data.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105" y="2381250"/>
            <a:ext cx="361644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943600" y="4953000"/>
            <a:ext cx="1676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5410200"/>
            <a:ext cx="1676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  = 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971800"/>
            <a:ext cx="1676400" cy="4572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y  = 7 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5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0" y="3429000"/>
            <a:ext cx="1676400" cy="4572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x = 5 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 7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0" y="3886200"/>
            <a:ext cx="1676400" cy="4572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t  = 5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5400000" flipH="1" flipV="1">
            <a:off x="5715000" y="4419600"/>
            <a:ext cx="13716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 flipH="1" flipV="1">
            <a:off x="4915694" y="4457700"/>
            <a:ext cx="23622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562600" y="4572000"/>
            <a:ext cx="2438400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as Parameters of a Function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534400" cy="5334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800" dirty="0">
                <a:sym typeface="Wingdings" pitchFamily="2" charset="2"/>
              </a:rPr>
              <a:t>Use pointer arguments, we can modify outside values.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628" y="1752600"/>
            <a:ext cx="529287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781800" y="4953000"/>
            <a:ext cx="1676400" cy="4572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  = 5 </a:t>
            </a:r>
            <a:r>
              <a:rPr lang="en-US" sz="2400" b="1" dirty="0">
                <a:solidFill>
                  <a:schemeClr val="tx1"/>
                </a:solidFill>
                <a:sym typeface="Wingdings" pitchFamily="2" charset="2"/>
              </a:rPr>
              <a:t> 7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81800" y="5410200"/>
            <a:ext cx="1676400" cy="4572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  = 7 </a:t>
            </a:r>
            <a:r>
              <a:rPr lang="en-US" sz="2400" b="1" dirty="0">
                <a:solidFill>
                  <a:schemeClr val="tx1"/>
                </a:solidFill>
                <a:sym typeface="Wingdings" pitchFamily="2" charset="2"/>
              </a:rPr>
              <a:t> 5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81800" y="2971800"/>
            <a:ext cx="1676400" cy="4572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py: 996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81800" y="3429000"/>
            <a:ext cx="1676400" cy="4572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px : 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1800" y="3886200"/>
            <a:ext cx="1676400" cy="4572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t  =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7400" y="5105400"/>
            <a:ext cx="914400" cy="3048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1000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67400" y="5562600"/>
            <a:ext cx="914400" cy="3048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996</a:t>
            </a:r>
          </a:p>
        </p:txBody>
      </p:sp>
      <p:cxnSp>
        <p:nvCxnSpPr>
          <p:cNvPr id="20" name="Straight Arrow Connector 19"/>
          <p:cNvCxnSpPr>
            <a:stCxn id="16" idx="0"/>
          </p:cNvCxnSpPr>
          <p:nvPr/>
        </p:nvCxnSpPr>
        <p:spPr>
          <a:xfrm rot="5400000" flipH="1" flipV="1">
            <a:off x="5905500" y="4076700"/>
            <a:ext cx="1447800" cy="609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 flipH="1" flipV="1">
            <a:off x="5829300" y="4076700"/>
            <a:ext cx="2209800" cy="762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 Dynamic Allocated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" y="990600"/>
            <a:ext cx="6172200" cy="17526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000" b="1" dirty="0">
                <a:solidFill>
                  <a:srgbClr val="C00000"/>
                </a:solidFill>
              </a:rPr>
              <a:t>Stdlib.h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void*  </a:t>
            </a:r>
            <a:r>
              <a:rPr lang="en-US" sz="2000" b="1" dirty="0">
                <a:solidFill>
                  <a:schemeClr val="tx1"/>
                </a:solidFill>
              </a:rPr>
              <a:t>calloc</a:t>
            </a:r>
            <a:r>
              <a:rPr lang="en-US" sz="2000" dirty="0">
                <a:solidFill>
                  <a:schemeClr val="tx1"/>
                </a:solidFill>
              </a:rPr>
              <a:t>  (size_t numberOfItem, size_t  bytesPerItem) 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void*  </a:t>
            </a:r>
            <a:r>
              <a:rPr lang="en-US" sz="2000" b="1" dirty="0">
                <a:solidFill>
                  <a:schemeClr val="tx1"/>
                </a:solidFill>
              </a:rPr>
              <a:t>malloc</a:t>
            </a:r>
            <a:r>
              <a:rPr lang="en-US" sz="2000" dirty="0">
                <a:solidFill>
                  <a:schemeClr val="tx1"/>
                </a:solidFill>
              </a:rPr>
              <a:t> (size_t  numBytes) 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void* </a:t>
            </a:r>
            <a:r>
              <a:rPr lang="en-US" sz="2000" b="1" dirty="0">
                <a:solidFill>
                  <a:schemeClr val="tx1"/>
                </a:solidFill>
              </a:rPr>
              <a:t>realloc</a:t>
            </a:r>
            <a:r>
              <a:rPr lang="en-US" sz="2000" dirty="0">
                <a:solidFill>
                  <a:schemeClr val="tx1"/>
                </a:solidFill>
              </a:rPr>
              <a:t> (void* curPointer, size_t newNumBytes);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</a:rPr>
              <a:t>void  </a:t>
            </a:r>
            <a:r>
              <a:rPr lang="en-US" sz="2000" b="1" dirty="0">
                <a:solidFill>
                  <a:schemeClr val="tx1"/>
                </a:solidFill>
              </a:rPr>
              <a:t>free</a:t>
            </a:r>
            <a:r>
              <a:rPr lang="en-US" sz="2000" dirty="0">
                <a:solidFill>
                  <a:schemeClr val="tx1"/>
                </a:solidFill>
              </a:rPr>
              <a:t>(void* willBeDeletedPointer);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" y="2819400"/>
            <a:ext cx="3657600" cy="17526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Examples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int* p = (int*)  </a:t>
            </a:r>
            <a:r>
              <a:rPr lang="en-US" b="1" dirty="0">
                <a:solidFill>
                  <a:schemeClr val="tx1"/>
                </a:solidFill>
              </a:rPr>
              <a:t>malloc</a:t>
            </a:r>
            <a:r>
              <a:rPr lang="en-US" dirty="0">
                <a:solidFill>
                  <a:schemeClr val="tx1"/>
                </a:solidFill>
              </a:rPr>
              <a:t> (sizeof (int)) ;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*p=2;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….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free</a:t>
            </a:r>
            <a:r>
              <a:rPr lang="en-US" dirty="0">
                <a:solidFill>
                  <a:schemeClr val="tx1"/>
                </a:solidFill>
              </a:rPr>
              <a:t>(p);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7391400" y="2514600"/>
            <a:ext cx="1600200" cy="1524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Heap</a:t>
            </a: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7391400" y="1066800"/>
            <a:ext cx="1600200" cy="609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Data</a:t>
            </a:r>
          </a:p>
          <a:p>
            <a:pPr algn="ctr"/>
            <a:r>
              <a:rPr lang="en-US" b="1" dirty="0"/>
              <a:t>Segment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7391400" y="1676400"/>
            <a:ext cx="1600200" cy="838200"/>
          </a:xfrm>
          <a:prstGeom prst="rect">
            <a:avLst/>
          </a:prstGeom>
          <a:solidFill>
            <a:srgbClr val="6600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Code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Segment</a:t>
            </a: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7391400" y="4038600"/>
            <a:ext cx="1600200" cy="17526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/>
              <a:t>Stack</a:t>
            </a:r>
          </a:p>
          <a:p>
            <a:pPr algn="ctr"/>
            <a:r>
              <a:rPr lang="en-US" b="1" dirty="0"/>
              <a:t>Segment</a:t>
            </a: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4191000" y="2743200"/>
            <a:ext cx="1066800" cy="533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 flipV="1">
            <a:off x="5257800" y="1295400"/>
            <a:ext cx="22098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7" name="Line 15"/>
          <p:cNvSpPr>
            <a:spLocks noChangeShapeType="1"/>
          </p:cNvSpPr>
          <p:nvPr/>
        </p:nvSpPr>
        <p:spPr bwMode="auto">
          <a:xfrm>
            <a:off x="5257800" y="2971800"/>
            <a:ext cx="2286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>
            <a:off x="5257800" y="2971800"/>
            <a:ext cx="228600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9" name="AutoShape 11"/>
          <p:cNvSpPr>
            <a:spLocks noChangeArrowheads="1"/>
          </p:cNvSpPr>
          <p:nvPr/>
        </p:nvSpPr>
        <p:spPr bwMode="auto">
          <a:xfrm>
            <a:off x="5943600" y="3657600"/>
            <a:ext cx="1371600" cy="1066800"/>
          </a:xfrm>
          <a:prstGeom prst="irregularSeal2">
            <a:avLst/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Local</a:t>
            </a:r>
          </a:p>
        </p:txBody>
      </p:sp>
      <p:sp>
        <p:nvSpPr>
          <p:cNvPr id="30" name="AutoShape 12"/>
          <p:cNvSpPr>
            <a:spLocks noChangeArrowheads="1"/>
          </p:cNvSpPr>
          <p:nvPr/>
        </p:nvSpPr>
        <p:spPr bwMode="auto">
          <a:xfrm>
            <a:off x="5715000" y="1524000"/>
            <a:ext cx="1371600" cy="1066800"/>
          </a:xfrm>
          <a:prstGeom prst="irregularSeal2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Global</a:t>
            </a:r>
          </a:p>
        </p:txBody>
      </p:sp>
      <p:sp>
        <p:nvSpPr>
          <p:cNvPr id="31" name="AutoShape 13"/>
          <p:cNvSpPr>
            <a:spLocks noChangeArrowheads="1"/>
          </p:cNvSpPr>
          <p:nvPr/>
        </p:nvSpPr>
        <p:spPr bwMode="auto">
          <a:xfrm>
            <a:off x="5638800" y="2590800"/>
            <a:ext cx="1600200" cy="1066800"/>
          </a:xfrm>
          <a:prstGeom prst="irregularSeal2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Dynamic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3657600"/>
            <a:ext cx="3276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/>
              <a:t>calloc</a:t>
            </a:r>
            <a:r>
              <a:rPr lang="en-US" sz="2000" dirty="0"/>
              <a:t>: Contiguous Allocation</a:t>
            </a:r>
          </a:p>
          <a:p>
            <a:r>
              <a:rPr lang="en-US" sz="2000" b="1" u="sng" dirty="0"/>
              <a:t>malloc</a:t>
            </a:r>
            <a:r>
              <a:rPr lang="en-US" sz="2000" dirty="0"/>
              <a:t>: Memory allocation</a:t>
            </a:r>
          </a:p>
          <a:p>
            <a:r>
              <a:rPr lang="en-US" sz="2000" b="1" u="sng" dirty="0"/>
              <a:t>realoc</a:t>
            </a:r>
            <a:r>
              <a:rPr lang="en-US" sz="2000" dirty="0"/>
              <a:t>: Re allocation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200" y="4800600"/>
            <a:ext cx="7239000" cy="18288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Size_t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: Another name of the </a:t>
            </a:r>
            <a:r>
              <a:rPr lang="en-US" sz="2400" b="1" u="sng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type. It is used in case of memory allocation managing.</a:t>
            </a:r>
            <a:endParaRPr lang="en-US" sz="2400" b="1" u="sng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u="sng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is the general datatype  which means that the data type is not determined yet.  So, user must give an explicit casting when it is used.  </a:t>
            </a:r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50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3200" dirty="0">
                <a:latin typeface="Arial" charset="0"/>
                <a:cs typeface="Arial" charset="0"/>
              </a:rPr>
              <a:t>Demo: Dynamic Allocated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67690"/>
            <a:ext cx="5715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/* file pointer_demo5.c */</a:t>
            </a:r>
          </a:p>
          <a:p>
            <a:r>
              <a:rPr lang="en-US" b="1" dirty="0"/>
              <a:t>#include</a:t>
            </a:r>
            <a:r>
              <a:rPr lang="en-US" dirty="0"/>
              <a:t> &lt;stdio.h&gt;</a:t>
            </a:r>
          </a:p>
          <a:p>
            <a:r>
              <a:rPr lang="en-US" b="1" dirty="0"/>
              <a:t>const int</a:t>
            </a:r>
            <a:r>
              <a:rPr lang="en-US" dirty="0"/>
              <a:t> MAXN =100;</a:t>
            </a:r>
          </a:p>
          <a:p>
            <a:r>
              <a:rPr lang="en-US" b="1" dirty="0"/>
              <a:t>int </a:t>
            </a:r>
            <a:r>
              <a:rPr lang="en-US" dirty="0"/>
              <a:t>main()</a:t>
            </a:r>
          </a:p>
          <a:p>
            <a:r>
              <a:rPr lang="en-US" dirty="0"/>
              <a:t>{  </a:t>
            </a:r>
            <a:r>
              <a:rPr lang="en-US" b="1" dirty="0"/>
              <a:t>int</a:t>
            </a:r>
            <a:r>
              <a:rPr lang="en-US" dirty="0"/>
              <a:t> n;   </a:t>
            </a:r>
            <a:r>
              <a:rPr lang="en-US" b="1" dirty="0"/>
              <a:t>int</a:t>
            </a:r>
            <a:r>
              <a:rPr lang="en-US" dirty="0"/>
              <a:t> *p1;   </a:t>
            </a:r>
            <a:r>
              <a:rPr lang="en-US" b="1" dirty="0"/>
              <a:t>int</a:t>
            </a:r>
            <a:r>
              <a:rPr lang="en-US" dirty="0"/>
              <a:t> *p2;   </a:t>
            </a:r>
            <a:r>
              <a:rPr lang="en-US" b="1" dirty="0"/>
              <a:t>int</a:t>
            </a:r>
            <a:r>
              <a:rPr lang="en-US" dirty="0"/>
              <a:t> *p3;</a:t>
            </a:r>
          </a:p>
          <a:p>
            <a:r>
              <a:rPr lang="en-US" dirty="0"/>
              <a:t>   printf("Address of MAXN: %u\n", &amp;MAXN);</a:t>
            </a:r>
          </a:p>
          <a:p>
            <a:r>
              <a:rPr lang="en-US" dirty="0"/>
              <a:t>   printf("Main function ia allocated at: %u\n", &amp;main);</a:t>
            </a:r>
          </a:p>
          <a:p>
            <a:r>
              <a:rPr lang="en-US" dirty="0"/>
              <a:t>   printf("Address of n : %u\n", &amp;n);</a:t>
            </a:r>
          </a:p>
          <a:p>
            <a:r>
              <a:rPr lang="en-US" dirty="0"/>
              <a:t>   printf("Address of p1: %u\n", &amp;p1);</a:t>
            </a:r>
          </a:p>
          <a:p>
            <a:r>
              <a:rPr lang="en-US" dirty="0"/>
              <a:t>   printf("Address of p2: %u\n", &amp;p2);</a:t>
            </a:r>
          </a:p>
          <a:p>
            <a:r>
              <a:rPr lang="en-US" dirty="0"/>
              <a:t>   p1 = (int*)malloc(sizeof(int));    </a:t>
            </a:r>
          </a:p>
          <a:p>
            <a:r>
              <a:rPr lang="en-US" dirty="0"/>
              <a:t>   p2 = (int*)malloc(sizeof(int));    </a:t>
            </a:r>
          </a:p>
          <a:p>
            <a:r>
              <a:rPr lang="en-US" dirty="0"/>
              <a:t>   p3 = (int*)malloc(sizeof(int));    </a:t>
            </a:r>
          </a:p>
          <a:p>
            <a:r>
              <a:rPr lang="en-US" dirty="0"/>
              <a:t>   printf("Dynamic allocation (p1) at: %u\n", p1);</a:t>
            </a:r>
          </a:p>
          <a:p>
            <a:r>
              <a:rPr lang="en-US" dirty="0"/>
              <a:t>   printf("Dynamic allocation (p2) at: %u\n", p2);</a:t>
            </a:r>
          </a:p>
          <a:p>
            <a:r>
              <a:rPr lang="en-US" dirty="0"/>
              <a:t>   printf("Dynamic allocation (p3) at: %u\n", p3);</a:t>
            </a:r>
          </a:p>
          <a:p>
            <a:r>
              <a:rPr lang="en-US" dirty="0"/>
              <a:t>   getchar();</a:t>
            </a:r>
          </a:p>
          <a:p>
            <a:r>
              <a:rPr lang="en-US" dirty="0"/>
              <a:t>   free(p1);</a:t>
            </a:r>
          </a:p>
          <a:p>
            <a:r>
              <a:rPr lang="en-US" dirty="0"/>
              <a:t>   free(p2);</a:t>
            </a:r>
          </a:p>
          <a:p>
            <a:r>
              <a:rPr lang="en-US" dirty="0"/>
              <a:t>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62600" y="1371600"/>
            <a:ext cx="3352800" cy="426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00FF"/>
                </a:solidFill>
              </a:rPr>
              <a:t>(1) Copy, past, compile and run the program. </a:t>
            </a:r>
          </a:p>
          <a:p>
            <a:r>
              <a:rPr lang="en-US" sz="2400" dirty="0">
                <a:solidFill>
                  <a:srgbClr val="0000FF"/>
                </a:solidFill>
              </a:rPr>
              <a:t>(2) Draw the memory map. </a:t>
            </a:r>
          </a:p>
          <a:p>
            <a:r>
              <a:rPr lang="en-US" sz="2400" dirty="0">
                <a:solidFill>
                  <a:srgbClr val="0000FF"/>
                </a:solidFill>
              </a:rPr>
              <a:t>(3) Show that where is data segment, code segment, stack segment and heap of the program.</a:t>
            </a:r>
          </a:p>
          <a:p>
            <a:r>
              <a:rPr lang="en-US" sz="2400" dirty="0">
                <a:solidFill>
                  <a:srgbClr val="0000FF"/>
                </a:solidFill>
              </a:rPr>
              <a:t>(4) Give  comment about  the direction of  dynamic  memory allocation.</a:t>
            </a: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74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" charset="0"/>
                <a:cs typeface="Arial" charset="0"/>
              </a:rPr>
              <a:t>Dynamic Allocated Data- Do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" y="990600"/>
            <a:ext cx="8763000" cy="10668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 dynamic memory allocation. Develop a program that will accept two real numbers then  sum of them, their difference, their product, and their quotient are printed out.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000" y="2286000"/>
            <a:ext cx="5562600" cy="37338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/* main() */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double *p1, *p2;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p1 = (double*) malloc ( sizeof(double));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p2 = (double*) malloc ( sizeof(double));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printf(“p1, address: %u, value: %u\n”, &amp;p1, p1);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printf(“p2, address: %u, value: %u\n”, &amp;p2, p2);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printf(“Input 2 numbers:”);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highlight>
                  <a:srgbClr val="FF0000"/>
                </a:highlight>
                <a:latin typeface="Arial" pitchFamily="34" charset="0"/>
                <a:cs typeface="Arial" pitchFamily="34" charset="0"/>
              </a:rPr>
              <a:t>scanf( “%lf%lf”, p1, p2);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printf(“Sum: %lf\n”, *p1 + *p2);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printf(“Difference: %lf\n”, *p1 - *p2);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printf(“Product: %lf\n”, *p1 * (*p2));</a:t>
            </a: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printf(“Quotient: %lf\n”, *p1 / *p2);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2971800"/>
            <a:ext cx="2667000" cy="10668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(1) Run this program</a:t>
            </a:r>
          </a:p>
          <a:p>
            <a:pP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(2) Draw the memory map (stack, heap).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62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" charset="0"/>
                <a:cs typeface="Arial" charset="0"/>
              </a:rPr>
              <a:t>Dynamic Allocated Data- Do yourself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" y="1219200"/>
            <a:ext cx="8382000" cy="48006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Write a C program using dynamic allocating memory to allow user entering two characters then the program will print out characters between these in ascending order.</a:t>
            </a:r>
          </a:p>
          <a:p>
            <a:pPr>
              <a:defRPr/>
            </a:pPr>
            <a:r>
              <a:rPr lang="en-US" sz="2400" u="sng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Example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defRPr/>
            </a:pPr>
            <a:r>
              <a:rPr lang="en-US" sz="24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Input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   DA</a:t>
            </a:r>
          </a:p>
          <a:p>
            <a:pPr>
              <a:defRPr/>
            </a:pPr>
            <a:r>
              <a:rPr lang="en-US" sz="24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Output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   65   81   41   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    66   82   42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    67   83   43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    68   84   44</a:t>
            </a:r>
          </a:p>
          <a:p>
            <a:pPr>
              <a:defRPr/>
            </a:pPr>
            <a:endParaRPr 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After the program executes, draw the memory map of the program.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971800" y="2590800"/>
            <a:ext cx="5867400" cy="259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Danh từ: 2 pointer char* pc1, *pc2;</a:t>
            </a:r>
          </a:p>
          <a:p>
            <a:r>
              <a:rPr lang="en-US" dirty="0"/>
              <a:t>Động từ</a:t>
            </a:r>
          </a:p>
          <a:p>
            <a:pPr>
              <a:buFontTx/>
              <a:buChar char="-"/>
            </a:pPr>
            <a:r>
              <a:rPr lang="en-US" dirty="0"/>
              <a:t>Cấp bộ nhớ pc1, pc2;</a:t>
            </a:r>
          </a:p>
          <a:p>
            <a:pPr>
              <a:buFontTx/>
              <a:buChar char="-"/>
            </a:pPr>
            <a:r>
              <a:rPr lang="en-US" dirty="0"/>
              <a:t> Nhập 2 ký  tự vào pc1, pc2</a:t>
            </a:r>
          </a:p>
          <a:p>
            <a:pPr>
              <a:buFontTx/>
              <a:buChar char="-"/>
            </a:pPr>
            <a:r>
              <a:rPr lang="en-US" dirty="0"/>
              <a:t> Nếu (*pc1&gt;*pc2) Hoán vị *pc1, *pc2;</a:t>
            </a:r>
          </a:p>
          <a:p>
            <a:pPr>
              <a:buFontTx/>
              <a:buChar char="-"/>
            </a:pPr>
            <a:r>
              <a:rPr lang="en-US" dirty="0"/>
              <a:t>char c;</a:t>
            </a:r>
          </a:p>
          <a:p>
            <a:pPr>
              <a:buFontTx/>
              <a:buChar char="-"/>
            </a:pPr>
            <a:r>
              <a:rPr lang="en-US" dirty="0"/>
              <a:t>For (c= *pc1; c&lt;=*pc2; c++)</a:t>
            </a:r>
          </a:p>
          <a:p>
            <a:pPr>
              <a:buFontTx/>
              <a:buChar char="-"/>
            </a:pPr>
            <a:r>
              <a:rPr lang="en-US" dirty="0"/>
              <a:t>      printf(“%c,%4d,%4o%4X\n”, c,c,c,c);</a:t>
            </a:r>
          </a:p>
        </p:txBody>
      </p:sp>
    </p:spTree>
    <p:extLst>
      <p:ext uri="{BB962C8B-B14F-4D97-AF65-F5344CB8AC3E}">
        <p14:creationId xmlns:p14="http://schemas.microsoft.com/office/powerpoint/2010/main" val="4033147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Summary</a:t>
            </a:r>
          </a:p>
        </p:txBody>
      </p:sp>
      <p:sp>
        <p:nvSpPr>
          <p:cNvPr id="31750" name="Text Box 4"/>
          <p:cNvSpPr txBox="1">
            <a:spLocks noChangeArrowheads="1"/>
          </p:cNvSpPr>
          <p:nvPr/>
        </p:nvSpPr>
        <p:spPr bwMode="auto">
          <a:xfrm>
            <a:off x="6477000" y="3200400"/>
            <a:ext cx="2057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6000" dirty="0"/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6324600" y="3124200"/>
            <a:ext cx="1828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6000" dirty="0"/>
              <a:t>Q&amp;A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Review the memory structure  of a program</a:t>
            </a:r>
          </a:p>
          <a:p>
            <a:r>
              <a:rPr lang="en-US" dirty="0"/>
              <a:t>Where can we put program’s data?</a:t>
            </a:r>
          </a:p>
          <a:p>
            <a:r>
              <a:rPr lang="en-US" dirty="0"/>
              <a:t>What are pointers?</a:t>
            </a:r>
          </a:p>
          <a:p>
            <a:r>
              <a:rPr lang="en-US" dirty="0"/>
              <a:t>Pointer Declarations</a:t>
            </a:r>
          </a:p>
          <a:p>
            <a:r>
              <a:rPr lang="en-US" dirty="0"/>
              <a:t>Where are pointers used?</a:t>
            </a:r>
          </a:p>
          <a:p>
            <a:r>
              <a:rPr lang="en-US" dirty="0"/>
              <a:t>Pointer operators</a:t>
            </a:r>
          </a:p>
          <a:p>
            <a:pPr lvl="1"/>
            <a:r>
              <a:rPr lang="en-US" dirty="0"/>
              <a:t>Assign values to pointers</a:t>
            </a:r>
          </a:p>
          <a:p>
            <a:pPr lvl="1"/>
            <a:r>
              <a:rPr lang="en-US" dirty="0"/>
              <a:t>Access data through pointer</a:t>
            </a:r>
          </a:p>
          <a:p>
            <a:pPr lvl="1"/>
            <a:r>
              <a:rPr lang="en-US" dirty="0"/>
              <a:t>Explain pointer arithmetic</a:t>
            </a:r>
          </a:p>
          <a:p>
            <a:pPr lvl="1"/>
            <a:r>
              <a:rPr lang="en-US" dirty="0"/>
              <a:t>Explain pointer comparisons</a:t>
            </a:r>
          </a:p>
          <a:p>
            <a:r>
              <a:rPr lang="en-US" dirty="0"/>
              <a:t>Pointers as parameters of a function</a:t>
            </a:r>
          </a:p>
          <a:p>
            <a:r>
              <a:rPr lang="en-US" dirty="0"/>
              <a:t>Dynamic Allocated Data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4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Extra Walkthroughs with functions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z="2400" dirty="0"/>
              <a:t>Study the following C-function: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int t (int x, int y, int z)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{   int k= 2*x + 3*y + 5*z;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     return k%13;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}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Suppose the above function is used in the following code: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int a=7, b=6, c=5;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int L= t(b,a,c);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What is the value of the L variable after this code is executed?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085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Extra Walkthroughs with functions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4191000"/>
          </a:xfrm>
        </p:spPr>
        <p:txBody>
          <a:bodyPr/>
          <a:lstStyle/>
          <a:p>
            <a:pPr marL="0" indent="0"/>
            <a:r>
              <a:rPr lang="en-US" sz="2400" dirty="0"/>
              <a:t>Study the following C-function: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void T (int * p, int*q)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{   int t= *p; *p=*q; *q=t;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}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Suppose the above function is used in the following code: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int a=7, b=6;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T(&amp;a,&amp;b);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What are the values of the a and b variables after this code is executed?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19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Extra Walkthrough with functions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/>
            <a:r>
              <a:rPr lang="en-US" sz="2400" dirty="0"/>
              <a:t>Study the following C-function: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int T (int * p, int*q)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{   int t= (*p) + (*q) &gt; 12 ? 5:6;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    return 2*t%5;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}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Suppose the above function is used in the following code: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int a=3, b=4, c;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c= T(&amp;a,&amp;b);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What is the value of the </a:t>
            </a:r>
            <a:r>
              <a:rPr lang="en-US" dirty="0"/>
              <a:t>c</a:t>
            </a:r>
            <a:r>
              <a:rPr lang="en-US" sz="2400" dirty="0"/>
              <a:t> variable after this code is executed?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69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2616</Words>
  <Application>Microsoft Office PowerPoint</Application>
  <PresentationFormat>On-screen Show (4:3)</PresentationFormat>
  <Paragraphs>484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Tahoma</vt:lpstr>
      <vt:lpstr>Times New Roman</vt:lpstr>
      <vt:lpstr>Wingdings</vt:lpstr>
      <vt:lpstr>Office Theme</vt:lpstr>
      <vt:lpstr>Slots 11-12 Pointers</vt:lpstr>
      <vt:lpstr>Objectives</vt:lpstr>
      <vt:lpstr>Contents</vt:lpstr>
      <vt:lpstr>Memory Map of a program</vt:lpstr>
      <vt:lpstr>Questions</vt:lpstr>
      <vt:lpstr>PowerPoint Presentation</vt:lpstr>
      <vt:lpstr>3- What is a Pointer?</vt:lpstr>
      <vt:lpstr>4- Pointer Variables</vt:lpstr>
      <vt:lpstr>5- Where are pointers used?</vt:lpstr>
      <vt:lpstr>6- Pointer Operators</vt:lpstr>
      <vt:lpstr>Pointer Operators…</vt:lpstr>
      <vt:lpstr>Pointer Operators… Walkthrough</vt:lpstr>
      <vt:lpstr>Walkthroughs: Do yourself</vt:lpstr>
      <vt:lpstr>Attention about Accessing Pointers</vt:lpstr>
      <vt:lpstr>Attention…Pointers: Explicit Casting</vt:lpstr>
      <vt:lpstr>Pointer Arithmetic Operators : +, -, ++, --</vt:lpstr>
      <vt:lpstr>Pointer Arithmetic Operators : Accessing the neighbor</vt:lpstr>
      <vt:lpstr>Exercises</vt:lpstr>
      <vt:lpstr>Pointer Arithmetic Operators…</vt:lpstr>
      <vt:lpstr>Pointer Comparisons</vt:lpstr>
      <vt:lpstr>7- Pointers as Parameters of a Function </vt:lpstr>
      <vt:lpstr>Pointer as Parameters of a Function …</vt:lpstr>
      <vt:lpstr>8- Dynamic Allocated Data</vt:lpstr>
      <vt:lpstr>Demo: Dynamic Allocated Data</vt:lpstr>
      <vt:lpstr>Dynamic Allocated Data- Do yourself</vt:lpstr>
      <vt:lpstr>Dynamic Allocated Data- Do yourself</vt:lpstr>
      <vt:lpstr>Summary</vt:lpstr>
      <vt:lpstr>Extra Walkthroughs with functions</vt:lpstr>
      <vt:lpstr>Extra Walkthroughs with functions</vt:lpstr>
      <vt:lpstr>Extra Walkthrough with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Quoc Trinh Vo</cp:lastModifiedBy>
  <cp:revision>68</cp:revision>
  <dcterms:created xsi:type="dcterms:W3CDTF">2013-07-11T00:46:38Z</dcterms:created>
  <dcterms:modified xsi:type="dcterms:W3CDTF">2022-02-19T09:38:47Z</dcterms:modified>
</cp:coreProperties>
</file>